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387" r:id="rId1"/>
  </p:sldMasterIdLst>
  <p:notesMasterIdLst>
    <p:notesMasterId r:id="rId39"/>
  </p:notesMasterIdLst>
  <p:sldIdLst>
    <p:sldId id="256" r:id="rId2"/>
    <p:sldId id="257" r:id="rId3"/>
    <p:sldId id="258" r:id="rId4"/>
    <p:sldId id="259" r:id="rId5"/>
    <p:sldId id="260" r:id="rId6"/>
    <p:sldId id="261" r:id="rId7"/>
    <p:sldId id="287" r:id="rId8"/>
    <p:sldId id="263" r:id="rId9"/>
    <p:sldId id="290" r:id="rId10"/>
    <p:sldId id="291" r:id="rId11"/>
    <p:sldId id="292" r:id="rId12"/>
    <p:sldId id="267" r:id="rId13"/>
    <p:sldId id="268" r:id="rId14"/>
    <p:sldId id="269" r:id="rId15"/>
    <p:sldId id="293" r:id="rId16"/>
    <p:sldId id="271" r:id="rId17"/>
    <p:sldId id="295" r:id="rId18"/>
    <p:sldId id="273" r:id="rId19"/>
    <p:sldId id="274" r:id="rId20"/>
    <p:sldId id="275" r:id="rId21"/>
    <p:sldId id="276" r:id="rId22"/>
    <p:sldId id="277" r:id="rId23"/>
    <p:sldId id="278" r:id="rId24"/>
    <p:sldId id="279" r:id="rId25"/>
    <p:sldId id="280" r:id="rId26"/>
    <p:sldId id="281" r:id="rId27"/>
    <p:sldId id="296" r:id="rId28"/>
    <p:sldId id="283" r:id="rId29"/>
    <p:sldId id="284" r:id="rId30"/>
    <p:sldId id="285" r:id="rId31"/>
    <p:sldId id="294" r:id="rId32"/>
    <p:sldId id="297" r:id="rId33"/>
    <p:sldId id="298" r:id="rId34"/>
    <p:sldId id="299" r:id="rId35"/>
    <p:sldId id="300" r:id="rId36"/>
    <p:sldId id="303" r:id="rId37"/>
    <p:sldId id="304"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A5D8B9-1C83-4DD4-2E42-09DD103159D1}" name="Bhattacharjee, Pralay" initials="BP" userId="S::pralaybhattacharjee@my.unt.edu::173592df-7d3d-4047-989b-e400ad2a475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D868B8-8B1B-BAF4-B265-FA1F926A39D4}" v="1493" dt="2025-03-24T04:27:54.466"/>
    <p1510:client id="{17B725DB-AB27-60CB-69E5-C40BE0D397DD}" v="23" dt="2025-03-25T00:58:47.012"/>
    <p1510:client id="{5B89E7D4-9BBF-059B-05EA-DCC3DA39FFB9}" v="149" dt="2025-03-24T03:03:01.312"/>
    <p1510:client id="{5FD40CBB-6354-C18A-447A-E8F86710EAB3}" v="92" dt="2025-03-24T03:01:55.644"/>
    <p1510:client id="{60D3732D-E402-7A50-D7AC-4B0C29A9515F}" v="38" dt="2025-03-24T21:47:27.728"/>
    <p1510:client id="{908712E1-C6CD-2C4A-A932-253913E812ED}" v="7" dt="2025-03-25T00:55:24.090"/>
    <p1510:client id="{A3599AC0-52F7-4AC1-7535-C94860AD2451}" v="66" dt="2025-03-25T01:15:55.107"/>
    <p1510:client id="{A96DADF2-A9A9-9A40-9C24-729DEC4C16A9}" v="921" dt="2025-03-24T00:59:02.831"/>
    <p1510:client id="{E2A93D4D-F110-9CCD-C75E-F06FE0327A27}" v="76" dt="2025-03-24T23:01:21.808"/>
    <p1510:client id="{F6FAFB97-5B29-C587-AC50-49F3CA09B654}" v="61" dt="2025-03-24T03:37:54.684"/>
  </p1510:revLst>
</p1510:revInfo>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82"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ata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rawing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613460-4C9B-41D5-890B-3CF735D1081F}"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72FF79C5-E3CB-4B91-8ADD-1B6F7EAB2967}">
      <dgm:prSet/>
      <dgm:spPr/>
      <dgm:t>
        <a:bodyPr/>
        <a:lstStyle/>
        <a:p>
          <a:r>
            <a:rPr lang="en-US" b="1" i="0" baseline="0"/>
            <a:t>Maheen</a:t>
          </a:r>
          <a:r>
            <a:rPr lang="en-US" b="0" i="0" baseline="0"/>
            <a:t> – [Project Designer]</a:t>
          </a:r>
          <a:endParaRPr lang="en-US"/>
        </a:p>
      </dgm:t>
    </dgm:pt>
    <dgm:pt modelId="{E26DBD48-6CEB-44B4-89F8-13E51BBF2214}" type="parTrans" cxnId="{C34F7842-9804-4FB4-A937-8F96E1BCFA7E}">
      <dgm:prSet/>
      <dgm:spPr/>
      <dgm:t>
        <a:bodyPr/>
        <a:lstStyle/>
        <a:p>
          <a:endParaRPr lang="en-US"/>
        </a:p>
      </dgm:t>
    </dgm:pt>
    <dgm:pt modelId="{97C6748A-F0FB-48A1-983E-C1B79A52A114}" type="sibTrans" cxnId="{C34F7842-9804-4FB4-A937-8F96E1BCFA7E}">
      <dgm:prSet/>
      <dgm:spPr/>
      <dgm:t>
        <a:bodyPr/>
        <a:lstStyle/>
        <a:p>
          <a:endParaRPr lang="en-US"/>
        </a:p>
      </dgm:t>
    </dgm:pt>
    <dgm:pt modelId="{A39CFBEB-AD12-4E80-AF91-DD02F18B03A1}">
      <dgm:prSet/>
      <dgm:spPr/>
      <dgm:t>
        <a:bodyPr/>
        <a:lstStyle/>
        <a:p>
          <a:r>
            <a:rPr lang="en-US" b="1" i="0" baseline="0"/>
            <a:t>Sarah</a:t>
          </a:r>
          <a:r>
            <a:rPr lang="en-US" b="0" i="0" baseline="0"/>
            <a:t> – [Project Developer]</a:t>
          </a:r>
          <a:endParaRPr lang="en-US"/>
        </a:p>
      </dgm:t>
    </dgm:pt>
    <dgm:pt modelId="{4CD917CF-E317-48C2-900F-A7286C122827}" type="parTrans" cxnId="{CD61F3E8-BB05-4824-886A-C57E198DE02A}">
      <dgm:prSet/>
      <dgm:spPr/>
      <dgm:t>
        <a:bodyPr/>
        <a:lstStyle/>
        <a:p>
          <a:endParaRPr lang="en-US"/>
        </a:p>
      </dgm:t>
    </dgm:pt>
    <dgm:pt modelId="{4EEE9AF1-556A-4738-B893-0A4B9B144407}" type="sibTrans" cxnId="{CD61F3E8-BB05-4824-886A-C57E198DE02A}">
      <dgm:prSet/>
      <dgm:spPr/>
      <dgm:t>
        <a:bodyPr/>
        <a:lstStyle/>
        <a:p>
          <a:endParaRPr lang="en-US"/>
        </a:p>
      </dgm:t>
    </dgm:pt>
    <dgm:pt modelId="{30BB31B7-E3B6-4FBB-A324-46E5FEE6FC1B}">
      <dgm:prSet/>
      <dgm:spPr/>
      <dgm:t>
        <a:bodyPr/>
        <a:lstStyle/>
        <a:p>
          <a:r>
            <a:rPr lang="en-US" b="1" i="0" baseline="0"/>
            <a:t>Hannah</a:t>
          </a:r>
          <a:r>
            <a:rPr lang="en-US" b="0" i="0" baseline="0"/>
            <a:t> – [Data Analyst]</a:t>
          </a:r>
          <a:endParaRPr lang="en-US"/>
        </a:p>
      </dgm:t>
    </dgm:pt>
    <dgm:pt modelId="{DF0D37F5-904F-4995-8AFC-69E9E3137917}" type="parTrans" cxnId="{16D4E639-058F-4DB0-AB82-06A70F4021DB}">
      <dgm:prSet/>
      <dgm:spPr/>
      <dgm:t>
        <a:bodyPr/>
        <a:lstStyle/>
        <a:p>
          <a:endParaRPr lang="en-US"/>
        </a:p>
      </dgm:t>
    </dgm:pt>
    <dgm:pt modelId="{3BBCE00C-65CD-4D94-8009-B5596F89BF64}" type="sibTrans" cxnId="{16D4E639-058F-4DB0-AB82-06A70F4021DB}">
      <dgm:prSet/>
      <dgm:spPr/>
      <dgm:t>
        <a:bodyPr/>
        <a:lstStyle/>
        <a:p>
          <a:endParaRPr lang="en-US"/>
        </a:p>
      </dgm:t>
    </dgm:pt>
    <dgm:pt modelId="{10E1EA97-D7F8-4083-AC92-5523E09B9544}">
      <dgm:prSet/>
      <dgm:spPr/>
      <dgm:t>
        <a:bodyPr/>
        <a:lstStyle/>
        <a:p>
          <a:r>
            <a:rPr lang="en-US" b="1" i="0" baseline="0"/>
            <a:t>Pralay</a:t>
          </a:r>
          <a:r>
            <a:rPr lang="en-US" b="0" i="0" baseline="0"/>
            <a:t> – [Project Manager] </a:t>
          </a:r>
          <a:endParaRPr lang="en-US"/>
        </a:p>
      </dgm:t>
    </dgm:pt>
    <dgm:pt modelId="{14C30715-D6C0-426B-A94F-C2B75C87DD24}" type="parTrans" cxnId="{2A77BD14-95E0-4914-83F9-728E17211ABA}">
      <dgm:prSet/>
      <dgm:spPr/>
      <dgm:t>
        <a:bodyPr/>
        <a:lstStyle/>
        <a:p>
          <a:endParaRPr lang="en-US"/>
        </a:p>
      </dgm:t>
    </dgm:pt>
    <dgm:pt modelId="{E076C049-15AF-4D0B-A1ED-C0BAB8335FF3}" type="sibTrans" cxnId="{2A77BD14-95E0-4914-83F9-728E17211ABA}">
      <dgm:prSet/>
      <dgm:spPr/>
      <dgm:t>
        <a:bodyPr/>
        <a:lstStyle/>
        <a:p>
          <a:endParaRPr lang="en-US"/>
        </a:p>
      </dgm:t>
    </dgm:pt>
    <dgm:pt modelId="{D9EC068E-7792-42B8-BD66-EA46E93B6A24}" type="pres">
      <dgm:prSet presAssocID="{05613460-4C9B-41D5-890B-3CF735D1081F}" presName="hierChild1" presStyleCnt="0">
        <dgm:presLayoutVars>
          <dgm:chPref val="1"/>
          <dgm:dir/>
          <dgm:animOne val="branch"/>
          <dgm:animLvl val="lvl"/>
          <dgm:resizeHandles/>
        </dgm:presLayoutVars>
      </dgm:prSet>
      <dgm:spPr/>
    </dgm:pt>
    <dgm:pt modelId="{4C3D99D8-EDDE-402D-AC7E-2E285E60BAB6}" type="pres">
      <dgm:prSet presAssocID="{72FF79C5-E3CB-4B91-8ADD-1B6F7EAB2967}" presName="hierRoot1" presStyleCnt="0"/>
      <dgm:spPr/>
    </dgm:pt>
    <dgm:pt modelId="{A94CE838-C2E9-49B4-8028-C18785DB2874}" type="pres">
      <dgm:prSet presAssocID="{72FF79C5-E3CB-4B91-8ADD-1B6F7EAB2967}" presName="composite" presStyleCnt="0"/>
      <dgm:spPr/>
    </dgm:pt>
    <dgm:pt modelId="{FF6678AB-951D-41E7-B379-23431796CFC2}" type="pres">
      <dgm:prSet presAssocID="{72FF79C5-E3CB-4B91-8ADD-1B6F7EAB2967}" presName="background" presStyleLbl="node0" presStyleIdx="0" presStyleCnt="4"/>
      <dgm:spPr/>
    </dgm:pt>
    <dgm:pt modelId="{623D8CBC-F5D1-4E41-97FA-C97D9A470255}" type="pres">
      <dgm:prSet presAssocID="{72FF79C5-E3CB-4B91-8ADD-1B6F7EAB2967}" presName="text" presStyleLbl="fgAcc0" presStyleIdx="0" presStyleCnt="4" custLinFactNeighborX="1099" custLinFactNeighborY="-577">
        <dgm:presLayoutVars>
          <dgm:chPref val="3"/>
        </dgm:presLayoutVars>
      </dgm:prSet>
      <dgm:spPr/>
    </dgm:pt>
    <dgm:pt modelId="{461A9DFE-DB34-4713-9EA8-789DD94BE16B}" type="pres">
      <dgm:prSet presAssocID="{72FF79C5-E3CB-4B91-8ADD-1B6F7EAB2967}" presName="hierChild2" presStyleCnt="0"/>
      <dgm:spPr/>
    </dgm:pt>
    <dgm:pt modelId="{A56ED5C9-A612-4FA8-8E7E-6FD62F6951C4}" type="pres">
      <dgm:prSet presAssocID="{A39CFBEB-AD12-4E80-AF91-DD02F18B03A1}" presName="hierRoot1" presStyleCnt="0"/>
      <dgm:spPr/>
    </dgm:pt>
    <dgm:pt modelId="{40A604F1-FD6C-4233-88FF-5D512C0ED58B}" type="pres">
      <dgm:prSet presAssocID="{A39CFBEB-AD12-4E80-AF91-DD02F18B03A1}" presName="composite" presStyleCnt="0"/>
      <dgm:spPr/>
    </dgm:pt>
    <dgm:pt modelId="{2D215671-1A94-45D7-97C4-28652C384E7E}" type="pres">
      <dgm:prSet presAssocID="{A39CFBEB-AD12-4E80-AF91-DD02F18B03A1}" presName="background" presStyleLbl="node0" presStyleIdx="1" presStyleCnt="4"/>
      <dgm:spPr/>
    </dgm:pt>
    <dgm:pt modelId="{1C269F4D-8A4F-439C-8425-0275B91FFE0A}" type="pres">
      <dgm:prSet presAssocID="{A39CFBEB-AD12-4E80-AF91-DD02F18B03A1}" presName="text" presStyleLbl="fgAcc0" presStyleIdx="1" presStyleCnt="4">
        <dgm:presLayoutVars>
          <dgm:chPref val="3"/>
        </dgm:presLayoutVars>
      </dgm:prSet>
      <dgm:spPr/>
    </dgm:pt>
    <dgm:pt modelId="{B07B56D3-E085-4635-BC7D-2F6AF506F42C}" type="pres">
      <dgm:prSet presAssocID="{A39CFBEB-AD12-4E80-AF91-DD02F18B03A1}" presName="hierChild2" presStyleCnt="0"/>
      <dgm:spPr/>
    </dgm:pt>
    <dgm:pt modelId="{E50AE8E0-5544-4431-9A40-8BA7470BFA8C}" type="pres">
      <dgm:prSet presAssocID="{30BB31B7-E3B6-4FBB-A324-46E5FEE6FC1B}" presName="hierRoot1" presStyleCnt="0"/>
      <dgm:spPr/>
    </dgm:pt>
    <dgm:pt modelId="{E31AAC34-C488-4F00-80A1-979665AF29A6}" type="pres">
      <dgm:prSet presAssocID="{30BB31B7-E3B6-4FBB-A324-46E5FEE6FC1B}" presName="composite" presStyleCnt="0"/>
      <dgm:spPr/>
    </dgm:pt>
    <dgm:pt modelId="{76D80DC6-1EB4-4210-AA76-293E39C08872}" type="pres">
      <dgm:prSet presAssocID="{30BB31B7-E3B6-4FBB-A324-46E5FEE6FC1B}" presName="background" presStyleLbl="node0" presStyleIdx="2" presStyleCnt="4"/>
      <dgm:spPr/>
    </dgm:pt>
    <dgm:pt modelId="{D9BCFDE8-3CBB-4FDD-960B-7E12E5F8A2B8}" type="pres">
      <dgm:prSet presAssocID="{30BB31B7-E3B6-4FBB-A324-46E5FEE6FC1B}" presName="text" presStyleLbl="fgAcc0" presStyleIdx="2" presStyleCnt="4">
        <dgm:presLayoutVars>
          <dgm:chPref val="3"/>
        </dgm:presLayoutVars>
      </dgm:prSet>
      <dgm:spPr/>
    </dgm:pt>
    <dgm:pt modelId="{F0B022DF-CF05-47B7-962E-281C7AC27E27}" type="pres">
      <dgm:prSet presAssocID="{30BB31B7-E3B6-4FBB-A324-46E5FEE6FC1B}" presName="hierChild2" presStyleCnt="0"/>
      <dgm:spPr/>
    </dgm:pt>
    <dgm:pt modelId="{1C056AFD-3362-41ED-8492-6280F8DEA4AE}" type="pres">
      <dgm:prSet presAssocID="{10E1EA97-D7F8-4083-AC92-5523E09B9544}" presName="hierRoot1" presStyleCnt="0"/>
      <dgm:spPr/>
    </dgm:pt>
    <dgm:pt modelId="{52AF026D-C64F-44CE-8499-8F36AA301D85}" type="pres">
      <dgm:prSet presAssocID="{10E1EA97-D7F8-4083-AC92-5523E09B9544}" presName="composite" presStyleCnt="0"/>
      <dgm:spPr/>
    </dgm:pt>
    <dgm:pt modelId="{9C8B4714-A52D-453B-A5F9-EF61E5589B57}" type="pres">
      <dgm:prSet presAssocID="{10E1EA97-D7F8-4083-AC92-5523E09B9544}" presName="background" presStyleLbl="node0" presStyleIdx="3" presStyleCnt="4"/>
      <dgm:spPr/>
    </dgm:pt>
    <dgm:pt modelId="{DE672AC3-3E31-47D0-92DE-DFE8A10EE0FA}" type="pres">
      <dgm:prSet presAssocID="{10E1EA97-D7F8-4083-AC92-5523E09B9544}" presName="text" presStyleLbl="fgAcc0" presStyleIdx="3" presStyleCnt="4">
        <dgm:presLayoutVars>
          <dgm:chPref val="3"/>
        </dgm:presLayoutVars>
      </dgm:prSet>
      <dgm:spPr/>
    </dgm:pt>
    <dgm:pt modelId="{26BF4F29-0747-4CDE-A8AF-BD92C47EBC8E}" type="pres">
      <dgm:prSet presAssocID="{10E1EA97-D7F8-4083-AC92-5523E09B9544}" presName="hierChild2" presStyleCnt="0"/>
      <dgm:spPr/>
    </dgm:pt>
  </dgm:ptLst>
  <dgm:cxnLst>
    <dgm:cxn modelId="{2A77BD14-95E0-4914-83F9-728E17211ABA}" srcId="{05613460-4C9B-41D5-890B-3CF735D1081F}" destId="{10E1EA97-D7F8-4083-AC92-5523E09B9544}" srcOrd="3" destOrd="0" parTransId="{14C30715-D6C0-426B-A94F-C2B75C87DD24}" sibTransId="{E076C049-15AF-4D0B-A1ED-C0BAB8335FF3}"/>
    <dgm:cxn modelId="{16D4E639-058F-4DB0-AB82-06A70F4021DB}" srcId="{05613460-4C9B-41D5-890B-3CF735D1081F}" destId="{30BB31B7-E3B6-4FBB-A324-46E5FEE6FC1B}" srcOrd="2" destOrd="0" parTransId="{DF0D37F5-904F-4995-8AFC-69E9E3137917}" sibTransId="{3BBCE00C-65CD-4D94-8009-B5596F89BF64}"/>
    <dgm:cxn modelId="{C34F7842-9804-4FB4-A937-8F96E1BCFA7E}" srcId="{05613460-4C9B-41D5-890B-3CF735D1081F}" destId="{72FF79C5-E3CB-4B91-8ADD-1B6F7EAB2967}" srcOrd="0" destOrd="0" parTransId="{E26DBD48-6CEB-44B4-89F8-13E51BBF2214}" sibTransId="{97C6748A-F0FB-48A1-983E-C1B79A52A114}"/>
    <dgm:cxn modelId="{2338C764-DC28-4B43-A434-47E384730485}" type="presOf" srcId="{10E1EA97-D7F8-4083-AC92-5523E09B9544}" destId="{DE672AC3-3E31-47D0-92DE-DFE8A10EE0FA}" srcOrd="0" destOrd="0" presId="urn:microsoft.com/office/officeart/2005/8/layout/hierarchy1"/>
    <dgm:cxn modelId="{2768508A-CC30-43D2-9D14-34B194101F23}" type="presOf" srcId="{72FF79C5-E3CB-4B91-8ADD-1B6F7EAB2967}" destId="{623D8CBC-F5D1-4E41-97FA-C97D9A470255}" srcOrd="0" destOrd="0" presId="urn:microsoft.com/office/officeart/2005/8/layout/hierarchy1"/>
    <dgm:cxn modelId="{5A1F85DF-A77B-44E9-88D7-87445BAD3C25}" type="presOf" srcId="{A39CFBEB-AD12-4E80-AF91-DD02F18B03A1}" destId="{1C269F4D-8A4F-439C-8425-0275B91FFE0A}" srcOrd="0" destOrd="0" presId="urn:microsoft.com/office/officeart/2005/8/layout/hierarchy1"/>
    <dgm:cxn modelId="{CD61F3E8-BB05-4824-886A-C57E198DE02A}" srcId="{05613460-4C9B-41D5-890B-3CF735D1081F}" destId="{A39CFBEB-AD12-4E80-AF91-DD02F18B03A1}" srcOrd="1" destOrd="0" parTransId="{4CD917CF-E317-48C2-900F-A7286C122827}" sibTransId="{4EEE9AF1-556A-4738-B893-0A4B9B144407}"/>
    <dgm:cxn modelId="{1F738FEA-B02B-40AA-86F0-741E42A0A6C6}" type="presOf" srcId="{05613460-4C9B-41D5-890B-3CF735D1081F}" destId="{D9EC068E-7792-42B8-BD66-EA46E93B6A24}" srcOrd="0" destOrd="0" presId="urn:microsoft.com/office/officeart/2005/8/layout/hierarchy1"/>
    <dgm:cxn modelId="{429D7CFF-753B-4FAC-9338-31F0C068DD08}" type="presOf" srcId="{30BB31B7-E3B6-4FBB-A324-46E5FEE6FC1B}" destId="{D9BCFDE8-3CBB-4FDD-960B-7E12E5F8A2B8}" srcOrd="0" destOrd="0" presId="urn:microsoft.com/office/officeart/2005/8/layout/hierarchy1"/>
    <dgm:cxn modelId="{FCDEB178-33BA-4814-B447-F9F1D54DC0FC}" type="presParOf" srcId="{D9EC068E-7792-42B8-BD66-EA46E93B6A24}" destId="{4C3D99D8-EDDE-402D-AC7E-2E285E60BAB6}" srcOrd="0" destOrd="0" presId="urn:microsoft.com/office/officeart/2005/8/layout/hierarchy1"/>
    <dgm:cxn modelId="{98026B03-B6FF-4C83-9B93-99DEFDF2CDAA}" type="presParOf" srcId="{4C3D99D8-EDDE-402D-AC7E-2E285E60BAB6}" destId="{A94CE838-C2E9-49B4-8028-C18785DB2874}" srcOrd="0" destOrd="0" presId="urn:microsoft.com/office/officeart/2005/8/layout/hierarchy1"/>
    <dgm:cxn modelId="{499D7537-C4C2-417C-9AC4-2487B0FBC7FE}" type="presParOf" srcId="{A94CE838-C2E9-49B4-8028-C18785DB2874}" destId="{FF6678AB-951D-41E7-B379-23431796CFC2}" srcOrd="0" destOrd="0" presId="urn:microsoft.com/office/officeart/2005/8/layout/hierarchy1"/>
    <dgm:cxn modelId="{E7B42362-CE5D-4828-AF65-F70424890A47}" type="presParOf" srcId="{A94CE838-C2E9-49B4-8028-C18785DB2874}" destId="{623D8CBC-F5D1-4E41-97FA-C97D9A470255}" srcOrd="1" destOrd="0" presId="urn:microsoft.com/office/officeart/2005/8/layout/hierarchy1"/>
    <dgm:cxn modelId="{F4284D09-6C95-4FB1-973A-2535339C6E62}" type="presParOf" srcId="{4C3D99D8-EDDE-402D-AC7E-2E285E60BAB6}" destId="{461A9DFE-DB34-4713-9EA8-789DD94BE16B}" srcOrd="1" destOrd="0" presId="urn:microsoft.com/office/officeart/2005/8/layout/hierarchy1"/>
    <dgm:cxn modelId="{128BEC55-3EC3-46EE-814F-1F13259680C0}" type="presParOf" srcId="{D9EC068E-7792-42B8-BD66-EA46E93B6A24}" destId="{A56ED5C9-A612-4FA8-8E7E-6FD62F6951C4}" srcOrd="1" destOrd="0" presId="urn:microsoft.com/office/officeart/2005/8/layout/hierarchy1"/>
    <dgm:cxn modelId="{14B469F4-2D8F-4BE0-9ABC-42FC21767448}" type="presParOf" srcId="{A56ED5C9-A612-4FA8-8E7E-6FD62F6951C4}" destId="{40A604F1-FD6C-4233-88FF-5D512C0ED58B}" srcOrd="0" destOrd="0" presId="urn:microsoft.com/office/officeart/2005/8/layout/hierarchy1"/>
    <dgm:cxn modelId="{DBF037A8-3392-4916-891C-8227666CD078}" type="presParOf" srcId="{40A604F1-FD6C-4233-88FF-5D512C0ED58B}" destId="{2D215671-1A94-45D7-97C4-28652C384E7E}" srcOrd="0" destOrd="0" presId="urn:microsoft.com/office/officeart/2005/8/layout/hierarchy1"/>
    <dgm:cxn modelId="{44C27384-191F-4D78-BC2B-6BE8AD9145FC}" type="presParOf" srcId="{40A604F1-FD6C-4233-88FF-5D512C0ED58B}" destId="{1C269F4D-8A4F-439C-8425-0275B91FFE0A}" srcOrd="1" destOrd="0" presId="urn:microsoft.com/office/officeart/2005/8/layout/hierarchy1"/>
    <dgm:cxn modelId="{8DD80266-5EA1-4029-B94F-2677314EFD46}" type="presParOf" srcId="{A56ED5C9-A612-4FA8-8E7E-6FD62F6951C4}" destId="{B07B56D3-E085-4635-BC7D-2F6AF506F42C}" srcOrd="1" destOrd="0" presId="urn:microsoft.com/office/officeart/2005/8/layout/hierarchy1"/>
    <dgm:cxn modelId="{63063D86-3A7B-434D-9E2B-EF2EF48A077D}" type="presParOf" srcId="{D9EC068E-7792-42B8-BD66-EA46E93B6A24}" destId="{E50AE8E0-5544-4431-9A40-8BA7470BFA8C}" srcOrd="2" destOrd="0" presId="urn:microsoft.com/office/officeart/2005/8/layout/hierarchy1"/>
    <dgm:cxn modelId="{F4E16481-B2B8-4140-AA3B-51CE168CB87F}" type="presParOf" srcId="{E50AE8E0-5544-4431-9A40-8BA7470BFA8C}" destId="{E31AAC34-C488-4F00-80A1-979665AF29A6}" srcOrd="0" destOrd="0" presId="urn:microsoft.com/office/officeart/2005/8/layout/hierarchy1"/>
    <dgm:cxn modelId="{276C0EAA-FDFB-4516-9305-F83FA4B770AA}" type="presParOf" srcId="{E31AAC34-C488-4F00-80A1-979665AF29A6}" destId="{76D80DC6-1EB4-4210-AA76-293E39C08872}" srcOrd="0" destOrd="0" presId="urn:microsoft.com/office/officeart/2005/8/layout/hierarchy1"/>
    <dgm:cxn modelId="{BE48345C-B217-4284-BBF6-15A7B87D0488}" type="presParOf" srcId="{E31AAC34-C488-4F00-80A1-979665AF29A6}" destId="{D9BCFDE8-3CBB-4FDD-960B-7E12E5F8A2B8}" srcOrd="1" destOrd="0" presId="urn:microsoft.com/office/officeart/2005/8/layout/hierarchy1"/>
    <dgm:cxn modelId="{8B3A9D6A-4854-4DA0-8A08-C003B3A430B8}" type="presParOf" srcId="{E50AE8E0-5544-4431-9A40-8BA7470BFA8C}" destId="{F0B022DF-CF05-47B7-962E-281C7AC27E27}" srcOrd="1" destOrd="0" presId="urn:microsoft.com/office/officeart/2005/8/layout/hierarchy1"/>
    <dgm:cxn modelId="{A8DBC83A-4679-4252-96E9-10159BAF4EA7}" type="presParOf" srcId="{D9EC068E-7792-42B8-BD66-EA46E93B6A24}" destId="{1C056AFD-3362-41ED-8492-6280F8DEA4AE}" srcOrd="3" destOrd="0" presId="urn:microsoft.com/office/officeart/2005/8/layout/hierarchy1"/>
    <dgm:cxn modelId="{FEA62373-E41C-4702-BBC4-CF8FE1104F41}" type="presParOf" srcId="{1C056AFD-3362-41ED-8492-6280F8DEA4AE}" destId="{52AF026D-C64F-44CE-8499-8F36AA301D85}" srcOrd="0" destOrd="0" presId="urn:microsoft.com/office/officeart/2005/8/layout/hierarchy1"/>
    <dgm:cxn modelId="{75961CB5-2BFD-4CD0-ACD8-738B559059C1}" type="presParOf" srcId="{52AF026D-C64F-44CE-8499-8F36AA301D85}" destId="{9C8B4714-A52D-453B-A5F9-EF61E5589B57}" srcOrd="0" destOrd="0" presId="urn:microsoft.com/office/officeart/2005/8/layout/hierarchy1"/>
    <dgm:cxn modelId="{ECE4C460-FB26-4CFF-B91E-96742822166D}" type="presParOf" srcId="{52AF026D-C64F-44CE-8499-8F36AA301D85}" destId="{DE672AC3-3E31-47D0-92DE-DFE8A10EE0FA}" srcOrd="1" destOrd="0" presId="urn:microsoft.com/office/officeart/2005/8/layout/hierarchy1"/>
    <dgm:cxn modelId="{2C4EFA13-D26E-400E-857A-1774170B02A5}" type="presParOf" srcId="{1C056AFD-3362-41ED-8492-6280F8DEA4AE}" destId="{26BF4F29-0747-4CDE-A8AF-BD92C47EBC8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29E604F-E7C1-40F2-A849-B6DCA140918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37A37DD-0DD7-4AFB-BF0F-B359C41FF70B}">
      <dgm:prSet/>
      <dgm:spPr/>
      <dgm:t>
        <a:bodyPr/>
        <a:lstStyle/>
        <a:p>
          <a:pPr>
            <a:lnSpc>
              <a:spcPct val="100000"/>
            </a:lnSpc>
          </a:pPr>
          <a:r>
            <a:rPr lang="en-US"/>
            <a:t>AI- Powered drones will detect, analyze, and suppress wildfires </a:t>
          </a:r>
        </a:p>
      </dgm:t>
    </dgm:pt>
    <dgm:pt modelId="{2EAF0223-1401-4E49-AB9F-BC005AEBDC4D}" type="parTrans" cxnId="{BD5A334C-BF1C-41B2-9194-CD358C2BF3A2}">
      <dgm:prSet/>
      <dgm:spPr/>
      <dgm:t>
        <a:bodyPr/>
        <a:lstStyle/>
        <a:p>
          <a:endParaRPr lang="en-US"/>
        </a:p>
      </dgm:t>
    </dgm:pt>
    <dgm:pt modelId="{C6FEC08E-3323-46EA-81BD-BC65D88B6B5D}" type="sibTrans" cxnId="{BD5A334C-BF1C-41B2-9194-CD358C2BF3A2}">
      <dgm:prSet/>
      <dgm:spPr/>
      <dgm:t>
        <a:bodyPr/>
        <a:lstStyle/>
        <a:p>
          <a:endParaRPr lang="en-US"/>
        </a:p>
      </dgm:t>
    </dgm:pt>
    <dgm:pt modelId="{2F24D25E-4266-4441-B10D-CF3A1919A517}">
      <dgm:prSet/>
      <dgm:spPr/>
      <dgm:t>
        <a:bodyPr/>
        <a:lstStyle/>
        <a:p>
          <a:pPr>
            <a:lnSpc>
              <a:spcPct val="100000"/>
            </a:lnSpc>
          </a:pPr>
          <a:r>
            <a:rPr lang="en-US"/>
            <a:t>Use of AI, thermal imaging, and Starlink</a:t>
          </a:r>
        </a:p>
      </dgm:t>
    </dgm:pt>
    <dgm:pt modelId="{9F566A9B-0A72-4A92-A0E6-AD94CC2DF394}" type="parTrans" cxnId="{A440FCE1-B35B-476E-B1FC-442B0B6C7F1D}">
      <dgm:prSet/>
      <dgm:spPr/>
      <dgm:t>
        <a:bodyPr/>
        <a:lstStyle/>
        <a:p>
          <a:endParaRPr lang="en-US"/>
        </a:p>
      </dgm:t>
    </dgm:pt>
    <dgm:pt modelId="{0ADA2F31-A088-424E-BE25-4D1F777E0887}" type="sibTrans" cxnId="{A440FCE1-B35B-476E-B1FC-442B0B6C7F1D}">
      <dgm:prSet/>
      <dgm:spPr/>
      <dgm:t>
        <a:bodyPr/>
        <a:lstStyle/>
        <a:p>
          <a:endParaRPr lang="en-US"/>
        </a:p>
      </dgm:t>
    </dgm:pt>
    <dgm:pt modelId="{FFF0EEA7-5B63-4218-9576-0DBBFB7CBF2A}">
      <dgm:prSet/>
      <dgm:spPr/>
      <dgm:t>
        <a:bodyPr/>
        <a:lstStyle/>
        <a:p>
          <a:pPr>
            <a:lnSpc>
              <a:spcPct val="100000"/>
            </a:lnSpc>
          </a:pPr>
          <a:r>
            <a:rPr lang="en-US"/>
            <a:t>Real time decision making with AI</a:t>
          </a:r>
        </a:p>
      </dgm:t>
    </dgm:pt>
    <dgm:pt modelId="{B446D3BF-2698-4B4D-9FE2-C6C076548ECA}" type="parTrans" cxnId="{CA9AD549-F780-4817-A0FA-6B80AE23E104}">
      <dgm:prSet/>
      <dgm:spPr/>
      <dgm:t>
        <a:bodyPr/>
        <a:lstStyle/>
        <a:p>
          <a:endParaRPr lang="en-US"/>
        </a:p>
      </dgm:t>
    </dgm:pt>
    <dgm:pt modelId="{45C64803-5ADF-474A-A752-AEA954FA0875}" type="sibTrans" cxnId="{CA9AD549-F780-4817-A0FA-6B80AE23E104}">
      <dgm:prSet/>
      <dgm:spPr/>
      <dgm:t>
        <a:bodyPr/>
        <a:lstStyle/>
        <a:p>
          <a:endParaRPr lang="en-US"/>
        </a:p>
      </dgm:t>
    </dgm:pt>
    <dgm:pt modelId="{500731FC-926C-4965-BDD8-0C63ACF01A71}" type="pres">
      <dgm:prSet presAssocID="{929E604F-E7C1-40F2-A849-B6DCA1409184}" presName="root" presStyleCnt="0">
        <dgm:presLayoutVars>
          <dgm:dir/>
          <dgm:resizeHandles val="exact"/>
        </dgm:presLayoutVars>
      </dgm:prSet>
      <dgm:spPr/>
    </dgm:pt>
    <dgm:pt modelId="{34F4C7BC-1103-4C28-868A-481BC1788ECF}" type="pres">
      <dgm:prSet presAssocID="{137A37DD-0DD7-4AFB-BF0F-B359C41FF70B}" presName="compNode" presStyleCnt="0"/>
      <dgm:spPr/>
    </dgm:pt>
    <dgm:pt modelId="{68D17507-B2A3-4EA6-91A7-DE45167512AA}" type="pres">
      <dgm:prSet presAssocID="{137A37DD-0DD7-4AFB-BF0F-B359C41FF70B}" presName="bgRect" presStyleLbl="bgShp" presStyleIdx="0" presStyleCnt="3"/>
      <dgm:spPr/>
    </dgm:pt>
    <dgm:pt modelId="{CDC02AD4-2700-48BA-BFAB-4E41EF6B86B0}" type="pres">
      <dgm:prSet presAssocID="{137A37DD-0DD7-4AFB-BF0F-B359C41FF70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onfire"/>
        </a:ext>
      </dgm:extLst>
    </dgm:pt>
    <dgm:pt modelId="{939DD564-00BC-4539-A482-CB5459685859}" type="pres">
      <dgm:prSet presAssocID="{137A37DD-0DD7-4AFB-BF0F-B359C41FF70B}" presName="spaceRect" presStyleCnt="0"/>
      <dgm:spPr/>
    </dgm:pt>
    <dgm:pt modelId="{95553D89-33B7-41ED-B5AB-1B4B2DBC4E3C}" type="pres">
      <dgm:prSet presAssocID="{137A37DD-0DD7-4AFB-BF0F-B359C41FF70B}" presName="parTx" presStyleLbl="revTx" presStyleIdx="0" presStyleCnt="3">
        <dgm:presLayoutVars>
          <dgm:chMax val="0"/>
          <dgm:chPref val="0"/>
        </dgm:presLayoutVars>
      </dgm:prSet>
      <dgm:spPr/>
    </dgm:pt>
    <dgm:pt modelId="{059A685D-BFED-4DC9-A68B-B9F5938A5D78}" type="pres">
      <dgm:prSet presAssocID="{C6FEC08E-3323-46EA-81BD-BC65D88B6B5D}" presName="sibTrans" presStyleCnt="0"/>
      <dgm:spPr/>
    </dgm:pt>
    <dgm:pt modelId="{DCE9159C-7D5D-44FA-AE90-91C66018598C}" type="pres">
      <dgm:prSet presAssocID="{2F24D25E-4266-4441-B10D-CF3A1919A517}" presName="compNode" presStyleCnt="0"/>
      <dgm:spPr/>
    </dgm:pt>
    <dgm:pt modelId="{C315349E-8B76-470B-AFDF-E0D719089211}" type="pres">
      <dgm:prSet presAssocID="{2F24D25E-4266-4441-B10D-CF3A1919A517}" presName="bgRect" presStyleLbl="bgShp" presStyleIdx="1" presStyleCnt="3"/>
      <dgm:spPr/>
    </dgm:pt>
    <dgm:pt modelId="{C4DFA40F-4C8D-44B0-B764-DF28AAC5F978}" type="pres">
      <dgm:prSet presAssocID="{2F24D25E-4266-4441-B10D-CF3A1919A51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atellite"/>
        </a:ext>
      </dgm:extLst>
    </dgm:pt>
    <dgm:pt modelId="{F8476F3A-2AC6-48AC-802E-F5218DE71651}" type="pres">
      <dgm:prSet presAssocID="{2F24D25E-4266-4441-B10D-CF3A1919A517}" presName="spaceRect" presStyleCnt="0"/>
      <dgm:spPr/>
    </dgm:pt>
    <dgm:pt modelId="{9E4650FD-303C-45AF-8A44-3F44F00AC420}" type="pres">
      <dgm:prSet presAssocID="{2F24D25E-4266-4441-B10D-CF3A1919A517}" presName="parTx" presStyleLbl="revTx" presStyleIdx="1" presStyleCnt="3">
        <dgm:presLayoutVars>
          <dgm:chMax val="0"/>
          <dgm:chPref val="0"/>
        </dgm:presLayoutVars>
      </dgm:prSet>
      <dgm:spPr/>
    </dgm:pt>
    <dgm:pt modelId="{930E831B-97CE-4771-A853-C36C1C75F00B}" type="pres">
      <dgm:prSet presAssocID="{0ADA2F31-A088-424E-BE25-4D1F777E0887}" presName="sibTrans" presStyleCnt="0"/>
      <dgm:spPr/>
    </dgm:pt>
    <dgm:pt modelId="{32C83807-AA40-4672-B15B-E72B5DB4C0C9}" type="pres">
      <dgm:prSet presAssocID="{FFF0EEA7-5B63-4218-9576-0DBBFB7CBF2A}" presName="compNode" presStyleCnt="0"/>
      <dgm:spPr/>
    </dgm:pt>
    <dgm:pt modelId="{139F5C82-255B-4292-8BD4-62FE8434C210}" type="pres">
      <dgm:prSet presAssocID="{FFF0EEA7-5B63-4218-9576-0DBBFB7CBF2A}" presName="bgRect" presStyleLbl="bgShp" presStyleIdx="2" presStyleCnt="3"/>
      <dgm:spPr/>
    </dgm:pt>
    <dgm:pt modelId="{4945A23D-F25E-4613-A9BD-268788F6DFED}" type="pres">
      <dgm:prSet presAssocID="{FFF0EEA7-5B63-4218-9576-0DBBFB7CBF2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9A0411E7-2BE3-4BDA-B3B5-C7D7F76AB932}" type="pres">
      <dgm:prSet presAssocID="{FFF0EEA7-5B63-4218-9576-0DBBFB7CBF2A}" presName="spaceRect" presStyleCnt="0"/>
      <dgm:spPr/>
    </dgm:pt>
    <dgm:pt modelId="{F5955547-85C6-4EB7-831A-A16337307ED7}" type="pres">
      <dgm:prSet presAssocID="{FFF0EEA7-5B63-4218-9576-0DBBFB7CBF2A}" presName="parTx" presStyleLbl="revTx" presStyleIdx="2" presStyleCnt="3">
        <dgm:presLayoutVars>
          <dgm:chMax val="0"/>
          <dgm:chPref val="0"/>
        </dgm:presLayoutVars>
      </dgm:prSet>
      <dgm:spPr/>
    </dgm:pt>
  </dgm:ptLst>
  <dgm:cxnLst>
    <dgm:cxn modelId="{2B415613-6CEE-4F2F-AFE3-0AF33964B134}" type="presOf" srcId="{2F24D25E-4266-4441-B10D-CF3A1919A517}" destId="{9E4650FD-303C-45AF-8A44-3F44F00AC420}" srcOrd="0" destOrd="0" presId="urn:microsoft.com/office/officeart/2018/2/layout/IconVerticalSolidList"/>
    <dgm:cxn modelId="{27219423-02E1-4F9A-8086-1A1D1E3C1158}" type="presOf" srcId="{FFF0EEA7-5B63-4218-9576-0DBBFB7CBF2A}" destId="{F5955547-85C6-4EB7-831A-A16337307ED7}" srcOrd="0" destOrd="0" presId="urn:microsoft.com/office/officeart/2018/2/layout/IconVerticalSolidList"/>
    <dgm:cxn modelId="{AE449328-42D9-4A5A-86CE-3026D0E184B6}" type="presOf" srcId="{137A37DD-0DD7-4AFB-BF0F-B359C41FF70B}" destId="{95553D89-33B7-41ED-B5AB-1B4B2DBC4E3C}" srcOrd="0" destOrd="0" presId="urn:microsoft.com/office/officeart/2018/2/layout/IconVerticalSolidList"/>
    <dgm:cxn modelId="{CA9AD549-F780-4817-A0FA-6B80AE23E104}" srcId="{929E604F-E7C1-40F2-A849-B6DCA1409184}" destId="{FFF0EEA7-5B63-4218-9576-0DBBFB7CBF2A}" srcOrd="2" destOrd="0" parTransId="{B446D3BF-2698-4B4D-9FE2-C6C076548ECA}" sibTransId="{45C64803-5ADF-474A-A752-AEA954FA0875}"/>
    <dgm:cxn modelId="{BD5A334C-BF1C-41B2-9194-CD358C2BF3A2}" srcId="{929E604F-E7C1-40F2-A849-B6DCA1409184}" destId="{137A37DD-0DD7-4AFB-BF0F-B359C41FF70B}" srcOrd="0" destOrd="0" parTransId="{2EAF0223-1401-4E49-AB9F-BC005AEBDC4D}" sibTransId="{C6FEC08E-3323-46EA-81BD-BC65D88B6B5D}"/>
    <dgm:cxn modelId="{C7D68EBB-F6E4-440D-9E9E-9CE4F1E88F49}" type="presOf" srcId="{929E604F-E7C1-40F2-A849-B6DCA1409184}" destId="{500731FC-926C-4965-BDD8-0C63ACF01A71}" srcOrd="0" destOrd="0" presId="urn:microsoft.com/office/officeart/2018/2/layout/IconVerticalSolidList"/>
    <dgm:cxn modelId="{A440FCE1-B35B-476E-B1FC-442B0B6C7F1D}" srcId="{929E604F-E7C1-40F2-A849-B6DCA1409184}" destId="{2F24D25E-4266-4441-B10D-CF3A1919A517}" srcOrd="1" destOrd="0" parTransId="{9F566A9B-0A72-4A92-A0E6-AD94CC2DF394}" sibTransId="{0ADA2F31-A088-424E-BE25-4D1F777E0887}"/>
    <dgm:cxn modelId="{77FBD266-D45D-4FDE-B356-C09D54747045}" type="presParOf" srcId="{500731FC-926C-4965-BDD8-0C63ACF01A71}" destId="{34F4C7BC-1103-4C28-868A-481BC1788ECF}" srcOrd="0" destOrd="0" presId="urn:microsoft.com/office/officeart/2018/2/layout/IconVerticalSolidList"/>
    <dgm:cxn modelId="{F23B25B8-683D-4914-80DF-DAF3DADD4EC0}" type="presParOf" srcId="{34F4C7BC-1103-4C28-868A-481BC1788ECF}" destId="{68D17507-B2A3-4EA6-91A7-DE45167512AA}" srcOrd="0" destOrd="0" presId="urn:microsoft.com/office/officeart/2018/2/layout/IconVerticalSolidList"/>
    <dgm:cxn modelId="{67D6CAE1-57F7-4F6B-9F40-A36F440760D0}" type="presParOf" srcId="{34F4C7BC-1103-4C28-868A-481BC1788ECF}" destId="{CDC02AD4-2700-48BA-BFAB-4E41EF6B86B0}" srcOrd="1" destOrd="0" presId="urn:microsoft.com/office/officeart/2018/2/layout/IconVerticalSolidList"/>
    <dgm:cxn modelId="{A149C4FC-B2C5-46CA-AC7E-EB941FA190B0}" type="presParOf" srcId="{34F4C7BC-1103-4C28-868A-481BC1788ECF}" destId="{939DD564-00BC-4539-A482-CB5459685859}" srcOrd="2" destOrd="0" presId="urn:microsoft.com/office/officeart/2018/2/layout/IconVerticalSolidList"/>
    <dgm:cxn modelId="{A44947C2-45EB-4FD8-B2DF-2975D10B9B4F}" type="presParOf" srcId="{34F4C7BC-1103-4C28-868A-481BC1788ECF}" destId="{95553D89-33B7-41ED-B5AB-1B4B2DBC4E3C}" srcOrd="3" destOrd="0" presId="urn:microsoft.com/office/officeart/2018/2/layout/IconVerticalSolidList"/>
    <dgm:cxn modelId="{65213B57-492F-4FC1-B37A-5BE41FB9B78C}" type="presParOf" srcId="{500731FC-926C-4965-BDD8-0C63ACF01A71}" destId="{059A685D-BFED-4DC9-A68B-B9F5938A5D78}" srcOrd="1" destOrd="0" presId="urn:microsoft.com/office/officeart/2018/2/layout/IconVerticalSolidList"/>
    <dgm:cxn modelId="{7EB9AA12-34A3-45C8-883A-3E6AD55C8D69}" type="presParOf" srcId="{500731FC-926C-4965-BDD8-0C63ACF01A71}" destId="{DCE9159C-7D5D-44FA-AE90-91C66018598C}" srcOrd="2" destOrd="0" presId="urn:microsoft.com/office/officeart/2018/2/layout/IconVerticalSolidList"/>
    <dgm:cxn modelId="{BEE438FD-6D45-4DC2-8EE6-60C4E3D24A66}" type="presParOf" srcId="{DCE9159C-7D5D-44FA-AE90-91C66018598C}" destId="{C315349E-8B76-470B-AFDF-E0D719089211}" srcOrd="0" destOrd="0" presId="urn:microsoft.com/office/officeart/2018/2/layout/IconVerticalSolidList"/>
    <dgm:cxn modelId="{190861AB-31AB-40EA-B1C9-EA8EBDEF41B8}" type="presParOf" srcId="{DCE9159C-7D5D-44FA-AE90-91C66018598C}" destId="{C4DFA40F-4C8D-44B0-B764-DF28AAC5F978}" srcOrd="1" destOrd="0" presId="urn:microsoft.com/office/officeart/2018/2/layout/IconVerticalSolidList"/>
    <dgm:cxn modelId="{CB8D6557-FA28-4605-B409-16C688E67AC0}" type="presParOf" srcId="{DCE9159C-7D5D-44FA-AE90-91C66018598C}" destId="{F8476F3A-2AC6-48AC-802E-F5218DE71651}" srcOrd="2" destOrd="0" presId="urn:microsoft.com/office/officeart/2018/2/layout/IconVerticalSolidList"/>
    <dgm:cxn modelId="{5B6DBDED-3C86-4DDC-BF28-6E6500CF8C46}" type="presParOf" srcId="{DCE9159C-7D5D-44FA-AE90-91C66018598C}" destId="{9E4650FD-303C-45AF-8A44-3F44F00AC420}" srcOrd="3" destOrd="0" presId="urn:microsoft.com/office/officeart/2018/2/layout/IconVerticalSolidList"/>
    <dgm:cxn modelId="{EA6EE376-0A62-48EA-8885-18832DBBCA8E}" type="presParOf" srcId="{500731FC-926C-4965-BDD8-0C63ACF01A71}" destId="{930E831B-97CE-4771-A853-C36C1C75F00B}" srcOrd="3" destOrd="0" presId="urn:microsoft.com/office/officeart/2018/2/layout/IconVerticalSolidList"/>
    <dgm:cxn modelId="{0682F8F8-AC33-4030-9D74-982942397BC5}" type="presParOf" srcId="{500731FC-926C-4965-BDD8-0C63ACF01A71}" destId="{32C83807-AA40-4672-B15B-E72B5DB4C0C9}" srcOrd="4" destOrd="0" presId="urn:microsoft.com/office/officeart/2018/2/layout/IconVerticalSolidList"/>
    <dgm:cxn modelId="{B35F75D0-8DCC-48F2-94E4-62C0B3232BF3}" type="presParOf" srcId="{32C83807-AA40-4672-B15B-E72B5DB4C0C9}" destId="{139F5C82-255B-4292-8BD4-62FE8434C210}" srcOrd="0" destOrd="0" presId="urn:microsoft.com/office/officeart/2018/2/layout/IconVerticalSolidList"/>
    <dgm:cxn modelId="{4204911B-4F00-482F-865D-3D25494FEC92}" type="presParOf" srcId="{32C83807-AA40-4672-B15B-E72B5DB4C0C9}" destId="{4945A23D-F25E-4613-A9BD-268788F6DFED}" srcOrd="1" destOrd="0" presId="urn:microsoft.com/office/officeart/2018/2/layout/IconVerticalSolidList"/>
    <dgm:cxn modelId="{B5AEEB91-6EB9-4F10-8264-3BE9C5745E1C}" type="presParOf" srcId="{32C83807-AA40-4672-B15B-E72B5DB4C0C9}" destId="{9A0411E7-2BE3-4BDA-B3B5-C7D7F76AB932}" srcOrd="2" destOrd="0" presId="urn:microsoft.com/office/officeart/2018/2/layout/IconVerticalSolidList"/>
    <dgm:cxn modelId="{0C9853B1-8916-4A14-85DB-1E27B524D219}" type="presParOf" srcId="{32C83807-AA40-4672-B15B-E72B5DB4C0C9}" destId="{F5955547-85C6-4EB7-831A-A16337307ED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426437-9F2C-4B26-A099-8D217EE8650B}" type="doc">
      <dgm:prSet loTypeId="urn:microsoft.com/office/officeart/2008/layout/LinedList" loCatId="list" qsTypeId="urn:microsoft.com/office/officeart/2005/8/quickstyle/simple4" qsCatId="simple" csTypeId="urn:microsoft.com/office/officeart/2005/8/colors/colorful1" csCatId="colorful" phldr="1"/>
      <dgm:spPr/>
      <dgm:t>
        <a:bodyPr/>
        <a:lstStyle/>
        <a:p>
          <a:endParaRPr lang="en-US"/>
        </a:p>
      </dgm:t>
    </dgm:pt>
    <dgm:pt modelId="{980402EE-D8D4-41BB-BBC7-9956E0B479DB}">
      <dgm:prSet/>
      <dgm:spPr/>
      <dgm:t>
        <a:bodyPr/>
        <a:lstStyle/>
        <a:p>
          <a:r>
            <a:rPr lang="en-US" b="1" i="0"/>
            <a:t>Early Detection</a:t>
          </a:r>
          <a:r>
            <a:rPr lang="en-US" b="0" i="0"/>
            <a:t>: AI-driven thermal sensors can identify fires in the earliest stages.</a:t>
          </a:r>
          <a:endParaRPr lang="en-US"/>
        </a:p>
      </dgm:t>
    </dgm:pt>
    <dgm:pt modelId="{3B0501B4-0CF4-4361-956F-32B00C76801E}" type="parTrans" cxnId="{E87A29A6-E12F-4271-81BA-0C7294D3BFF6}">
      <dgm:prSet/>
      <dgm:spPr/>
      <dgm:t>
        <a:bodyPr/>
        <a:lstStyle/>
        <a:p>
          <a:endParaRPr lang="en-US"/>
        </a:p>
      </dgm:t>
    </dgm:pt>
    <dgm:pt modelId="{521A55E7-0985-411D-8B30-E3AF98EF0B82}" type="sibTrans" cxnId="{E87A29A6-E12F-4271-81BA-0C7294D3BFF6}">
      <dgm:prSet/>
      <dgm:spPr/>
      <dgm:t>
        <a:bodyPr/>
        <a:lstStyle/>
        <a:p>
          <a:endParaRPr lang="en-US"/>
        </a:p>
      </dgm:t>
    </dgm:pt>
    <dgm:pt modelId="{7A088B49-460E-4E83-823E-B2EBC6B99A03}">
      <dgm:prSet/>
      <dgm:spPr/>
      <dgm:t>
        <a:bodyPr/>
        <a:lstStyle/>
        <a:p>
          <a:r>
            <a:rPr lang="en-US" b="1" i="0"/>
            <a:t>Rapid Response</a:t>
          </a:r>
          <a:r>
            <a:rPr lang="en-US" b="0" i="0"/>
            <a:t>: Autonomous drones deploy instantly</a:t>
          </a:r>
          <a:endParaRPr lang="en-US"/>
        </a:p>
      </dgm:t>
    </dgm:pt>
    <dgm:pt modelId="{9DE9B0C5-3470-4C9E-A535-36E0E8430C42}" type="parTrans" cxnId="{FAD9E219-5C94-41D5-80FD-CC580B04A943}">
      <dgm:prSet/>
      <dgm:spPr/>
      <dgm:t>
        <a:bodyPr/>
        <a:lstStyle/>
        <a:p>
          <a:endParaRPr lang="en-US"/>
        </a:p>
      </dgm:t>
    </dgm:pt>
    <dgm:pt modelId="{5EA794DC-4176-4C56-8460-17EA6704DF2D}" type="sibTrans" cxnId="{FAD9E219-5C94-41D5-80FD-CC580B04A943}">
      <dgm:prSet/>
      <dgm:spPr/>
      <dgm:t>
        <a:bodyPr/>
        <a:lstStyle/>
        <a:p>
          <a:endParaRPr lang="en-US"/>
        </a:p>
      </dgm:t>
    </dgm:pt>
    <dgm:pt modelId="{62DF4D3C-91AA-49CD-9934-9D6C89698276}">
      <dgm:prSet/>
      <dgm:spPr/>
      <dgm:t>
        <a:bodyPr/>
        <a:lstStyle/>
        <a:p>
          <a:r>
            <a:rPr lang="en-US" b="1" i="0"/>
            <a:t>Sustainable</a:t>
          </a:r>
          <a:r>
            <a:rPr lang="en-US" b="0" i="0"/>
            <a:t>: Solar-powered infrastructure will ensure uninterrupted operations.</a:t>
          </a:r>
          <a:endParaRPr lang="en-US"/>
        </a:p>
      </dgm:t>
    </dgm:pt>
    <dgm:pt modelId="{77D963D4-7D78-44D6-AB1C-AEEFA6AF1F9E}" type="parTrans" cxnId="{17450451-20F5-46EC-8FBC-26A4E2D70F28}">
      <dgm:prSet/>
      <dgm:spPr/>
      <dgm:t>
        <a:bodyPr/>
        <a:lstStyle/>
        <a:p>
          <a:endParaRPr lang="en-US"/>
        </a:p>
      </dgm:t>
    </dgm:pt>
    <dgm:pt modelId="{32D0BFF9-0B05-45B9-8340-C5C8F95733A2}" type="sibTrans" cxnId="{17450451-20F5-46EC-8FBC-26A4E2D70F28}">
      <dgm:prSet/>
      <dgm:spPr/>
      <dgm:t>
        <a:bodyPr/>
        <a:lstStyle/>
        <a:p>
          <a:endParaRPr lang="en-US"/>
        </a:p>
      </dgm:t>
    </dgm:pt>
    <dgm:pt modelId="{EC1990BA-C795-A74F-A08E-1B578CE4E41A}" type="pres">
      <dgm:prSet presAssocID="{F1426437-9F2C-4B26-A099-8D217EE8650B}" presName="vert0" presStyleCnt="0">
        <dgm:presLayoutVars>
          <dgm:dir/>
          <dgm:animOne val="branch"/>
          <dgm:animLvl val="lvl"/>
        </dgm:presLayoutVars>
      </dgm:prSet>
      <dgm:spPr/>
    </dgm:pt>
    <dgm:pt modelId="{1902AF54-D30C-E04B-9026-E97B128B5DA8}" type="pres">
      <dgm:prSet presAssocID="{980402EE-D8D4-41BB-BBC7-9956E0B479DB}" presName="thickLine" presStyleLbl="alignNode1" presStyleIdx="0" presStyleCnt="3"/>
      <dgm:spPr/>
    </dgm:pt>
    <dgm:pt modelId="{61E840D2-EC7B-7B41-A6C4-CC931B945CD6}" type="pres">
      <dgm:prSet presAssocID="{980402EE-D8D4-41BB-BBC7-9956E0B479DB}" presName="horz1" presStyleCnt="0"/>
      <dgm:spPr/>
    </dgm:pt>
    <dgm:pt modelId="{C7B4B989-D4EE-C74A-9CDF-C69F0DD6DF26}" type="pres">
      <dgm:prSet presAssocID="{980402EE-D8D4-41BB-BBC7-9956E0B479DB}" presName="tx1" presStyleLbl="revTx" presStyleIdx="0" presStyleCnt="3"/>
      <dgm:spPr/>
    </dgm:pt>
    <dgm:pt modelId="{2E2B02E2-8DF5-5F42-BF5B-6D2FF1E7F78A}" type="pres">
      <dgm:prSet presAssocID="{980402EE-D8D4-41BB-BBC7-9956E0B479DB}" presName="vert1" presStyleCnt="0"/>
      <dgm:spPr/>
    </dgm:pt>
    <dgm:pt modelId="{AF0D0F31-B3F2-CF4D-ADB3-54F362A98902}" type="pres">
      <dgm:prSet presAssocID="{7A088B49-460E-4E83-823E-B2EBC6B99A03}" presName="thickLine" presStyleLbl="alignNode1" presStyleIdx="1" presStyleCnt="3"/>
      <dgm:spPr/>
    </dgm:pt>
    <dgm:pt modelId="{25EC4373-17D4-224B-BD01-7FDC4E569AB5}" type="pres">
      <dgm:prSet presAssocID="{7A088B49-460E-4E83-823E-B2EBC6B99A03}" presName="horz1" presStyleCnt="0"/>
      <dgm:spPr/>
    </dgm:pt>
    <dgm:pt modelId="{01EB6FA8-0A36-F244-B069-FC10264DEFB3}" type="pres">
      <dgm:prSet presAssocID="{7A088B49-460E-4E83-823E-B2EBC6B99A03}" presName="tx1" presStyleLbl="revTx" presStyleIdx="1" presStyleCnt="3"/>
      <dgm:spPr/>
    </dgm:pt>
    <dgm:pt modelId="{49465E2A-E012-D547-89F7-A5EFAE16CE08}" type="pres">
      <dgm:prSet presAssocID="{7A088B49-460E-4E83-823E-B2EBC6B99A03}" presName="vert1" presStyleCnt="0"/>
      <dgm:spPr/>
    </dgm:pt>
    <dgm:pt modelId="{15D43167-B576-A149-BC60-FA188D0C6DEE}" type="pres">
      <dgm:prSet presAssocID="{62DF4D3C-91AA-49CD-9934-9D6C89698276}" presName="thickLine" presStyleLbl="alignNode1" presStyleIdx="2" presStyleCnt="3"/>
      <dgm:spPr/>
    </dgm:pt>
    <dgm:pt modelId="{FDDE2A5B-5087-3E41-819A-19D315207589}" type="pres">
      <dgm:prSet presAssocID="{62DF4D3C-91AA-49CD-9934-9D6C89698276}" presName="horz1" presStyleCnt="0"/>
      <dgm:spPr/>
    </dgm:pt>
    <dgm:pt modelId="{86FF6447-AEEE-1B4A-AB6C-E69EACE054CE}" type="pres">
      <dgm:prSet presAssocID="{62DF4D3C-91AA-49CD-9934-9D6C89698276}" presName="tx1" presStyleLbl="revTx" presStyleIdx="2" presStyleCnt="3"/>
      <dgm:spPr/>
    </dgm:pt>
    <dgm:pt modelId="{0FC03EF3-8C8F-1B49-BCB5-90BEAACFF1F5}" type="pres">
      <dgm:prSet presAssocID="{62DF4D3C-91AA-49CD-9934-9D6C89698276}" presName="vert1" presStyleCnt="0"/>
      <dgm:spPr/>
    </dgm:pt>
  </dgm:ptLst>
  <dgm:cxnLst>
    <dgm:cxn modelId="{FAD9E219-5C94-41D5-80FD-CC580B04A943}" srcId="{F1426437-9F2C-4B26-A099-8D217EE8650B}" destId="{7A088B49-460E-4E83-823E-B2EBC6B99A03}" srcOrd="1" destOrd="0" parTransId="{9DE9B0C5-3470-4C9E-A535-36E0E8430C42}" sibTransId="{5EA794DC-4176-4C56-8460-17EA6704DF2D}"/>
    <dgm:cxn modelId="{17450451-20F5-46EC-8FBC-26A4E2D70F28}" srcId="{F1426437-9F2C-4B26-A099-8D217EE8650B}" destId="{62DF4D3C-91AA-49CD-9934-9D6C89698276}" srcOrd="2" destOrd="0" parTransId="{77D963D4-7D78-44D6-AB1C-AEEFA6AF1F9E}" sibTransId="{32D0BFF9-0B05-45B9-8340-C5C8F95733A2}"/>
    <dgm:cxn modelId="{7301C556-C264-6E4F-81E1-AA676F3A401F}" type="presOf" srcId="{980402EE-D8D4-41BB-BBC7-9956E0B479DB}" destId="{C7B4B989-D4EE-C74A-9CDF-C69F0DD6DF26}" srcOrd="0" destOrd="0" presId="urn:microsoft.com/office/officeart/2008/layout/LinedList"/>
    <dgm:cxn modelId="{0273BF7E-26D5-9E47-91C8-7BFD3D686097}" type="presOf" srcId="{62DF4D3C-91AA-49CD-9934-9D6C89698276}" destId="{86FF6447-AEEE-1B4A-AB6C-E69EACE054CE}" srcOrd="0" destOrd="0" presId="urn:microsoft.com/office/officeart/2008/layout/LinedList"/>
    <dgm:cxn modelId="{C04AAA9A-1616-5743-98A0-47433B66DF35}" type="presOf" srcId="{F1426437-9F2C-4B26-A099-8D217EE8650B}" destId="{EC1990BA-C795-A74F-A08E-1B578CE4E41A}" srcOrd="0" destOrd="0" presId="urn:microsoft.com/office/officeart/2008/layout/LinedList"/>
    <dgm:cxn modelId="{E87A29A6-E12F-4271-81BA-0C7294D3BFF6}" srcId="{F1426437-9F2C-4B26-A099-8D217EE8650B}" destId="{980402EE-D8D4-41BB-BBC7-9956E0B479DB}" srcOrd="0" destOrd="0" parTransId="{3B0501B4-0CF4-4361-956F-32B00C76801E}" sibTransId="{521A55E7-0985-411D-8B30-E3AF98EF0B82}"/>
    <dgm:cxn modelId="{9F96B3FC-E1FD-FD41-A7B4-0F06D1888901}" type="presOf" srcId="{7A088B49-460E-4E83-823E-B2EBC6B99A03}" destId="{01EB6FA8-0A36-F244-B069-FC10264DEFB3}" srcOrd="0" destOrd="0" presId="urn:microsoft.com/office/officeart/2008/layout/LinedList"/>
    <dgm:cxn modelId="{3297C465-B94B-AF47-9C7F-3E37C6597A2D}" type="presParOf" srcId="{EC1990BA-C795-A74F-A08E-1B578CE4E41A}" destId="{1902AF54-D30C-E04B-9026-E97B128B5DA8}" srcOrd="0" destOrd="0" presId="urn:microsoft.com/office/officeart/2008/layout/LinedList"/>
    <dgm:cxn modelId="{ACA6B286-9FDD-A447-805A-BB1F16B16CBB}" type="presParOf" srcId="{EC1990BA-C795-A74F-A08E-1B578CE4E41A}" destId="{61E840D2-EC7B-7B41-A6C4-CC931B945CD6}" srcOrd="1" destOrd="0" presId="urn:microsoft.com/office/officeart/2008/layout/LinedList"/>
    <dgm:cxn modelId="{A869598E-B756-434D-90D7-1866C8039C45}" type="presParOf" srcId="{61E840D2-EC7B-7B41-A6C4-CC931B945CD6}" destId="{C7B4B989-D4EE-C74A-9CDF-C69F0DD6DF26}" srcOrd="0" destOrd="0" presId="urn:microsoft.com/office/officeart/2008/layout/LinedList"/>
    <dgm:cxn modelId="{4ABEB8D5-9238-6147-86C3-EE89C15F7112}" type="presParOf" srcId="{61E840D2-EC7B-7B41-A6C4-CC931B945CD6}" destId="{2E2B02E2-8DF5-5F42-BF5B-6D2FF1E7F78A}" srcOrd="1" destOrd="0" presId="urn:microsoft.com/office/officeart/2008/layout/LinedList"/>
    <dgm:cxn modelId="{50CFCE19-EC1A-994D-8651-6CF5B4F246A5}" type="presParOf" srcId="{EC1990BA-C795-A74F-A08E-1B578CE4E41A}" destId="{AF0D0F31-B3F2-CF4D-ADB3-54F362A98902}" srcOrd="2" destOrd="0" presId="urn:microsoft.com/office/officeart/2008/layout/LinedList"/>
    <dgm:cxn modelId="{C5654E36-1277-8241-845D-219B009E7F7D}" type="presParOf" srcId="{EC1990BA-C795-A74F-A08E-1B578CE4E41A}" destId="{25EC4373-17D4-224B-BD01-7FDC4E569AB5}" srcOrd="3" destOrd="0" presId="urn:microsoft.com/office/officeart/2008/layout/LinedList"/>
    <dgm:cxn modelId="{FFDC6CAA-4FDC-574F-9878-EC1E85138678}" type="presParOf" srcId="{25EC4373-17D4-224B-BD01-7FDC4E569AB5}" destId="{01EB6FA8-0A36-F244-B069-FC10264DEFB3}" srcOrd="0" destOrd="0" presId="urn:microsoft.com/office/officeart/2008/layout/LinedList"/>
    <dgm:cxn modelId="{81C7AA82-3494-A442-9260-DDEC1FADCA61}" type="presParOf" srcId="{25EC4373-17D4-224B-BD01-7FDC4E569AB5}" destId="{49465E2A-E012-D547-89F7-A5EFAE16CE08}" srcOrd="1" destOrd="0" presId="urn:microsoft.com/office/officeart/2008/layout/LinedList"/>
    <dgm:cxn modelId="{5E897921-C737-8043-8AD6-D650DC634B86}" type="presParOf" srcId="{EC1990BA-C795-A74F-A08E-1B578CE4E41A}" destId="{15D43167-B576-A149-BC60-FA188D0C6DEE}" srcOrd="4" destOrd="0" presId="urn:microsoft.com/office/officeart/2008/layout/LinedList"/>
    <dgm:cxn modelId="{0BA17C48-4A43-514B-AB20-AC1A839CB99A}" type="presParOf" srcId="{EC1990BA-C795-A74F-A08E-1B578CE4E41A}" destId="{FDDE2A5B-5087-3E41-819A-19D315207589}" srcOrd="5" destOrd="0" presId="urn:microsoft.com/office/officeart/2008/layout/LinedList"/>
    <dgm:cxn modelId="{4B48FCC8-3976-B14F-B7CE-1F8F94718EA4}" type="presParOf" srcId="{FDDE2A5B-5087-3E41-819A-19D315207589}" destId="{86FF6447-AEEE-1B4A-AB6C-E69EACE054CE}" srcOrd="0" destOrd="0" presId="urn:microsoft.com/office/officeart/2008/layout/LinedList"/>
    <dgm:cxn modelId="{26F9D445-94A4-D049-8799-AE95C651CD5E}" type="presParOf" srcId="{FDDE2A5B-5087-3E41-819A-19D315207589}" destId="{0FC03EF3-8C8F-1B49-BCB5-90BEAACFF1F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CCAB221-91C9-4919-8016-A37561BB776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452619B5-4849-4F8A-A5D3-C00819792700}">
      <dgm:prSet/>
      <dgm:spPr/>
      <dgm:t>
        <a:bodyPr/>
        <a:lstStyle/>
        <a:p>
          <a:r>
            <a:rPr lang="en-US" b="1" i="0"/>
            <a:t>Will Combine detection, alerts, and suppression</a:t>
          </a:r>
          <a:r>
            <a:rPr lang="en-US" b="0" i="0"/>
            <a:t> in one system. </a:t>
          </a:r>
          <a:endParaRPr lang="en-US"/>
        </a:p>
      </dgm:t>
    </dgm:pt>
    <dgm:pt modelId="{80A04A65-8B94-4D6D-80C6-D0882C65F8B2}" type="parTrans" cxnId="{AD914C79-1E6E-4E37-9F5E-A7533ACD1E56}">
      <dgm:prSet/>
      <dgm:spPr/>
      <dgm:t>
        <a:bodyPr/>
        <a:lstStyle/>
        <a:p>
          <a:endParaRPr lang="en-US"/>
        </a:p>
      </dgm:t>
    </dgm:pt>
    <dgm:pt modelId="{BD6374FB-A777-4C2F-A0E7-8E31B062073D}" type="sibTrans" cxnId="{AD914C79-1E6E-4E37-9F5E-A7533ACD1E56}">
      <dgm:prSet/>
      <dgm:spPr/>
      <dgm:t>
        <a:bodyPr/>
        <a:lstStyle/>
        <a:p>
          <a:endParaRPr lang="en-US"/>
        </a:p>
      </dgm:t>
    </dgm:pt>
    <dgm:pt modelId="{AD44A0DE-3935-41BD-8C0B-63FAD342038C}">
      <dgm:prSet/>
      <dgm:spPr/>
      <dgm:t>
        <a:bodyPr/>
        <a:lstStyle/>
        <a:p>
          <a:r>
            <a:rPr lang="en-US" b="1" i="0"/>
            <a:t>Faster &amp; more efficient</a:t>
          </a:r>
          <a:r>
            <a:rPr lang="en-US" b="0" i="0"/>
            <a:t> than traditional firefighting.</a:t>
          </a:r>
          <a:endParaRPr lang="en-US"/>
        </a:p>
      </dgm:t>
    </dgm:pt>
    <dgm:pt modelId="{6A273DB9-F71F-48C5-8CBA-5A7F4D898DB8}" type="parTrans" cxnId="{6963C3D3-C704-44AD-917D-D09C128BCF6A}">
      <dgm:prSet/>
      <dgm:spPr/>
      <dgm:t>
        <a:bodyPr/>
        <a:lstStyle/>
        <a:p>
          <a:endParaRPr lang="en-US"/>
        </a:p>
      </dgm:t>
    </dgm:pt>
    <dgm:pt modelId="{F1DA56BA-2E0A-4E4D-8138-28AE83A9C8F1}" type="sibTrans" cxnId="{6963C3D3-C704-44AD-917D-D09C128BCF6A}">
      <dgm:prSet/>
      <dgm:spPr/>
      <dgm:t>
        <a:bodyPr/>
        <a:lstStyle/>
        <a:p>
          <a:endParaRPr lang="en-US"/>
        </a:p>
      </dgm:t>
    </dgm:pt>
    <dgm:pt modelId="{19C156B9-CCF9-472D-897E-6EF4C590F3C8}">
      <dgm:prSet/>
      <dgm:spPr/>
      <dgm:t>
        <a:bodyPr/>
        <a:lstStyle/>
        <a:p>
          <a:r>
            <a:rPr lang="en-US" b="1" i="0"/>
            <a:t>Sustainable &amp; scalable</a:t>
          </a:r>
          <a:r>
            <a:rPr lang="en-US" b="0" i="0"/>
            <a:t> for long-term impact.</a:t>
          </a:r>
          <a:endParaRPr lang="en-US"/>
        </a:p>
      </dgm:t>
    </dgm:pt>
    <dgm:pt modelId="{3A8576B7-0399-4442-A5AF-8EDE07AB2FDB}" type="parTrans" cxnId="{615200F0-BF12-4A80-8473-DEAB36399EC0}">
      <dgm:prSet/>
      <dgm:spPr/>
      <dgm:t>
        <a:bodyPr/>
        <a:lstStyle/>
        <a:p>
          <a:endParaRPr lang="en-US"/>
        </a:p>
      </dgm:t>
    </dgm:pt>
    <dgm:pt modelId="{87FDA1C4-5F76-4DCF-8840-203061342B73}" type="sibTrans" cxnId="{615200F0-BF12-4A80-8473-DEAB36399EC0}">
      <dgm:prSet/>
      <dgm:spPr/>
      <dgm:t>
        <a:bodyPr/>
        <a:lstStyle/>
        <a:p>
          <a:endParaRPr lang="en-US"/>
        </a:p>
      </dgm:t>
    </dgm:pt>
    <dgm:pt modelId="{F7EE3C2D-087A-BE44-A3E8-5AAE1B1B5F35}" type="pres">
      <dgm:prSet presAssocID="{1CCAB221-91C9-4919-8016-A37561BB776C}" presName="hierChild1" presStyleCnt="0">
        <dgm:presLayoutVars>
          <dgm:chPref val="1"/>
          <dgm:dir/>
          <dgm:animOne val="branch"/>
          <dgm:animLvl val="lvl"/>
          <dgm:resizeHandles/>
        </dgm:presLayoutVars>
      </dgm:prSet>
      <dgm:spPr/>
    </dgm:pt>
    <dgm:pt modelId="{2655A127-1DB2-6F4A-979E-5C4E46A3E966}" type="pres">
      <dgm:prSet presAssocID="{452619B5-4849-4F8A-A5D3-C00819792700}" presName="hierRoot1" presStyleCnt="0"/>
      <dgm:spPr/>
    </dgm:pt>
    <dgm:pt modelId="{F2AFD295-E3CD-5D4B-B244-E0522535203A}" type="pres">
      <dgm:prSet presAssocID="{452619B5-4849-4F8A-A5D3-C00819792700}" presName="composite" presStyleCnt="0"/>
      <dgm:spPr/>
    </dgm:pt>
    <dgm:pt modelId="{8893B470-5CDD-3E43-A2BF-6F79BAD17487}" type="pres">
      <dgm:prSet presAssocID="{452619B5-4849-4F8A-A5D3-C00819792700}" presName="background" presStyleLbl="node0" presStyleIdx="0" presStyleCnt="3"/>
      <dgm:spPr/>
    </dgm:pt>
    <dgm:pt modelId="{83CBCE5E-F932-CF41-81A5-99E3DDD57492}" type="pres">
      <dgm:prSet presAssocID="{452619B5-4849-4F8A-A5D3-C00819792700}" presName="text" presStyleLbl="fgAcc0" presStyleIdx="0" presStyleCnt="3">
        <dgm:presLayoutVars>
          <dgm:chPref val="3"/>
        </dgm:presLayoutVars>
      </dgm:prSet>
      <dgm:spPr/>
    </dgm:pt>
    <dgm:pt modelId="{01ED27B8-E35F-4044-B9F1-185743BEC988}" type="pres">
      <dgm:prSet presAssocID="{452619B5-4849-4F8A-A5D3-C00819792700}" presName="hierChild2" presStyleCnt="0"/>
      <dgm:spPr/>
    </dgm:pt>
    <dgm:pt modelId="{C31B1B25-DEA2-5748-A09D-4B073EF1C106}" type="pres">
      <dgm:prSet presAssocID="{AD44A0DE-3935-41BD-8C0B-63FAD342038C}" presName="hierRoot1" presStyleCnt="0"/>
      <dgm:spPr/>
    </dgm:pt>
    <dgm:pt modelId="{C3E0A511-CEE0-914E-AB35-7789F5773890}" type="pres">
      <dgm:prSet presAssocID="{AD44A0DE-3935-41BD-8C0B-63FAD342038C}" presName="composite" presStyleCnt="0"/>
      <dgm:spPr/>
    </dgm:pt>
    <dgm:pt modelId="{D8DAF851-C893-4D4D-8FC3-D15C81D22C36}" type="pres">
      <dgm:prSet presAssocID="{AD44A0DE-3935-41BD-8C0B-63FAD342038C}" presName="background" presStyleLbl="node0" presStyleIdx="1" presStyleCnt="3"/>
      <dgm:spPr/>
    </dgm:pt>
    <dgm:pt modelId="{6B202271-E981-F745-8DE6-AF18E36FC6E2}" type="pres">
      <dgm:prSet presAssocID="{AD44A0DE-3935-41BD-8C0B-63FAD342038C}" presName="text" presStyleLbl="fgAcc0" presStyleIdx="1" presStyleCnt="3">
        <dgm:presLayoutVars>
          <dgm:chPref val="3"/>
        </dgm:presLayoutVars>
      </dgm:prSet>
      <dgm:spPr/>
    </dgm:pt>
    <dgm:pt modelId="{0FA2EFB6-7FB1-924E-999E-8A376F40E481}" type="pres">
      <dgm:prSet presAssocID="{AD44A0DE-3935-41BD-8C0B-63FAD342038C}" presName="hierChild2" presStyleCnt="0"/>
      <dgm:spPr/>
    </dgm:pt>
    <dgm:pt modelId="{83E3B20C-4215-3749-A90A-65E8EDB0B7A1}" type="pres">
      <dgm:prSet presAssocID="{19C156B9-CCF9-472D-897E-6EF4C590F3C8}" presName="hierRoot1" presStyleCnt="0"/>
      <dgm:spPr/>
    </dgm:pt>
    <dgm:pt modelId="{9AF75EE9-6704-6949-AF23-EF7A53240262}" type="pres">
      <dgm:prSet presAssocID="{19C156B9-CCF9-472D-897E-6EF4C590F3C8}" presName="composite" presStyleCnt="0"/>
      <dgm:spPr/>
    </dgm:pt>
    <dgm:pt modelId="{25A0E161-2999-B446-9EB2-CBDB6B857A2F}" type="pres">
      <dgm:prSet presAssocID="{19C156B9-CCF9-472D-897E-6EF4C590F3C8}" presName="background" presStyleLbl="node0" presStyleIdx="2" presStyleCnt="3"/>
      <dgm:spPr/>
    </dgm:pt>
    <dgm:pt modelId="{9733890D-A456-4742-AB77-B99E038CA461}" type="pres">
      <dgm:prSet presAssocID="{19C156B9-CCF9-472D-897E-6EF4C590F3C8}" presName="text" presStyleLbl="fgAcc0" presStyleIdx="2" presStyleCnt="3">
        <dgm:presLayoutVars>
          <dgm:chPref val="3"/>
        </dgm:presLayoutVars>
      </dgm:prSet>
      <dgm:spPr/>
    </dgm:pt>
    <dgm:pt modelId="{170A2CFA-12A9-3B4C-B774-476DE7874414}" type="pres">
      <dgm:prSet presAssocID="{19C156B9-CCF9-472D-897E-6EF4C590F3C8}" presName="hierChild2" presStyleCnt="0"/>
      <dgm:spPr/>
    </dgm:pt>
  </dgm:ptLst>
  <dgm:cxnLst>
    <dgm:cxn modelId="{50CED217-0CBB-FA43-BD27-4CF60353E2D5}" type="presOf" srcId="{19C156B9-CCF9-472D-897E-6EF4C590F3C8}" destId="{9733890D-A456-4742-AB77-B99E038CA461}" srcOrd="0" destOrd="0" presId="urn:microsoft.com/office/officeart/2005/8/layout/hierarchy1"/>
    <dgm:cxn modelId="{C2EFF930-163E-5F47-87C0-CBA44E28BABE}" type="presOf" srcId="{1CCAB221-91C9-4919-8016-A37561BB776C}" destId="{F7EE3C2D-087A-BE44-A3E8-5AAE1B1B5F35}" srcOrd="0" destOrd="0" presId="urn:microsoft.com/office/officeart/2005/8/layout/hierarchy1"/>
    <dgm:cxn modelId="{AD914C79-1E6E-4E37-9F5E-A7533ACD1E56}" srcId="{1CCAB221-91C9-4919-8016-A37561BB776C}" destId="{452619B5-4849-4F8A-A5D3-C00819792700}" srcOrd="0" destOrd="0" parTransId="{80A04A65-8B94-4D6D-80C6-D0882C65F8B2}" sibTransId="{BD6374FB-A777-4C2F-A0E7-8E31B062073D}"/>
    <dgm:cxn modelId="{178C388C-B34D-6844-B5A3-668B47E904EF}" type="presOf" srcId="{452619B5-4849-4F8A-A5D3-C00819792700}" destId="{83CBCE5E-F932-CF41-81A5-99E3DDD57492}" srcOrd="0" destOrd="0" presId="urn:microsoft.com/office/officeart/2005/8/layout/hierarchy1"/>
    <dgm:cxn modelId="{47ED9F96-660F-4846-ACD8-DF53D1CE2B0C}" type="presOf" srcId="{AD44A0DE-3935-41BD-8C0B-63FAD342038C}" destId="{6B202271-E981-F745-8DE6-AF18E36FC6E2}" srcOrd="0" destOrd="0" presId="urn:microsoft.com/office/officeart/2005/8/layout/hierarchy1"/>
    <dgm:cxn modelId="{6963C3D3-C704-44AD-917D-D09C128BCF6A}" srcId="{1CCAB221-91C9-4919-8016-A37561BB776C}" destId="{AD44A0DE-3935-41BD-8C0B-63FAD342038C}" srcOrd="1" destOrd="0" parTransId="{6A273DB9-F71F-48C5-8CBA-5A7F4D898DB8}" sibTransId="{F1DA56BA-2E0A-4E4D-8138-28AE83A9C8F1}"/>
    <dgm:cxn modelId="{615200F0-BF12-4A80-8473-DEAB36399EC0}" srcId="{1CCAB221-91C9-4919-8016-A37561BB776C}" destId="{19C156B9-CCF9-472D-897E-6EF4C590F3C8}" srcOrd="2" destOrd="0" parTransId="{3A8576B7-0399-4442-A5AF-8EDE07AB2FDB}" sibTransId="{87FDA1C4-5F76-4DCF-8840-203061342B73}"/>
    <dgm:cxn modelId="{EA292310-3350-2448-ADC3-8A61B9A63976}" type="presParOf" srcId="{F7EE3C2D-087A-BE44-A3E8-5AAE1B1B5F35}" destId="{2655A127-1DB2-6F4A-979E-5C4E46A3E966}" srcOrd="0" destOrd="0" presId="urn:microsoft.com/office/officeart/2005/8/layout/hierarchy1"/>
    <dgm:cxn modelId="{128A8A36-4075-C54D-B122-784D5B2C2C1F}" type="presParOf" srcId="{2655A127-1DB2-6F4A-979E-5C4E46A3E966}" destId="{F2AFD295-E3CD-5D4B-B244-E0522535203A}" srcOrd="0" destOrd="0" presId="urn:microsoft.com/office/officeart/2005/8/layout/hierarchy1"/>
    <dgm:cxn modelId="{E1A02EC0-4A63-9D4B-9E3B-F558C2A13C9F}" type="presParOf" srcId="{F2AFD295-E3CD-5D4B-B244-E0522535203A}" destId="{8893B470-5CDD-3E43-A2BF-6F79BAD17487}" srcOrd="0" destOrd="0" presId="urn:microsoft.com/office/officeart/2005/8/layout/hierarchy1"/>
    <dgm:cxn modelId="{6F2F844B-0B8E-3649-BB71-842A483C7529}" type="presParOf" srcId="{F2AFD295-E3CD-5D4B-B244-E0522535203A}" destId="{83CBCE5E-F932-CF41-81A5-99E3DDD57492}" srcOrd="1" destOrd="0" presId="urn:microsoft.com/office/officeart/2005/8/layout/hierarchy1"/>
    <dgm:cxn modelId="{11F7E46C-C173-794D-88E3-08D267516E26}" type="presParOf" srcId="{2655A127-1DB2-6F4A-979E-5C4E46A3E966}" destId="{01ED27B8-E35F-4044-B9F1-185743BEC988}" srcOrd="1" destOrd="0" presId="urn:microsoft.com/office/officeart/2005/8/layout/hierarchy1"/>
    <dgm:cxn modelId="{5C1B4789-B04D-0545-A4DA-1B00AFCA029F}" type="presParOf" srcId="{F7EE3C2D-087A-BE44-A3E8-5AAE1B1B5F35}" destId="{C31B1B25-DEA2-5748-A09D-4B073EF1C106}" srcOrd="1" destOrd="0" presId="urn:microsoft.com/office/officeart/2005/8/layout/hierarchy1"/>
    <dgm:cxn modelId="{F7DB513F-D3BA-4E4D-BCD6-7B4E37A652B5}" type="presParOf" srcId="{C31B1B25-DEA2-5748-A09D-4B073EF1C106}" destId="{C3E0A511-CEE0-914E-AB35-7789F5773890}" srcOrd="0" destOrd="0" presId="urn:microsoft.com/office/officeart/2005/8/layout/hierarchy1"/>
    <dgm:cxn modelId="{3D1F1AC5-91CE-6542-849C-73095F0F8EFD}" type="presParOf" srcId="{C3E0A511-CEE0-914E-AB35-7789F5773890}" destId="{D8DAF851-C893-4D4D-8FC3-D15C81D22C36}" srcOrd="0" destOrd="0" presId="urn:microsoft.com/office/officeart/2005/8/layout/hierarchy1"/>
    <dgm:cxn modelId="{B92318B4-0A60-B540-A199-149C89C08977}" type="presParOf" srcId="{C3E0A511-CEE0-914E-AB35-7789F5773890}" destId="{6B202271-E981-F745-8DE6-AF18E36FC6E2}" srcOrd="1" destOrd="0" presId="urn:microsoft.com/office/officeart/2005/8/layout/hierarchy1"/>
    <dgm:cxn modelId="{91DB0777-551D-9840-BE55-7B2A8CCB4B35}" type="presParOf" srcId="{C31B1B25-DEA2-5748-A09D-4B073EF1C106}" destId="{0FA2EFB6-7FB1-924E-999E-8A376F40E481}" srcOrd="1" destOrd="0" presId="urn:microsoft.com/office/officeart/2005/8/layout/hierarchy1"/>
    <dgm:cxn modelId="{95656ECA-475B-9645-8E8B-6A57E84BE560}" type="presParOf" srcId="{F7EE3C2D-087A-BE44-A3E8-5AAE1B1B5F35}" destId="{83E3B20C-4215-3749-A90A-65E8EDB0B7A1}" srcOrd="2" destOrd="0" presId="urn:microsoft.com/office/officeart/2005/8/layout/hierarchy1"/>
    <dgm:cxn modelId="{8A2824AF-EC46-2D49-9E28-58524D70A4CE}" type="presParOf" srcId="{83E3B20C-4215-3749-A90A-65E8EDB0B7A1}" destId="{9AF75EE9-6704-6949-AF23-EF7A53240262}" srcOrd="0" destOrd="0" presId="urn:microsoft.com/office/officeart/2005/8/layout/hierarchy1"/>
    <dgm:cxn modelId="{C72B74F4-954D-D044-931C-5082F7AB2006}" type="presParOf" srcId="{9AF75EE9-6704-6949-AF23-EF7A53240262}" destId="{25A0E161-2999-B446-9EB2-CBDB6B857A2F}" srcOrd="0" destOrd="0" presId="urn:microsoft.com/office/officeart/2005/8/layout/hierarchy1"/>
    <dgm:cxn modelId="{CA20B86A-3A3F-944C-8FD6-E8FEEB111FDD}" type="presParOf" srcId="{9AF75EE9-6704-6949-AF23-EF7A53240262}" destId="{9733890D-A456-4742-AB77-B99E038CA461}" srcOrd="1" destOrd="0" presId="urn:microsoft.com/office/officeart/2005/8/layout/hierarchy1"/>
    <dgm:cxn modelId="{101AFB76-5BF7-784E-881D-5A587A01C4BB}" type="presParOf" srcId="{83E3B20C-4215-3749-A90A-65E8EDB0B7A1}" destId="{170A2CFA-12A9-3B4C-B774-476DE787441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29E604F-E7C1-40F2-A849-B6DCA140918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37A37DD-0DD7-4AFB-BF0F-B359C41FF70B}">
      <dgm:prSet/>
      <dgm:spPr/>
      <dgm:t>
        <a:bodyPr/>
        <a:lstStyle/>
        <a:p>
          <a:pPr>
            <a:lnSpc>
              <a:spcPct val="100000"/>
            </a:lnSpc>
          </a:pPr>
          <a:r>
            <a:rPr lang="en-US"/>
            <a:t>Search-and-Rescue</a:t>
          </a:r>
        </a:p>
      </dgm:t>
    </dgm:pt>
    <dgm:pt modelId="{2EAF0223-1401-4E49-AB9F-BC005AEBDC4D}" type="parTrans" cxnId="{BD5A334C-BF1C-41B2-9194-CD358C2BF3A2}">
      <dgm:prSet/>
      <dgm:spPr/>
      <dgm:t>
        <a:bodyPr/>
        <a:lstStyle/>
        <a:p>
          <a:endParaRPr lang="en-US"/>
        </a:p>
      </dgm:t>
    </dgm:pt>
    <dgm:pt modelId="{C6FEC08E-3323-46EA-81BD-BC65D88B6B5D}" type="sibTrans" cxnId="{BD5A334C-BF1C-41B2-9194-CD358C2BF3A2}">
      <dgm:prSet/>
      <dgm:spPr/>
      <dgm:t>
        <a:bodyPr/>
        <a:lstStyle/>
        <a:p>
          <a:endParaRPr lang="en-US"/>
        </a:p>
      </dgm:t>
    </dgm:pt>
    <dgm:pt modelId="{2F24D25E-4266-4441-B10D-CF3A1919A517}">
      <dgm:prSet/>
      <dgm:spPr/>
      <dgm:t>
        <a:bodyPr/>
        <a:lstStyle/>
        <a:p>
          <a:pPr>
            <a:lnSpc>
              <a:spcPct val="100000"/>
            </a:lnSpc>
          </a:pPr>
          <a:r>
            <a:rPr lang="en-US"/>
            <a:t>Deforestation Monitoring</a:t>
          </a:r>
        </a:p>
      </dgm:t>
    </dgm:pt>
    <dgm:pt modelId="{9F566A9B-0A72-4A92-A0E6-AD94CC2DF394}" type="parTrans" cxnId="{A440FCE1-B35B-476E-B1FC-442B0B6C7F1D}">
      <dgm:prSet/>
      <dgm:spPr/>
      <dgm:t>
        <a:bodyPr/>
        <a:lstStyle/>
        <a:p>
          <a:endParaRPr lang="en-US"/>
        </a:p>
      </dgm:t>
    </dgm:pt>
    <dgm:pt modelId="{0ADA2F31-A088-424E-BE25-4D1F777E0887}" type="sibTrans" cxnId="{A440FCE1-B35B-476E-B1FC-442B0B6C7F1D}">
      <dgm:prSet/>
      <dgm:spPr/>
      <dgm:t>
        <a:bodyPr/>
        <a:lstStyle/>
        <a:p>
          <a:endParaRPr lang="en-US"/>
        </a:p>
      </dgm:t>
    </dgm:pt>
    <dgm:pt modelId="{FFF0EEA7-5B63-4218-9576-0DBBFB7CBF2A}">
      <dgm:prSet/>
      <dgm:spPr/>
      <dgm:t>
        <a:bodyPr/>
        <a:lstStyle/>
        <a:p>
          <a:pPr>
            <a:lnSpc>
              <a:spcPct val="100000"/>
            </a:lnSpc>
          </a:pPr>
          <a:r>
            <a:rPr lang="en-US"/>
            <a:t>Agricultural Fire Prevention</a:t>
          </a:r>
        </a:p>
      </dgm:t>
    </dgm:pt>
    <dgm:pt modelId="{B446D3BF-2698-4B4D-9FE2-C6C076548ECA}" type="parTrans" cxnId="{CA9AD549-F780-4817-A0FA-6B80AE23E104}">
      <dgm:prSet/>
      <dgm:spPr/>
      <dgm:t>
        <a:bodyPr/>
        <a:lstStyle/>
        <a:p>
          <a:endParaRPr lang="en-US"/>
        </a:p>
      </dgm:t>
    </dgm:pt>
    <dgm:pt modelId="{45C64803-5ADF-474A-A752-AEA954FA0875}" type="sibTrans" cxnId="{CA9AD549-F780-4817-A0FA-6B80AE23E104}">
      <dgm:prSet/>
      <dgm:spPr/>
      <dgm:t>
        <a:bodyPr/>
        <a:lstStyle/>
        <a:p>
          <a:endParaRPr lang="en-US"/>
        </a:p>
      </dgm:t>
    </dgm:pt>
    <dgm:pt modelId="{500731FC-926C-4965-BDD8-0C63ACF01A71}" type="pres">
      <dgm:prSet presAssocID="{929E604F-E7C1-40F2-A849-B6DCA1409184}" presName="root" presStyleCnt="0">
        <dgm:presLayoutVars>
          <dgm:dir/>
          <dgm:resizeHandles val="exact"/>
        </dgm:presLayoutVars>
      </dgm:prSet>
      <dgm:spPr/>
    </dgm:pt>
    <dgm:pt modelId="{34F4C7BC-1103-4C28-868A-481BC1788ECF}" type="pres">
      <dgm:prSet presAssocID="{137A37DD-0DD7-4AFB-BF0F-B359C41FF70B}" presName="compNode" presStyleCnt="0"/>
      <dgm:spPr/>
    </dgm:pt>
    <dgm:pt modelId="{68D17507-B2A3-4EA6-91A7-DE45167512AA}" type="pres">
      <dgm:prSet presAssocID="{137A37DD-0DD7-4AFB-BF0F-B359C41FF70B}" presName="bgRect" presStyleLbl="bgShp" presStyleIdx="0" presStyleCnt="3" custLinFactNeighborX="470" custLinFactNeighborY="-39176"/>
      <dgm:spPr>
        <a:ln>
          <a:noFill/>
        </a:ln>
      </dgm:spPr>
    </dgm:pt>
    <dgm:pt modelId="{CDC02AD4-2700-48BA-BFAB-4E41EF6B86B0}" type="pres">
      <dgm:prSet presAssocID="{137A37DD-0DD7-4AFB-BF0F-B359C41FF70B}"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Medical with solid fill"/>
        </a:ext>
      </dgm:extLst>
    </dgm:pt>
    <dgm:pt modelId="{939DD564-00BC-4539-A482-CB5459685859}" type="pres">
      <dgm:prSet presAssocID="{137A37DD-0DD7-4AFB-BF0F-B359C41FF70B}" presName="spaceRect" presStyleCnt="0"/>
      <dgm:spPr/>
    </dgm:pt>
    <dgm:pt modelId="{95553D89-33B7-41ED-B5AB-1B4B2DBC4E3C}" type="pres">
      <dgm:prSet presAssocID="{137A37DD-0DD7-4AFB-BF0F-B359C41FF70B}" presName="parTx" presStyleLbl="revTx" presStyleIdx="0" presStyleCnt="3">
        <dgm:presLayoutVars>
          <dgm:chMax val="0"/>
          <dgm:chPref val="0"/>
        </dgm:presLayoutVars>
      </dgm:prSet>
      <dgm:spPr/>
    </dgm:pt>
    <dgm:pt modelId="{059A685D-BFED-4DC9-A68B-B9F5938A5D78}" type="pres">
      <dgm:prSet presAssocID="{C6FEC08E-3323-46EA-81BD-BC65D88B6B5D}" presName="sibTrans" presStyleCnt="0"/>
      <dgm:spPr/>
    </dgm:pt>
    <dgm:pt modelId="{DCE9159C-7D5D-44FA-AE90-91C66018598C}" type="pres">
      <dgm:prSet presAssocID="{2F24D25E-4266-4441-B10D-CF3A1919A517}" presName="compNode" presStyleCnt="0"/>
      <dgm:spPr/>
    </dgm:pt>
    <dgm:pt modelId="{C315349E-8B76-470B-AFDF-E0D719089211}" type="pres">
      <dgm:prSet presAssocID="{2F24D25E-4266-4441-B10D-CF3A1919A517}" presName="bgRect" presStyleLbl="bgShp" presStyleIdx="1" presStyleCnt="3"/>
      <dgm:spPr/>
    </dgm:pt>
    <dgm:pt modelId="{C4DFA40F-4C8D-44B0-B764-DF28AAC5F978}" type="pres">
      <dgm:prSet presAssocID="{2F24D25E-4266-4441-B10D-CF3A1919A517}"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Fir tree with solid fill"/>
        </a:ext>
      </dgm:extLst>
    </dgm:pt>
    <dgm:pt modelId="{F8476F3A-2AC6-48AC-802E-F5218DE71651}" type="pres">
      <dgm:prSet presAssocID="{2F24D25E-4266-4441-B10D-CF3A1919A517}" presName="spaceRect" presStyleCnt="0"/>
      <dgm:spPr/>
    </dgm:pt>
    <dgm:pt modelId="{9E4650FD-303C-45AF-8A44-3F44F00AC420}" type="pres">
      <dgm:prSet presAssocID="{2F24D25E-4266-4441-B10D-CF3A1919A517}" presName="parTx" presStyleLbl="revTx" presStyleIdx="1" presStyleCnt="3">
        <dgm:presLayoutVars>
          <dgm:chMax val="0"/>
          <dgm:chPref val="0"/>
        </dgm:presLayoutVars>
      </dgm:prSet>
      <dgm:spPr/>
    </dgm:pt>
    <dgm:pt modelId="{930E831B-97CE-4771-A853-C36C1C75F00B}" type="pres">
      <dgm:prSet presAssocID="{0ADA2F31-A088-424E-BE25-4D1F777E0887}" presName="sibTrans" presStyleCnt="0"/>
      <dgm:spPr/>
    </dgm:pt>
    <dgm:pt modelId="{32C83807-AA40-4672-B15B-E72B5DB4C0C9}" type="pres">
      <dgm:prSet presAssocID="{FFF0EEA7-5B63-4218-9576-0DBBFB7CBF2A}" presName="compNode" presStyleCnt="0"/>
      <dgm:spPr/>
    </dgm:pt>
    <dgm:pt modelId="{139F5C82-255B-4292-8BD4-62FE8434C210}" type="pres">
      <dgm:prSet presAssocID="{FFF0EEA7-5B63-4218-9576-0DBBFB7CBF2A}" presName="bgRect" presStyleLbl="bgShp" presStyleIdx="2" presStyleCnt="3"/>
      <dgm:spPr/>
    </dgm:pt>
    <dgm:pt modelId="{4945A23D-F25E-4613-A9BD-268788F6DFED}" type="pres">
      <dgm:prSet presAssocID="{FFF0EEA7-5B63-4218-9576-0DBBFB7CBF2A}"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Agriculture with solid fill"/>
        </a:ext>
      </dgm:extLst>
    </dgm:pt>
    <dgm:pt modelId="{9A0411E7-2BE3-4BDA-B3B5-C7D7F76AB932}" type="pres">
      <dgm:prSet presAssocID="{FFF0EEA7-5B63-4218-9576-0DBBFB7CBF2A}" presName="spaceRect" presStyleCnt="0"/>
      <dgm:spPr/>
    </dgm:pt>
    <dgm:pt modelId="{F5955547-85C6-4EB7-831A-A16337307ED7}" type="pres">
      <dgm:prSet presAssocID="{FFF0EEA7-5B63-4218-9576-0DBBFB7CBF2A}" presName="parTx" presStyleLbl="revTx" presStyleIdx="2" presStyleCnt="3">
        <dgm:presLayoutVars>
          <dgm:chMax val="0"/>
          <dgm:chPref val="0"/>
        </dgm:presLayoutVars>
      </dgm:prSet>
      <dgm:spPr/>
    </dgm:pt>
  </dgm:ptLst>
  <dgm:cxnLst>
    <dgm:cxn modelId="{2B415613-6CEE-4F2F-AFE3-0AF33964B134}" type="presOf" srcId="{2F24D25E-4266-4441-B10D-CF3A1919A517}" destId="{9E4650FD-303C-45AF-8A44-3F44F00AC420}" srcOrd="0" destOrd="0" presId="urn:microsoft.com/office/officeart/2018/2/layout/IconVerticalSolidList"/>
    <dgm:cxn modelId="{27219423-02E1-4F9A-8086-1A1D1E3C1158}" type="presOf" srcId="{FFF0EEA7-5B63-4218-9576-0DBBFB7CBF2A}" destId="{F5955547-85C6-4EB7-831A-A16337307ED7}" srcOrd="0" destOrd="0" presId="urn:microsoft.com/office/officeart/2018/2/layout/IconVerticalSolidList"/>
    <dgm:cxn modelId="{AE449328-42D9-4A5A-86CE-3026D0E184B6}" type="presOf" srcId="{137A37DD-0DD7-4AFB-BF0F-B359C41FF70B}" destId="{95553D89-33B7-41ED-B5AB-1B4B2DBC4E3C}" srcOrd="0" destOrd="0" presId="urn:microsoft.com/office/officeart/2018/2/layout/IconVerticalSolidList"/>
    <dgm:cxn modelId="{CA9AD549-F780-4817-A0FA-6B80AE23E104}" srcId="{929E604F-E7C1-40F2-A849-B6DCA1409184}" destId="{FFF0EEA7-5B63-4218-9576-0DBBFB7CBF2A}" srcOrd="2" destOrd="0" parTransId="{B446D3BF-2698-4B4D-9FE2-C6C076548ECA}" sibTransId="{45C64803-5ADF-474A-A752-AEA954FA0875}"/>
    <dgm:cxn modelId="{BD5A334C-BF1C-41B2-9194-CD358C2BF3A2}" srcId="{929E604F-E7C1-40F2-A849-B6DCA1409184}" destId="{137A37DD-0DD7-4AFB-BF0F-B359C41FF70B}" srcOrd="0" destOrd="0" parTransId="{2EAF0223-1401-4E49-AB9F-BC005AEBDC4D}" sibTransId="{C6FEC08E-3323-46EA-81BD-BC65D88B6B5D}"/>
    <dgm:cxn modelId="{C7D68EBB-F6E4-440D-9E9E-9CE4F1E88F49}" type="presOf" srcId="{929E604F-E7C1-40F2-A849-B6DCA1409184}" destId="{500731FC-926C-4965-BDD8-0C63ACF01A71}" srcOrd="0" destOrd="0" presId="urn:microsoft.com/office/officeart/2018/2/layout/IconVerticalSolidList"/>
    <dgm:cxn modelId="{A440FCE1-B35B-476E-B1FC-442B0B6C7F1D}" srcId="{929E604F-E7C1-40F2-A849-B6DCA1409184}" destId="{2F24D25E-4266-4441-B10D-CF3A1919A517}" srcOrd="1" destOrd="0" parTransId="{9F566A9B-0A72-4A92-A0E6-AD94CC2DF394}" sibTransId="{0ADA2F31-A088-424E-BE25-4D1F777E0887}"/>
    <dgm:cxn modelId="{77FBD266-D45D-4FDE-B356-C09D54747045}" type="presParOf" srcId="{500731FC-926C-4965-BDD8-0C63ACF01A71}" destId="{34F4C7BC-1103-4C28-868A-481BC1788ECF}" srcOrd="0" destOrd="0" presId="urn:microsoft.com/office/officeart/2018/2/layout/IconVerticalSolidList"/>
    <dgm:cxn modelId="{F23B25B8-683D-4914-80DF-DAF3DADD4EC0}" type="presParOf" srcId="{34F4C7BC-1103-4C28-868A-481BC1788ECF}" destId="{68D17507-B2A3-4EA6-91A7-DE45167512AA}" srcOrd="0" destOrd="0" presId="urn:microsoft.com/office/officeart/2018/2/layout/IconVerticalSolidList"/>
    <dgm:cxn modelId="{67D6CAE1-57F7-4F6B-9F40-A36F440760D0}" type="presParOf" srcId="{34F4C7BC-1103-4C28-868A-481BC1788ECF}" destId="{CDC02AD4-2700-48BA-BFAB-4E41EF6B86B0}" srcOrd="1" destOrd="0" presId="urn:microsoft.com/office/officeart/2018/2/layout/IconVerticalSolidList"/>
    <dgm:cxn modelId="{A149C4FC-B2C5-46CA-AC7E-EB941FA190B0}" type="presParOf" srcId="{34F4C7BC-1103-4C28-868A-481BC1788ECF}" destId="{939DD564-00BC-4539-A482-CB5459685859}" srcOrd="2" destOrd="0" presId="urn:microsoft.com/office/officeart/2018/2/layout/IconVerticalSolidList"/>
    <dgm:cxn modelId="{A44947C2-45EB-4FD8-B2DF-2975D10B9B4F}" type="presParOf" srcId="{34F4C7BC-1103-4C28-868A-481BC1788ECF}" destId="{95553D89-33B7-41ED-B5AB-1B4B2DBC4E3C}" srcOrd="3" destOrd="0" presId="urn:microsoft.com/office/officeart/2018/2/layout/IconVerticalSolidList"/>
    <dgm:cxn modelId="{65213B57-492F-4FC1-B37A-5BE41FB9B78C}" type="presParOf" srcId="{500731FC-926C-4965-BDD8-0C63ACF01A71}" destId="{059A685D-BFED-4DC9-A68B-B9F5938A5D78}" srcOrd="1" destOrd="0" presId="urn:microsoft.com/office/officeart/2018/2/layout/IconVerticalSolidList"/>
    <dgm:cxn modelId="{7EB9AA12-34A3-45C8-883A-3E6AD55C8D69}" type="presParOf" srcId="{500731FC-926C-4965-BDD8-0C63ACF01A71}" destId="{DCE9159C-7D5D-44FA-AE90-91C66018598C}" srcOrd="2" destOrd="0" presId="urn:microsoft.com/office/officeart/2018/2/layout/IconVerticalSolidList"/>
    <dgm:cxn modelId="{BEE438FD-6D45-4DC2-8EE6-60C4E3D24A66}" type="presParOf" srcId="{DCE9159C-7D5D-44FA-AE90-91C66018598C}" destId="{C315349E-8B76-470B-AFDF-E0D719089211}" srcOrd="0" destOrd="0" presId="urn:microsoft.com/office/officeart/2018/2/layout/IconVerticalSolidList"/>
    <dgm:cxn modelId="{190861AB-31AB-40EA-B1C9-EA8EBDEF41B8}" type="presParOf" srcId="{DCE9159C-7D5D-44FA-AE90-91C66018598C}" destId="{C4DFA40F-4C8D-44B0-B764-DF28AAC5F978}" srcOrd="1" destOrd="0" presId="urn:microsoft.com/office/officeart/2018/2/layout/IconVerticalSolidList"/>
    <dgm:cxn modelId="{CB8D6557-FA28-4605-B409-16C688E67AC0}" type="presParOf" srcId="{DCE9159C-7D5D-44FA-AE90-91C66018598C}" destId="{F8476F3A-2AC6-48AC-802E-F5218DE71651}" srcOrd="2" destOrd="0" presId="urn:microsoft.com/office/officeart/2018/2/layout/IconVerticalSolidList"/>
    <dgm:cxn modelId="{5B6DBDED-3C86-4DDC-BF28-6E6500CF8C46}" type="presParOf" srcId="{DCE9159C-7D5D-44FA-AE90-91C66018598C}" destId="{9E4650FD-303C-45AF-8A44-3F44F00AC420}" srcOrd="3" destOrd="0" presId="urn:microsoft.com/office/officeart/2018/2/layout/IconVerticalSolidList"/>
    <dgm:cxn modelId="{EA6EE376-0A62-48EA-8885-18832DBBCA8E}" type="presParOf" srcId="{500731FC-926C-4965-BDD8-0C63ACF01A71}" destId="{930E831B-97CE-4771-A853-C36C1C75F00B}" srcOrd="3" destOrd="0" presId="urn:microsoft.com/office/officeart/2018/2/layout/IconVerticalSolidList"/>
    <dgm:cxn modelId="{0682F8F8-AC33-4030-9D74-982942397BC5}" type="presParOf" srcId="{500731FC-926C-4965-BDD8-0C63ACF01A71}" destId="{32C83807-AA40-4672-B15B-E72B5DB4C0C9}" srcOrd="4" destOrd="0" presId="urn:microsoft.com/office/officeart/2018/2/layout/IconVerticalSolidList"/>
    <dgm:cxn modelId="{B35F75D0-8DCC-48F2-94E4-62C0B3232BF3}" type="presParOf" srcId="{32C83807-AA40-4672-B15B-E72B5DB4C0C9}" destId="{139F5C82-255B-4292-8BD4-62FE8434C210}" srcOrd="0" destOrd="0" presId="urn:microsoft.com/office/officeart/2018/2/layout/IconVerticalSolidList"/>
    <dgm:cxn modelId="{4204911B-4F00-482F-865D-3D25494FEC92}" type="presParOf" srcId="{32C83807-AA40-4672-B15B-E72B5DB4C0C9}" destId="{4945A23D-F25E-4613-A9BD-268788F6DFED}" srcOrd="1" destOrd="0" presId="urn:microsoft.com/office/officeart/2018/2/layout/IconVerticalSolidList"/>
    <dgm:cxn modelId="{B5AEEB91-6EB9-4F10-8264-3BE9C5745E1C}" type="presParOf" srcId="{32C83807-AA40-4672-B15B-E72B5DB4C0C9}" destId="{9A0411E7-2BE3-4BDA-B3B5-C7D7F76AB932}" srcOrd="2" destOrd="0" presId="urn:microsoft.com/office/officeart/2018/2/layout/IconVerticalSolidList"/>
    <dgm:cxn modelId="{0C9853B1-8916-4A14-85DB-1E27B524D219}" type="presParOf" srcId="{32C83807-AA40-4672-B15B-E72B5DB4C0C9}" destId="{F5955547-85C6-4EB7-831A-A16337307ED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2801345-43E5-4D3D-96EC-2C510E714EE2}"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B62BCACC-D36F-4C67-8EFD-E64197588CA3}">
      <dgm:prSet/>
      <dgm:spPr/>
      <dgm:t>
        <a:bodyPr/>
        <a:lstStyle/>
        <a:p>
          <a:r>
            <a:rPr lang="en-US"/>
            <a:t>Automated Alerts: </a:t>
          </a:r>
        </a:p>
      </dgm:t>
    </dgm:pt>
    <dgm:pt modelId="{8F49254F-75EC-4910-BBA5-0AF8DE113A19}" type="parTrans" cxnId="{4EA1C505-34D5-4443-BB55-D9F529570540}">
      <dgm:prSet/>
      <dgm:spPr/>
      <dgm:t>
        <a:bodyPr/>
        <a:lstStyle/>
        <a:p>
          <a:endParaRPr lang="en-US"/>
        </a:p>
      </dgm:t>
    </dgm:pt>
    <dgm:pt modelId="{5B233329-08A1-44FE-8D06-E0278972FC2E}" type="sibTrans" cxnId="{4EA1C505-34D5-4443-BB55-D9F529570540}">
      <dgm:prSet/>
      <dgm:spPr/>
      <dgm:t>
        <a:bodyPr/>
        <a:lstStyle/>
        <a:p>
          <a:endParaRPr lang="en-US"/>
        </a:p>
      </dgm:t>
    </dgm:pt>
    <dgm:pt modelId="{1FFEEB08-5C63-4A7E-91C1-944E52F266DE}">
      <dgm:prSet/>
      <dgm:spPr/>
      <dgm:t>
        <a:bodyPr/>
        <a:lstStyle/>
        <a:p>
          <a:r>
            <a:rPr lang="en-US"/>
            <a:t>AI systems can automatically notify fire departments.</a:t>
          </a:r>
        </a:p>
      </dgm:t>
    </dgm:pt>
    <dgm:pt modelId="{BA4CF7E2-886E-4EDA-BA00-EE8D6E88E70B}" type="parTrans" cxnId="{62A1EF77-D5CB-4FA3-A59C-0F0FF1736CA1}">
      <dgm:prSet/>
      <dgm:spPr/>
      <dgm:t>
        <a:bodyPr/>
        <a:lstStyle/>
        <a:p>
          <a:endParaRPr lang="en-US"/>
        </a:p>
      </dgm:t>
    </dgm:pt>
    <dgm:pt modelId="{ABAB03B5-AB83-47EA-9B73-B2EA7FDCEB68}" type="sibTrans" cxnId="{62A1EF77-D5CB-4FA3-A59C-0F0FF1736CA1}">
      <dgm:prSet/>
      <dgm:spPr/>
      <dgm:t>
        <a:bodyPr/>
        <a:lstStyle/>
        <a:p>
          <a:endParaRPr lang="en-US"/>
        </a:p>
      </dgm:t>
    </dgm:pt>
    <dgm:pt modelId="{766DBC03-0930-45F3-8675-AEB13DD0244A}">
      <dgm:prSet/>
      <dgm:spPr/>
      <dgm:t>
        <a:bodyPr/>
        <a:lstStyle/>
        <a:p>
          <a:r>
            <a:rPr lang="en-US"/>
            <a:t>Live Drone Footage: </a:t>
          </a:r>
        </a:p>
      </dgm:t>
    </dgm:pt>
    <dgm:pt modelId="{0CD679DA-49BF-404B-8B81-3A3025ED93D4}" type="parTrans" cxnId="{449ED5F1-8F36-4496-9F95-2791DE4AAA84}">
      <dgm:prSet/>
      <dgm:spPr/>
      <dgm:t>
        <a:bodyPr/>
        <a:lstStyle/>
        <a:p>
          <a:endParaRPr lang="en-US"/>
        </a:p>
      </dgm:t>
    </dgm:pt>
    <dgm:pt modelId="{A01FC81D-F6A2-4F24-BACC-A3BDD8EEA24B}" type="sibTrans" cxnId="{449ED5F1-8F36-4496-9F95-2791DE4AAA84}">
      <dgm:prSet/>
      <dgm:spPr/>
      <dgm:t>
        <a:bodyPr/>
        <a:lstStyle/>
        <a:p>
          <a:endParaRPr lang="en-US"/>
        </a:p>
      </dgm:t>
    </dgm:pt>
    <dgm:pt modelId="{364132DD-2657-4AA1-AE4D-7E0650F7AAFC}">
      <dgm:prSet/>
      <dgm:spPr/>
      <dgm:t>
        <a:bodyPr/>
        <a:lstStyle/>
        <a:p>
          <a:r>
            <a:rPr lang="en-US"/>
            <a:t>Real-time visuals provide critical information</a:t>
          </a:r>
        </a:p>
      </dgm:t>
    </dgm:pt>
    <dgm:pt modelId="{7BCC82A3-08F8-4DDA-BC6F-29A8AC024B48}" type="parTrans" cxnId="{261A68B8-3F3F-4F72-82BA-112387E639C6}">
      <dgm:prSet/>
      <dgm:spPr/>
      <dgm:t>
        <a:bodyPr/>
        <a:lstStyle/>
        <a:p>
          <a:endParaRPr lang="en-US"/>
        </a:p>
      </dgm:t>
    </dgm:pt>
    <dgm:pt modelId="{40CA47DE-3245-4ADD-8AD6-9ECDE772CD6D}" type="sibTrans" cxnId="{261A68B8-3F3F-4F72-82BA-112387E639C6}">
      <dgm:prSet/>
      <dgm:spPr/>
      <dgm:t>
        <a:bodyPr/>
        <a:lstStyle/>
        <a:p>
          <a:endParaRPr lang="en-US"/>
        </a:p>
      </dgm:t>
    </dgm:pt>
    <dgm:pt modelId="{E1339777-0637-46C1-B6F4-B7AF6B03841E}">
      <dgm:prSet/>
      <dgm:spPr/>
      <dgm:t>
        <a:bodyPr/>
        <a:lstStyle/>
        <a:p>
          <a:r>
            <a:rPr lang="en-US"/>
            <a:t>Improved Coordination: </a:t>
          </a:r>
        </a:p>
      </dgm:t>
    </dgm:pt>
    <dgm:pt modelId="{BEFA10E0-65F2-4EBB-A614-A04CA34B3D34}" type="parTrans" cxnId="{63A548FE-4780-4FB5-BA3D-993675B3E5BB}">
      <dgm:prSet/>
      <dgm:spPr/>
      <dgm:t>
        <a:bodyPr/>
        <a:lstStyle/>
        <a:p>
          <a:endParaRPr lang="en-US"/>
        </a:p>
      </dgm:t>
    </dgm:pt>
    <dgm:pt modelId="{FE176739-554A-4885-9ED3-719C2821BA14}" type="sibTrans" cxnId="{63A548FE-4780-4FB5-BA3D-993675B3E5BB}">
      <dgm:prSet/>
      <dgm:spPr/>
      <dgm:t>
        <a:bodyPr/>
        <a:lstStyle/>
        <a:p>
          <a:endParaRPr lang="en-US"/>
        </a:p>
      </dgm:t>
    </dgm:pt>
    <dgm:pt modelId="{34564B1C-ABAF-4E67-9234-522D41C369EF}">
      <dgm:prSet/>
      <dgm:spPr/>
      <dgm:t>
        <a:bodyPr/>
        <a:lstStyle/>
        <a:p>
          <a:r>
            <a:rPr lang="en-US"/>
            <a:t>Enhanced communication leads to more efficient emergency responses.</a:t>
          </a:r>
        </a:p>
      </dgm:t>
    </dgm:pt>
    <dgm:pt modelId="{456518B4-0B09-4FE3-8A4C-CC0D06103504}" type="parTrans" cxnId="{E50B64F9-A4C3-48D1-B693-BC295DA7E970}">
      <dgm:prSet/>
      <dgm:spPr/>
      <dgm:t>
        <a:bodyPr/>
        <a:lstStyle/>
        <a:p>
          <a:endParaRPr lang="en-US"/>
        </a:p>
      </dgm:t>
    </dgm:pt>
    <dgm:pt modelId="{46C47535-95BF-40A8-95F6-5769E8FC24DC}" type="sibTrans" cxnId="{E50B64F9-A4C3-48D1-B693-BC295DA7E970}">
      <dgm:prSet/>
      <dgm:spPr/>
      <dgm:t>
        <a:bodyPr/>
        <a:lstStyle/>
        <a:p>
          <a:endParaRPr lang="en-US"/>
        </a:p>
      </dgm:t>
    </dgm:pt>
    <dgm:pt modelId="{EC9EDD33-F1C2-475A-91CF-8EB49B135AC7}" type="pres">
      <dgm:prSet presAssocID="{72801345-43E5-4D3D-96EC-2C510E714EE2}" presName="Name0" presStyleCnt="0">
        <dgm:presLayoutVars>
          <dgm:dir/>
          <dgm:animLvl val="lvl"/>
          <dgm:resizeHandles val="exact"/>
        </dgm:presLayoutVars>
      </dgm:prSet>
      <dgm:spPr/>
    </dgm:pt>
    <dgm:pt modelId="{63DDBEA0-3AA2-49A3-B18F-20FA12958F63}" type="pres">
      <dgm:prSet presAssocID="{B62BCACC-D36F-4C67-8EFD-E64197588CA3}" presName="linNode" presStyleCnt="0"/>
      <dgm:spPr/>
    </dgm:pt>
    <dgm:pt modelId="{53CAD839-2A2E-4856-9680-A8AD9312AE81}" type="pres">
      <dgm:prSet presAssocID="{B62BCACC-D36F-4C67-8EFD-E64197588CA3}" presName="parentText" presStyleLbl="node1" presStyleIdx="0" presStyleCnt="3">
        <dgm:presLayoutVars>
          <dgm:chMax val="1"/>
          <dgm:bulletEnabled val="1"/>
        </dgm:presLayoutVars>
      </dgm:prSet>
      <dgm:spPr/>
    </dgm:pt>
    <dgm:pt modelId="{E02D99DC-7B5A-4EB3-B9D8-19A949D1E4E0}" type="pres">
      <dgm:prSet presAssocID="{B62BCACC-D36F-4C67-8EFD-E64197588CA3}" presName="descendantText" presStyleLbl="alignAccFollowNode1" presStyleIdx="0" presStyleCnt="3">
        <dgm:presLayoutVars>
          <dgm:bulletEnabled val="1"/>
        </dgm:presLayoutVars>
      </dgm:prSet>
      <dgm:spPr/>
    </dgm:pt>
    <dgm:pt modelId="{4D12F632-13B9-4EF8-8C05-E11772A61103}" type="pres">
      <dgm:prSet presAssocID="{5B233329-08A1-44FE-8D06-E0278972FC2E}" presName="sp" presStyleCnt="0"/>
      <dgm:spPr/>
    </dgm:pt>
    <dgm:pt modelId="{26E667E2-0C75-49F1-B745-D764BA53FCA0}" type="pres">
      <dgm:prSet presAssocID="{766DBC03-0930-45F3-8675-AEB13DD0244A}" presName="linNode" presStyleCnt="0"/>
      <dgm:spPr/>
    </dgm:pt>
    <dgm:pt modelId="{47674AAE-F0BE-4137-A36D-5A8ED70C35B3}" type="pres">
      <dgm:prSet presAssocID="{766DBC03-0930-45F3-8675-AEB13DD0244A}" presName="parentText" presStyleLbl="node1" presStyleIdx="1" presStyleCnt="3">
        <dgm:presLayoutVars>
          <dgm:chMax val="1"/>
          <dgm:bulletEnabled val="1"/>
        </dgm:presLayoutVars>
      </dgm:prSet>
      <dgm:spPr/>
    </dgm:pt>
    <dgm:pt modelId="{B2D2FF2A-F534-4AC9-AD87-DFD467F16674}" type="pres">
      <dgm:prSet presAssocID="{766DBC03-0930-45F3-8675-AEB13DD0244A}" presName="descendantText" presStyleLbl="alignAccFollowNode1" presStyleIdx="1" presStyleCnt="3">
        <dgm:presLayoutVars>
          <dgm:bulletEnabled val="1"/>
        </dgm:presLayoutVars>
      </dgm:prSet>
      <dgm:spPr/>
    </dgm:pt>
    <dgm:pt modelId="{0D6802A3-E7FD-4134-A4ED-C3AD4177F01F}" type="pres">
      <dgm:prSet presAssocID="{A01FC81D-F6A2-4F24-BACC-A3BDD8EEA24B}" presName="sp" presStyleCnt="0"/>
      <dgm:spPr/>
    </dgm:pt>
    <dgm:pt modelId="{0285A91D-90D3-4603-A292-633497AC3E28}" type="pres">
      <dgm:prSet presAssocID="{E1339777-0637-46C1-B6F4-B7AF6B03841E}" presName="linNode" presStyleCnt="0"/>
      <dgm:spPr/>
    </dgm:pt>
    <dgm:pt modelId="{01FC71A8-10C5-46F0-93B4-13007BB23131}" type="pres">
      <dgm:prSet presAssocID="{E1339777-0637-46C1-B6F4-B7AF6B03841E}" presName="parentText" presStyleLbl="node1" presStyleIdx="2" presStyleCnt="3">
        <dgm:presLayoutVars>
          <dgm:chMax val="1"/>
          <dgm:bulletEnabled val="1"/>
        </dgm:presLayoutVars>
      </dgm:prSet>
      <dgm:spPr/>
    </dgm:pt>
    <dgm:pt modelId="{3B2C640E-D487-458E-A2FB-E52372CBED07}" type="pres">
      <dgm:prSet presAssocID="{E1339777-0637-46C1-B6F4-B7AF6B03841E}" presName="descendantText" presStyleLbl="alignAccFollowNode1" presStyleIdx="2" presStyleCnt="3">
        <dgm:presLayoutVars>
          <dgm:bulletEnabled val="1"/>
        </dgm:presLayoutVars>
      </dgm:prSet>
      <dgm:spPr/>
    </dgm:pt>
  </dgm:ptLst>
  <dgm:cxnLst>
    <dgm:cxn modelId="{4EA1C505-34D5-4443-BB55-D9F529570540}" srcId="{72801345-43E5-4D3D-96EC-2C510E714EE2}" destId="{B62BCACC-D36F-4C67-8EFD-E64197588CA3}" srcOrd="0" destOrd="0" parTransId="{8F49254F-75EC-4910-BBA5-0AF8DE113A19}" sibTransId="{5B233329-08A1-44FE-8D06-E0278972FC2E}"/>
    <dgm:cxn modelId="{61DAC016-2DEE-2A47-86C1-B0ABCDCCF462}" type="presOf" srcId="{72801345-43E5-4D3D-96EC-2C510E714EE2}" destId="{EC9EDD33-F1C2-475A-91CF-8EB49B135AC7}" srcOrd="0" destOrd="0" presId="urn:microsoft.com/office/officeart/2005/8/layout/vList5"/>
    <dgm:cxn modelId="{44137E5C-3DC8-964A-9361-3B78246B706A}" type="presOf" srcId="{B62BCACC-D36F-4C67-8EFD-E64197588CA3}" destId="{53CAD839-2A2E-4856-9680-A8AD9312AE81}" srcOrd="0" destOrd="0" presId="urn:microsoft.com/office/officeart/2005/8/layout/vList5"/>
    <dgm:cxn modelId="{C6897960-73E6-C347-BEC1-DCA5E9809C1D}" type="presOf" srcId="{766DBC03-0930-45F3-8675-AEB13DD0244A}" destId="{47674AAE-F0BE-4137-A36D-5A8ED70C35B3}" srcOrd="0" destOrd="0" presId="urn:microsoft.com/office/officeart/2005/8/layout/vList5"/>
    <dgm:cxn modelId="{62A1EF77-D5CB-4FA3-A59C-0F0FF1736CA1}" srcId="{B62BCACC-D36F-4C67-8EFD-E64197588CA3}" destId="{1FFEEB08-5C63-4A7E-91C1-944E52F266DE}" srcOrd="0" destOrd="0" parTransId="{BA4CF7E2-886E-4EDA-BA00-EE8D6E88E70B}" sibTransId="{ABAB03B5-AB83-47EA-9B73-B2EA7FDCEB68}"/>
    <dgm:cxn modelId="{73CCD789-F828-AC4C-9199-1C26846AD9E5}" type="presOf" srcId="{34564B1C-ABAF-4E67-9234-522D41C369EF}" destId="{3B2C640E-D487-458E-A2FB-E52372CBED07}" srcOrd="0" destOrd="0" presId="urn:microsoft.com/office/officeart/2005/8/layout/vList5"/>
    <dgm:cxn modelId="{148215A9-B05F-8A40-A07C-5D9961890B81}" type="presOf" srcId="{364132DD-2657-4AA1-AE4D-7E0650F7AAFC}" destId="{B2D2FF2A-F534-4AC9-AD87-DFD467F16674}" srcOrd="0" destOrd="0" presId="urn:microsoft.com/office/officeart/2005/8/layout/vList5"/>
    <dgm:cxn modelId="{261A68B8-3F3F-4F72-82BA-112387E639C6}" srcId="{766DBC03-0930-45F3-8675-AEB13DD0244A}" destId="{364132DD-2657-4AA1-AE4D-7E0650F7AAFC}" srcOrd="0" destOrd="0" parTransId="{7BCC82A3-08F8-4DDA-BC6F-29A8AC024B48}" sibTransId="{40CA47DE-3245-4ADD-8AD6-9ECDE772CD6D}"/>
    <dgm:cxn modelId="{8A16C8BB-97DD-794B-9876-C22B87CE739E}" type="presOf" srcId="{E1339777-0637-46C1-B6F4-B7AF6B03841E}" destId="{01FC71A8-10C5-46F0-93B4-13007BB23131}" srcOrd="0" destOrd="0" presId="urn:microsoft.com/office/officeart/2005/8/layout/vList5"/>
    <dgm:cxn modelId="{AD65EAEB-0004-754E-B780-FE73D0A4D80A}" type="presOf" srcId="{1FFEEB08-5C63-4A7E-91C1-944E52F266DE}" destId="{E02D99DC-7B5A-4EB3-B9D8-19A949D1E4E0}" srcOrd="0" destOrd="0" presId="urn:microsoft.com/office/officeart/2005/8/layout/vList5"/>
    <dgm:cxn modelId="{449ED5F1-8F36-4496-9F95-2791DE4AAA84}" srcId="{72801345-43E5-4D3D-96EC-2C510E714EE2}" destId="{766DBC03-0930-45F3-8675-AEB13DD0244A}" srcOrd="1" destOrd="0" parTransId="{0CD679DA-49BF-404B-8B81-3A3025ED93D4}" sibTransId="{A01FC81D-F6A2-4F24-BACC-A3BDD8EEA24B}"/>
    <dgm:cxn modelId="{E50B64F9-A4C3-48D1-B693-BC295DA7E970}" srcId="{E1339777-0637-46C1-B6F4-B7AF6B03841E}" destId="{34564B1C-ABAF-4E67-9234-522D41C369EF}" srcOrd="0" destOrd="0" parTransId="{456518B4-0B09-4FE3-8A4C-CC0D06103504}" sibTransId="{46C47535-95BF-40A8-95F6-5769E8FC24DC}"/>
    <dgm:cxn modelId="{63A548FE-4780-4FB5-BA3D-993675B3E5BB}" srcId="{72801345-43E5-4D3D-96EC-2C510E714EE2}" destId="{E1339777-0637-46C1-B6F4-B7AF6B03841E}" srcOrd="2" destOrd="0" parTransId="{BEFA10E0-65F2-4EBB-A614-A04CA34B3D34}" sibTransId="{FE176739-554A-4885-9ED3-719C2821BA14}"/>
    <dgm:cxn modelId="{0F900D53-A58A-ED46-A221-0C0E1DD0979C}" type="presParOf" srcId="{EC9EDD33-F1C2-475A-91CF-8EB49B135AC7}" destId="{63DDBEA0-3AA2-49A3-B18F-20FA12958F63}" srcOrd="0" destOrd="0" presId="urn:microsoft.com/office/officeart/2005/8/layout/vList5"/>
    <dgm:cxn modelId="{52F05118-05DC-5D46-99F3-EA409CE4269F}" type="presParOf" srcId="{63DDBEA0-3AA2-49A3-B18F-20FA12958F63}" destId="{53CAD839-2A2E-4856-9680-A8AD9312AE81}" srcOrd="0" destOrd="0" presId="urn:microsoft.com/office/officeart/2005/8/layout/vList5"/>
    <dgm:cxn modelId="{6F639F74-5387-6D42-BE14-DB36310B6185}" type="presParOf" srcId="{63DDBEA0-3AA2-49A3-B18F-20FA12958F63}" destId="{E02D99DC-7B5A-4EB3-B9D8-19A949D1E4E0}" srcOrd="1" destOrd="0" presId="urn:microsoft.com/office/officeart/2005/8/layout/vList5"/>
    <dgm:cxn modelId="{F29CC1C9-ECE9-654D-8FCB-6D9E6D974A87}" type="presParOf" srcId="{EC9EDD33-F1C2-475A-91CF-8EB49B135AC7}" destId="{4D12F632-13B9-4EF8-8C05-E11772A61103}" srcOrd="1" destOrd="0" presId="urn:microsoft.com/office/officeart/2005/8/layout/vList5"/>
    <dgm:cxn modelId="{7C6F656C-E88F-C749-B380-4C9F5736F84F}" type="presParOf" srcId="{EC9EDD33-F1C2-475A-91CF-8EB49B135AC7}" destId="{26E667E2-0C75-49F1-B745-D764BA53FCA0}" srcOrd="2" destOrd="0" presId="urn:microsoft.com/office/officeart/2005/8/layout/vList5"/>
    <dgm:cxn modelId="{6DEFF096-F5ED-3B46-B7A1-7050F81C6557}" type="presParOf" srcId="{26E667E2-0C75-49F1-B745-D764BA53FCA0}" destId="{47674AAE-F0BE-4137-A36D-5A8ED70C35B3}" srcOrd="0" destOrd="0" presId="urn:microsoft.com/office/officeart/2005/8/layout/vList5"/>
    <dgm:cxn modelId="{D001BFD6-3FE9-9642-A576-5EBE3C087675}" type="presParOf" srcId="{26E667E2-0C75-49F1-B745-D764BA53FCA0}" destId="{B2D2FF2A-F534-4AC9-AD87-DFD467F16674}" srcOrd="1" destOrd="0" presId="urn:microsoft.com/office/officeart/2005/8/layout/vList5"/>
    <dgm:cxn modelId="{B6E6B0E1-33A1-8348-B9F4-7FB4C1810B4B}" type="presParOf" srcId="{EC9EDD33-F1C2-475A-91CF-8EB49B135AC7}" destId="{0D6802A3-E7FD-4134-A4ED-C3AD4177F01F}" srcOrd="3" destOrd="0" presId="urn:microsoft.com/office/officeart/2005/8/layout/vList5"/>
    <dgm:cxn modelId="{CA8C8D80-16CC-6743-8EBF-F1CD34AE191B}" type="presParOf" srcId="{EC9EDD33-F1C2-475A-91CF-8EB49B135AC7}" destId="{0285A91D-90D3-4603-A292-633497AC3E28}" srcOrd="4" destOrd="0" presId="urn:microsoft.com/office/officeart/2005/8/layout/vList5"/>
    <dgm:cxn modelId="{F32B9E57-83B7-C547-9930-A78BF3C11A54}" type="presParOf" srcId="{0285A91D-90D3-4603-A292-633497AC3E28}" destId="{01FC71A8-10C5-46F0-93B4-13007BB23131}" srcOrd="0" destOrd="0" presId="urn:microsoft.com/office/officeart/2005/8/layout/vList5"/>
    <dgm:cxn modelId="{B3D208E1-368F-9D49-ABAA-DFB76A1A0499}" type="presParOf" srcId="{0285A91D-90D3-4603-A292-633497AC3E28}" destId="{3B2C640E-D487-458E-A2FB-E52372CBED07}"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21D2714-D065-4800-BB44-EE42565C3BDD}"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E7C762D-A522-490B-9542-CCC4391E5444}">
      <dgm:prSet/>
      <dgm:spPr/>
      <dgm:t>
        <a:bodyPr/>
        <a:lstStyle/>
        <a:p>
          <a:pPr>
            <a:lnSpc>
              <a:spcPct val="100000"/>
            </a:lnSpc>
          </a:pPr>
          <a:r>
            <a:rPr lang="en-US" b="1"/>
            <a:t>The system would utilize a heat map of high-risk areas, helping forestry managers take preventive measures.</a:t>
          </a:r>
        </a:p>
      </dgm:t>
    </dgm:pt>
    <dgm:pt modelId="{B5F13AA6-C294-4318-8A8B-B5C99B4C80CA}" type="parTrans" cxnId="{F7869B45-95CD-4D95-98FC-E5286BB8BB5C}">
      <dgm:prSet/>
      <dgm:spPr/>
      <dgm:t>
        <a:bodyPr/>
        <a:lstStyle/>
        <a:p>
          <a:endParaRPr lang="en-US"/>
        </a:p>
      </dgm:t>
    </dgm:pt>
    <dgm:pt modelId="{D6F34EE7-626B-4892-B8F4-AAC88657667D}" type="sibTrans" cxnId="{F7869B45-95CD-4D95-98FC-E5286BB8BB5C}">
      <dgm:prSet/>
      <dgm:spPr/>
      <dgm:t>
        <a:bodyPr/>
        <a:lstStyle/>
        <a:p>
          <a:pPr>
            <a:lnSpc>
              <a:spcPct val="100000"/>
            </a:lnSpc>
          </a:pPr>
          <a:endParaRPr lang="en-US"/>
        </a:p>
      </dgm:t>
    </dgm:pt>
    <dgm:pt modelId="{8C374511-0A03-4DB6-9705-67BE0B9AC76B}">
      <dgm:prSet/>
      <dgm:spPr/>
      <dgm:t>
        <a:bodyPr/>
        <a:lstStyle/>
        <a:p>
          <a:pPr rtl="0">
            <a:lnSpc>
              <a:spcPct val="100000"/>
            </a:lnSpc>
          </a:pPr>
          <a:r>
            <a:rPr lang="en-US" b="1"/>
            <a:t>Risk Visualization:</a:t>
          </a:r>
          <a:r>
            <a:rPr lang="en-US"/>
            <a:t> Heat maps identify areas susceptible to wildfires</a:t>
          </a:r>
          <a:endParaRPr lang="en-US">
            <a:latin typeface="Century Gothic" panose="020B0502020202020204"/>
          </a:endParaRPr>
        </a:p>
      </dgm:t>
    </dgm:pt>
    <dgm:pt modelId="{5D42AF7F-8CAF-47AC-ACEB-DAEA38E18C2A}" type="parTrans" cxnId="{01744311-5081-4F4C-BD93-174861D31C9A}">
      <dgm:prSet/>
      <dgm:spPr/>
      <dgm:t>
        <a:bodyPr/>
        <a:lstStyle/>
        <a:p>
          <a:endParaRPr lang="en-US"/>
        </a:p>
      </dgm:t>
    </dgm:pt>
    <dgm:pt modelId="{9EBF0BA0-B98C-4EC5-8FC8-F7AF3B9921F2}" type="sibTrans" cxnId="{01744311-5081-4F4C-BD93-174861D31C9A}">
      <dgm:prSet/>
      <dgm:spPr/>
      <dgm:t>
        <a:bodyPr/>
        <a:lstStyle/>
        <a:p>
          <a:pPr>
            <a:lnSpc>
              <a:spcPct val="100000"/>
            </a:lnSpc>
          </a:pPr>
          <a:endParaRPr lang="en-US"/>
        </a:p>
      </dgm:t>
    </dgm:pt>
    <dgm:pt modelId="{6E4C6E4F-235E-4907-BB3D-7D7B54F471E7}">
      <dgm:prSet/>
      <dgm:spPr/>
      <dgm:t>
        <a:bodyPr/>
        <a:lstStyle/>
        <a:p>
          <a:pPr>
            <a:lnSpc>
              <a:spcPct val="100000"/>
            </a:lnSpc>
          </a:pPr>
          <a:r>
            <a:rPr lang="en-US" b="1"/>
            <a:t>Data Integration:</a:t>
          </a:r>
          <a:r>
            <a:rPr lang="en-US"/>
            <a:t> We would combine satellite imagery and environmental data </a:t>
          </a:r>
        </a:p>
      </dgm:t>
    </dgm:pt>
    <dgm:pt modelId="{78F79B7A-2375-4E46-B55D-CAC71B75BDD6}" type="parTrans" cxnId="{5033BB3F-483E-4C39-912F-98167FF209DC}">
      <dgm:prSet/>
      <dgm:spPr/>
      <dgm:t>
        <a:bodyPr/>
        <a:lstStyle/>
        <a:p>
          <a:endParaRPr lang="en-US"/>
        </a:p>
      </dgm:t>
    </dgm:pt>
    <dgm:pt modelId="{A6E5918D-F60D-465E-8AE9-42F083B2B721}" type="sibTrans" cxnId="{5033BB3F-483E-4C39-912F-98167FF209DC}">
      <dgm:prSet/>
      <dgm:spPr/>
      <dgm:t>
        <a:bodyPr/>
        <a:lstStyle/>
        <a:p>
          <a:pPr>
            <a:lnSpc>
              <a:spcPct val="100000"/>
            </a:lnSpc>
          </a:pPr>
          <a:endParaRPr lang="en-US"/>
        </a:p>
      </dgm:t>
    </dgm:pt>
    <dgm:pt modelId="{B772D23A-7E59-4620-97F0-0EE6C209072A}">
      <dgm:prSet/>
      <dgm:spPr/>
      <dgm:t>
        <a:bodyPr/>
        <a:lstStyle/>
        <a:p>
          <a:pPr>
            <a:lnSpc>
              <a:spcPct val="100000"/>
            </a:lnSpc>
          </a:pPr>
          <a:r>
            <a:rPr lang="en-US" b="1"/>
            <a:t>Proactive Management:</a:t>
          </a:r>
          <a:r>
            <a:rPr lang="en-US"/>
            <a:t> Forestry managers can implement measures in high-risk zones.</a:t>
          </a:r>
        </a:p>
      </dgm:t>
    </dgm:pt>
    <dgm:pt modelId="{E1898AFD-A949-4488-8552-8FBB29256A28}" type="parTrans" cxnId="{49FF0011-03AE-4335-BDC0-85BEAC1EF0C8}">
      <dgm:prSet/>
      <dgm:spPr/>
      <dgm:t>
        <a:bodyPr/>
        <a:lstStyle/>
        <a:p>
          <a:endParaRPr lang="en-US"/>
        </a:p>
      </dgm:t>
    </dgm:pt>
    <dgm:pt modelId="{C4D10F0C-3A41-4D25-A3B2-853A13D42AC4}" type="sibTrans" cxnId="{49FF0011-03AE-4335-BDC0-85BEAC1EF0C8}">
      <dgm:prSet/>
      <dgm:spPr/>
      <dgm:t>
        <a:bodyPr/>
        <a:lstStyle/>
        <a:p>
          <a:pPr>
            <a:lnSpc>
              <a:spcPct val="100000"/>
            </a:lnSpc>
          </a:pPr>
          <a:endParaRPr lang="en-US"/>
        </a:p>
      </dgm:t>
    </dgm:pt>
    <dgm:pt modelId="{03D4D0A6-248D-46D7-811D-0B1A2238212D}" type="pres">
      <dgm:prSet presAssocID="{F21D2714-D065-4800-BB44-EE42565C3BDD}" presName="vert0" presStyleCnt="0">
        <dgm:presLayoutVars>
          <dgm:dir/>
          <dgm:animOne val="branch"/>
          <dgm:animLvl val="lvl"/>
        </dgm:presLayoutVars>
      </dgm:prSet>
      <dgm:spPr/>
    </dgm:pt>
    <dgm:pt modelId="{AFF60E16-9E05-4B8B-AB08-218DE6554B45}" type="pres">
      <dgm:prSet presAssocID="{8E7C762D-A522-490B-9542-CCC4391E5444}" presName="thickLine" presStyleLbl="alignNode1" presStyleIdx="0" presStyleCnt="4"/>
      <dgm:spPr/>
    </dgm:pt>
    <dgm:pt modelId="{68D59DF3-DCCB-4353-ADF0-EE5A5CA81E92}" type="pres">
      <dgm:prSet presAssocID="{8E7C762D-A522-490B-9542-CCC4391E5444}" presName="horz1" presStyleCnt="0"/>
      <dgm:spPr/>
    </dgm:pt>
    <dgm:pt modelId="{2B4EA01F-DF09-4A94-8496-55C361F866AC}" type="pres">
      <dgm:prSet presAssocID="{8E7C762D-A522-490B-9542-CCC4391E5444}" presName="tx1" presStyleLbl="revTx" presStyleIdx="0" presStyleCnt="4"/>
      <dgm:spPr/>
    </dgm:pt>
    <dgm:pt modelId="{36701B2B-D3CE-4261-A9CD-03CA2A17E6ED}" type="pres">
      <dgm:prSet presAssocID="{8E7C762D-A522-490B-9542-CCC4391E5444}" presName="vert1" presStyleCnt="0"/>
      <dgm:spPr/>
    </dgm:pt>
    <dgm:pt modelId="{E5C45811-2E44-47CD-AF78-6A176CA7E734}" type="pres">
      <dgm:prSet presAssocID="{8C374511-0A03-4DB6-9705-67BE0B9AC76B}" presName="thickLine" presStyleLbl="alignNode1" presStyleIdx="1" presStyleCnt="4"/>
      <dgm:spPr/>
    </dgm:pt>
    <dgm:pt modelId="{FF334EED-D59D-46B2-976C-914B358BEBE2}" type="pres">
      <dgm:prSet presAssocID="{8C374511-0A03-4DB6-9705-67BE0B9AC76B}" presName="horz1" presStyleCnt="0"/>
      <dgm:spPr/>
    </dgm:pt>
    <dgm:pt modelId="{C125A992-3B0C-43B0-AA45-5C47979C1BEF}" type="pres">
      <dgm:prSet presAssocID="{8C374511-0A03-4DB6-9705-67BE0B9AC76B}" presName="tx1" presStyleLbl="revTx" presStyleIdx="1" presStyleCnt="4"/>
      <dgm:spPr/>
    </dgm:pt>
    <dgm:pt modelId="{F5F94477-CFBF-40F1-92E8-A264DBD072ED}" type="pres">
      <dgm:prSet presAssocID="{8C374511-0A03-4DB6-9705-67BE0B9AC76B}" presName="vert1" presStyleCnt="0"/>
      <dgm:spPr/>
    </dgm:pt>
    <dgm:pt modelId="{70B6EA75-5C9F-4DA4-8C90-B8DD9F749DC1}" type="pres">
      <dgm:prSet presAssocID="{6E4C6E4F-235E-4907-BB3D-7D7B54F471E7}" presName="thickLine" presStyleLbl="alignNode1" presStyleIdx="2" presStyleCnt="4"/>
      <dgm:spPr/>
    </dgm:pt>
    <dgm:pt modelId="{BB4523BE-B4D6-4F10-84FC-E73957FDA562}" type="pres">
      <dgm:prSet presAssocID="{6E4C6E4F-235E-4907-BB3D-7D7B54F471E7}" presName="horz1" presStyleCnt="0"/>
      <dgm:spPr/>
    </dgm:pt>
    <dgm:pt modelId="{E65692D1-88B0-4995-828A-0B2B9A03D303}" type="pres">
      <dgm:prSet presAssocID="{6E4C6E4F-235E-4907-BB3D-7D7B54F471E7}" presName="tx1" presStyleLbl="revTx" presStyleIdx="2" presStyleCnt="4"/>
      <dgm:spPr/>
    </dgm:pt>
    <dgm:pt modelId="{EFCB940A-0B70-4645-95B3-940CE4D1CB4E}" type="pres">
      <dgm:prSet presAssocID="{6E4C6E4F-235E-4907-BB3D-7D7B54F471E7}" presName="vert1" presStyleCnt="0"/>
      <dgm:spPr/>
    </dgm:pt>
    <dgm:pt modelId="{6F4D13FD-6F87-4B1C-9D1E-190CC108E06B}" type="pres">
      <dgm:prSet presAssocID="{B772D23A-7E59-4620-97F0-0EE6C209072A}" presName="thickLine" presStyleLbl="alignNode1" presStyleIdx="3" presStyleCnt="4"/>
      <dgm:spPr/>
    </dgm:pt>
    <dgm:pt modelId="{819C704E-6E4E-4C94-8E27-CF122874AFF5}" type="pres">
      <dgm:prSet presAssocID="{B772D23A-7E59-4620-97F0-0EE6C209072A}" presName="horz1" presStyleCnt="0"/>
      <dgm:spPr/>
    </dgm:pt>
    <dgm:pt modelId="{AE528EB5-6CBB-47B7-A76A-778199DA52EF}" type="pres">
      <dgm:prSet presAssocID="{B772D23A-7E59-4620-97F0-0EE6C209072A}" presName="tx1" presStyleLbl="revTx" presStyleIdx="3" presStyleCnt="4"/>
      <dgm:spPr/>
    </dgm:pt>
    <dgm:pt modelId="{31CDD004-B404-41F1-9854-236B8E9A1321}" type="pres">
      <dgm:prSet presAssocID="{B772D23A-7E59-4620-97F0-0EE6C209072A}" presName="vert1" presStyleCnt="0"/>
      <dgm:spPr/>
    </dgm:pt>
  </dgm:ptLst>
  <dgm:cxnLst>
    <dgm:cxn modelId="{49FF0011-03AE-4335-BDC0-85BEAC1EF0C8}" srcId="{F21D2714-D065-4800-BB44-EE42565C3BDD}" destId="{B772D23A-7E59-4620-97F0-0EE6C209072A}" srcOrd="3" destOrd="0" parTransId="{E1898AFD-A949-4488-8552-8FBB29256A28}" sibTransId="{C4D10F0C-3A41-4D25-A3B2-853A13D42AC4}"/>
    <dgm:cxn modelId="{01744311-5081-4F4C-BD93-174861D31C9A}" srcId="{F21D2714-D065-4800-BB44-EE42565C3BDD}" destId="{8C374511-0A03-4DB6-9705-67BE0B9AC76B}" srcOrd="1" destOrd="0" parTransId="{5D42AF7F-8CAF-47AC-ACEB-DAEA38E18C2A}" sibTransId="{9EBF0BA0-B98C-4EC5-8FC8-F7AF3B9921F2}"/>
    <dgm:cxn modelId="{5033BB3F-483E-4C39-912F-98167FF209DC}" srcId="{F21D2714-D065-4800-BB44-EE42565C3BDD}" destId="{6E4C6E4F-235E-4907-BB3D-7D7B54F471E7}" srcOrd="2" destOrd="0" parTransId="{78F79B7A-2375-4E46-B55D-CAC71B75BDD6}" sibTransId="{A6E5918D-F60D-465E-8AE9-42F083B2B721}"/>
    <dgm:cxn modelId="{F7869B45-95CD-4D95-98FC-E5286BB8BB5C}" srcId="{F21D2714-D065-4800-BB44-EE42565C3BDD}" destId="{8E7C762D-A522-490B-9542-CCC4391E5444}" srcOrd="0" destOrd="0" parTransId="{B5F13AA6-C294-4318-8A8B-B5C99B4C80CA}" sibTransId="{D6F34EE7-626B-4892-B8F4-AAC88657667D}"/>
    <dgm:cxn modelId="{D699FF89-F8CF-4B27-BA26-F5138DC52B1F}" type="presOf" srcId="{8E7C762D-A522-490B-9542-CCC4391E5444}" destId="{2B4EA01F-DF09-4A94-8496-55C361F866AC}" srcOrd="0" destOrd="0" presId="urn:microsoft.com/office/officeart/2008/layout/LinedList"/>
    <dgm:cxn modelId="{360EBC91-48B1-4F2E-9607-E189975908C7}" type="presOf" srcId="{F21D2714-D065-4800-BB44-EE42565C3BDD}" destId="{03D4D0A6-248D-46D7-811D-0B1A2238212D}" srcOrd="0" destOrd="0" presId="urn:microsoft.com/office/officeart/2008/layout/LinedList"/>
    <dgm:cxn modelId="{1F3480C0-84C7-4B90-87D3-D8DADA9579CC}" type="presOf" srcId="{B772D23A-7E59-4620-97F0-0EE6C209072A}" destId="{AE528EB5-6CBB-47B7-A76A-778199DA52EF}" srcOrd="0" destOrd="0" presId="urn:microsoft.com/office/officeart/2008/layout/LinedList"/>
    <dgm:cxn modelId="{356B39D8-9F7C-4CF8-AF3B-FFE5D831FE1C}" type="presOf" srcId="{6E4C6E4F-235E-4907-BB3D-7D7B54F471E7}" destId="{E65692D1-88B0-4995-828A-0B2B9A03D303}" srcOrd="0" destOrd="0" presId="urn:microsoft.com/office/officeart/2008/layout/LinedList"/>
    <dgm:cxn modelId="{13926BDE-7033-4CE6-8933-D5C39AF091D3}" type="presOf" srcId="{8C374511-0A03-4DB6-9705-67BE0B9AC76B}" destId="{C125A992-3B0C-43B0-AA45-5C47979C1BEF}" srcOrd="0" destOrd="0" presId="urn:microsoft.com/office/officeart/2008/layout/LinedList"/>
    <dgm:cxn modelId="{3002D12B-CD47-4C19-9FE0-B64443B465B4}" type="presParOf" srcId="{03D4D0A6-248D-46D7-811D-0B1A2238212D}" destId="{AFF60E16-9E05-4B8B-AB08-218DE6554B45}" srcOrd="0" destOrd="0" presId="urn:microsoft.com/office/officeart/2008/layout/LinedList"/>
    <dgm:cxn modelId="{274CAD77-095A-4798-8E14-1C840C5AF6D6}" type="presParOf" srcId="{03D4D0A6-248D-46D7-811D-0B1A2238212D}" destId="{68D59DF3-DCCB-4353-ADF0-EE5A5CA81E92}" srcOrd="1" destOrd="0" presId="urn:microsoft.com/office/officeart/2008/layout/LinedList"/>
    <dgm:cxn modelId="{361921F7-F32A-4643-8B97-9529BA7531E7}" type="presParOf" srcId="{68D59DF3-DCCB-4353-ADF0-EE5A5CA81E92}" destId="{2B4EA01F-DF09-4A94-8496-55C361F866AC}" srcOrd="0" destOrd="0" presId="urn:microsoft.com/office/officeart/2008/layout/LinedList"/>
    <dgm:cxn modelId="{D071BA3E-1734-4B6F-8D53-6BB02DB3B1C6}" type="presParOf" srcId="{68D59DF3-DCCB-4353-ADF0-EE5A5CA81E92}" destId="{36701B2B-D3CE-4261-A9CD-03CA2A17E6ED}" srcOrd="1" destOrd="0" presId="urn:microsoft.com/office/officeart/2008/layout/LinedList"/>
    <dgm:cxn modelId="{AB42CB77-68EC-4BB4-A4F5-C8873EB721AC}" type="presParOf" srcId="{03D4D0A6-248D-46D7-811D-0B1A2238212D}" destId="{E5C45811-2E44-47CD-AF78-6A176CA7E734}" srcOrd="2" destOrd="0" presId="urn:microsoft.com/office/officeart/2008/layout/LinedList"/>
    <dgm:cxn modelId="{E77EDD5A-689D-4B0E-B90D-3D5196DAC6A9}" type="presParOf" srcId="{03D4D0A6-248D-46D7-811D-0B1A2238212D}" destId="{FF334EED-D59D-46B2-976C-914B358BEBE2}" srcOrd="3" destOrd="0" presId="urn:microsoft.com/office/officeart/2008/layout/LinedList"/>
    <dgm:cxn modelId="{53B680BA-D7F7-431F-B2A9-93685C8C1B70}" type="presParOf" srcId="{FF334EED-D59D-46B2-976C-914B358BEBE2}" destId="{C125A992-3B0C-43B0-AA45-5C47979C1BEF}" srcOrd="0" destOrd="0" presId="urn:microsoft.com/office/officeart/2008/layout/LinedList"/>
    <dgm:cxn modelId="{650BE23E-78D2-4C11-8B17-F65831554961}" type="presParOf" srcId="{FF334EED-D59D-46B2-976C-914B358BEBE2}" destId="{F5F94477-CFBF-40F1-92E8-A264DBD072ED}" srcOrd="1" destOrd="0" presId="urn:microsoft.com/office/officeart/2008/layout/LinedList"/>
    <dgm:cxn modelId="{7E122CFD-7541-438F-AEEC-D191FDC759AE}" type="presParOf" srcId="{03D4D0A6-248D-46D7-811D-0B1A2238212D}" destId="{70B6EA75-5C9F-4DA4-8C90-B8DD9F749DC1}" srcOrd="4" destOrd="0" presId="urn:microsoft.com/office/officeart/2008/layout/LinedList"/>
    <dgm:cxn modelId="{E1876D15-31C9-40B0-BB5A-ED9550F23C37}" type="presParOf" srcId="{03D4D0A6-248D-46D7-811D-0B1A2238212D}" destId="{BB4523BE-B4D6-4F10-84FC-E73957FDA562}" srcOrd="5" destOrd="0" presId="urn:microsoft.com/office/officeart/2008/layout/LinedList"/>
    <dgm:cxn modelId="{9AAC5560-D39D-4B88-A40B-BD0D1F9F43C4}" type="presParOf" srcId="{BB4523BE-B4D6-4F10-84FC-E73957FDA562}" destId="{E65692D1-88B0-4995-828A-0B2B9A03D303}" srcOrd="0" destOrd="0" presId="urn:microsoft.com/office/officeart/2008/layout/LinedList"/>
    <dgm:cxn modelId="{E0835239-E3C4-4B9B-BED8-7E080E59C191}" type="presParOf" srcId="{BB4523BE-B4D6-4F10-84FC-E73957FDA562}" destId="{EFCB940A-0B70-4645-95B3-940CE4D1CB4E}" srcOrd="1" destOrd="0" presId="urn:microsoft.com/office/officeart/2008/layout/LinedList"/>
    <dgm:cxn modelId="{0157B35A-FF78-4BA2-9B3E-FB15C22DA70E}" type="presParOf" srcId="{03D4D0A6-248D-46D7-811D-0B1A2238212D}" destId="{6F4D13FD-6F87-4B1C-9D1E-190CC108E06B}" srcOrd="6" destOrd="0" presId="urn:microsoft.com/office/officeart/2008/layout/LinedList"/>
    <dgm:cxn modelId="{05B467EF-E7F5-46E9-9ACD-CD5F9229502E}" type="presParOf" srcId="{03D4D0A6-248D-46D7-811D-0B1A2238212D}" destId="{819C704E-6E4E-4C94-8E27-CF122874AFF5}" srcOrd="7" destOrd="0" presId="urn:microsoft.com/office/officeart/2008/layout/LinedList"/>
    <dgm:cxn modelId="{337BB058-7F1B-4DB4-A6D9-85184CCC5DAD}" type="presParOf" srcId="{819C704E-6E4E-4C94-8E27-CF122874AFF5}" destId="{AE528EB5-6CBB-47B7-A76A-778199DA52EF}" srcOrd="0" destOrd="0" presId="urn:microsoft.com/office/officeart/2008/layout/LinedList"/>
    <dgm:cxn modelId="{3A315A6B-1BBC-4A3E-8B07-A24307CCC4D7}" type="presParOf" srcId="{819C704E-6E4E-4C94-8E27-CF122874AFF5}" destId="{31CDD004-B404-41F1-9854-236B8E9A1321}"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F0E2F3E-D817-4A86-8B38-DA66AA3872C1}"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BF56F178-4644-4195-A25E-A9BD945B5834}">
      <dgm:prSet/>
      <dgm:spPr/>
      <dgm:t>
        <a:bodyPr/>
        <a:lstStyle/>
        <a:p>
          <a:r>
            <a:rPr lang="en-US" b="1"/>
            <a:t>Data Encryption:</a:t>
          </a:r>
          <a:r>
            <a:rPr lang="en-US"/>
            <a:t> Protects sensitive information from unauthorized access.</a:t>
          </a:r>
        </a:p>
      </dgm:t>
    </dgm:pt>
    <dgm:pt modelId="{4A153210-25DC-4054-BA00-6F9AAE5115F6}" type="parTrans" cxnId="{A79FCEA4-4095-4368-9805-0D2CF2F1E25A}">
      <dgm:prSet/>
      <dgm:spPr/>
      <dgm:t>
        <a:bodyPr/>
        <a:lstStyle/>
        <a:p>
          <a:endParaRPr lang="en-US"/>
        </a:p>
      </dgm:t>
    </dgm:pt>
    <dgm:pt modelId="{1CEFB01B-23D9-42A5-A512-1AE907E6731D}" type="sibTrans" cxnId="{A79FCEA4-4095-4368-9805-0D2CF2F1E25A}">
      <dgm:prSet/>
      <dgm:spPr/>
      <dgm:t>
        <a:bodyPr/>
        <a:lstStyle/>
        <a:p>
          <a:endParaRPr lang="en-US"/>
        </a:p>
      </dgm:t>
    </dgm:pt>
    <dgm:pt modelId="{6F6F8A75-D1FA-4881-8A85-EA90A902F449}">
      <dgm:prSet/>
      <dgm:spPr/>
      <dgm:t>
        <a:bodyPr/>
        <a:lstStyle/>
        <a:p>
          <a:r>
            <a:rPr lang="en-US" b="1"/>
            <a:t>Secure Communication:</a:t>
          </a:r>
          <a:r>
            <a:rPr lang="en-US"/>
            <a:t> Ensures data integrity during transmission between drones and control systems.</a:t>
          </a:r>
        </a:p>
      </dgm:t>
    </dgm:pt>
    <dgm:pt modelId="{E93BA5E5-E81B-4262-80CB-E7D1C9559534}" type="parTrans" cxnId="{3943A693-BFC9-4B0D-BF97-94A004478831}">
      <dgm:prSet/>
      <dgm:spPr/>
      <dgm:t>
        <a:bodyPr/>
        <a:lstStyle/>
        <a:p>
          <a:endParaRPr lang="en-US"/>
        </a:p>
      </dgm:t>
    </dgm:pt>
    <dgm:pt modelId="{01EF5774-2D9D-4FB4-952E-B633AA9626E9}" type="sibTrans" cxnId="{3943A693-BFC9-4B0D-BF97-94A004478831}">
      <dgm:prSet/>
      <dgm:spPr/>
      <dgm:t>
        <a:bodyPr/>
        <a:lstStyle/>
        <a:p>
          <a:endParaRPr lang="en-US"/>
        </a:p>
      </dgm:t>
    </dgm:pt>
    <dgm:pt modelId="{645F71E6-71D3-4874-92DF-9DE027EADFAB}">
      <dgm:prSet/>
      <dgm:spPr/>
      <dgm:t>
        <a:bodyPr/>
        <a:lstStyle/>
        <a:p>
          <a:r>
            <a:rPr lang="en-US" b="1"/>
            <a:t>Compliance:</a:t>
          </a:r>
          <a:r>
            <a:rPr lang="en-US"/>
            <a:t> Adheres to industry standards and regulations for data protection.</a:t>
          </a:r>
        </a:p>
      </dgm:t>
    </dgm:pt>
    <dgm:pt modelId="{62CCD06F-4AC0-4CEA-8E63-2C8C3287D2A4}" type="parTrans" cxnId="{151D9D8E-F782-48E7-A14A-F26B75BA3FE4}">
      <dgm:prSet/>
      <dgm:spPr/>
      <dgm:t>
        <a:bodyPr/>
        <a:lstStyle/>
        <a:p>
          <a:endParaRPr lang="en-US"/>
        </a:p>
      </dgm:t>
    </dgm:pt>
    <dgm:pt modelId="{C60128F4-15A9-48EF-98D5-2731C6E9DE2E}" type="sibTrans" cxnId="{151D9D8E-F782-48E7-A14A-F26B75BA3FE4}">
      <dgm:prSet/>
      <dgm:spPr/>
      <dgm:t>
        <a:bodyPr/>
        <a:lstStyle/>
        <a:p>
          <a:endParaRPr lang="en-US"/>
        </a:p>
      </dgm:t>
    </dgm:pt>
    <dgm:pt modelId="{F4951CAB-2EFB-460C-A465-8B595FFCB0F5}" type="pres">
      <dgm:prSet presAssocID="{AF0E2F3E-D817-4A86-8B38-DA66AA3872C1}" presName="hierChild1" presStyleCnt="0">
        <dgm:presLayoutVars>
          <dgm:chPref val="1"/>
          <dgm:dir/>
          <dgm:animOne val="branch"/>
          <dgm:animLvl val="lvl"/>
          <dgm:resizeHandles/>
        </dgm:presLayoutVars>
      </dgm:prSet>
      <dgm:spPr/>
    </dgm:pt>
    <dgm:pt modelId="{07EF9219-3681-4F52-9787-BABDBB7A1428}" type="pres">
      <dgm:prSet presAssocID="{BF56F178-4644-4195-A25E-A9BD945B5834}" presName="hierRoot1" presStyleCnt="0"/>
      <dgm:spPr/>
    </dgm:pt>
    <dgm:pt modelId="{FD85CC9A-3EFE-4FF3-80CB-C0AF7CCA5082}" type="pres">
      <dgm:prSet presAssocID="{BF56F178-4644-4195-A25E-A9BD945B5834}" presName="composite" presStyleCnt="0"/>
      <dgm:spPr/>
    </dgm:pt>
    <dgm:pt modelId="{52E3FAC5-FB84-4EE9-A122-C89BAC9E4A99}" type="pres">
      <dgm:prSet presAssocID="{BF56F178-4644-4195-A25E-A9BD945B5834}" presName="background" presStyleLbl="node0" presStyleIdx="0" presStyleCnt="3"/>
      <dgm:spPr/>
    </dgm:pt>
    <dgm:pt modelId="{58B6CD93-EEEB-440B-B740-7C2786BEC50F}" type="pres">
      <dgm:prSet presAssocID="{BF56F178-4644-4195-A25E-A9BD945B5834}" presName="text" presStyleLbl="fgAcc0" presStyleIdx="0" presStyleCnt="3">
        <dgm:presLayoutVars>
          <dgm:chPref val="3"/>
        </dgm:presLayoutVars>
      </dgm:prSet>
      <dgm:spPr/>
    </dgm:pt>
    <dgm:pt modelId="{D94090EC-12CC-4FC9-A609-B33AE917C731}" type="pres">
      <dgm:prSet presAssocID="{BF56F178-4644-4195-A25E-A9BD945B5834}" presName="hierChild2" presStyleCnt="0"/>
      <dgm:spPr/>
    </dgm:pt>
    <dgm:pt modelId="{FF569CB4-2B90-4E50-8209-7B9DF7919C5F}" type="pres">
      <dgm:prSet presAssocID="{6F6F8A75-D1FA-4881-8A85-EA90A902F449}" presName="hierRoot1" presStyleCnt="0"/>
      <dgm:spPr/>
    </dgm:pt>
    <dgm:pt modelId="{4C9A7FD8-D006-4D78-9CCD-1F5A3864B042}" type="pres">
      <dgm:prSet presAssocID="{6F6F8A75-D1FA-4881-8A85-EA90A902F449}" presName="composite" presStyleCnt="0"/>
      <dgm:spPr/>
    </dgm:pt>
    <dgm:pt modelId="{407D6C7E-9F6B-4B24-9DD4-15F936AEBE61}" type="pres">
      <dgm:prSet presAssocID="{6F6F8A75-D1FA-4881-8A85-EA90A902F449}" presName="background" presStyleLbl="node0" presStyleIdx="1" presStyleCnt="3"/>
      <dgm:spPr/>
    </dgm:pt>
    <dgm:pt modelId="{50199BA4-38D4-4765-8BCE-D1DA6A77BA74}" type="pres">
      <dgm:prSet presAssocID="{6F6F8A75-D1FA-4881-8A85-EA90A902F449}" presName="text" presStyleLbl="fgAcc0" presStyleIdx="1" presStyleCnt="3">
        <dgm:presLayoutVars>
          <dgm:chPref val="3"/>
        </dgm:presLayoutVars>
      </dgm:prSet>
      <dgm:spPr/>
    </dgm:pt>
    <dgm:pt modelId="{F10971BB-9B76-48BE-A125-20C1A4419D18}" type="pres">
      <dgm:prSet presAssocID="{6F6F8A75-D1FA-4881-8A85-EA90A902F449}" presName="hierChild2" presStyleCnt="0"/>
      <dgm:spPr/>
    </dgm:pt>
    <dgm:pt modelId="{EC95D680-6BA1-49E7-9163-ED7D6DCC97DB}" type="pres">
      <dgm:prSet presAssocID="{645F71E6-71D3-4874-92DF-9DE027EADFAB}" presName="hierRoot1" presStyleCnt="0"/>
      <dgm:spPr/>
    </dgm:pt>
    <dgm:pt modelId="{1F2542E7-41D1-4D06-9F3A-EA565C4652DB}" type="pres">
      <dgm:prSet presAssocID="{645F71E6-71D3-4874-92DF-9DE027EADFAB}" presName="composite" presStyleCnt="0"/>
      <dgm:spPr/>
    </dgm:pt>
    <dgm:pt modelId="{4D232E99-8927-41C0-B43C-0446EC93D835}" type="pres">
      <dgm:prSet presAssocID="{645F71E6-71D3-4874-92DF-9DE027EADFAB}" presName="background" presStyleLbl="node0" presStyleIdx="2" presStyleCnt="3"/>
      <dgm:spPr/>
    </dgm:pt>
    <dgm:pt modelId="{BC813F6C-12D8-4E87-967C-E29D6259D11B}" type="pres">
      <dgm:prSet presAssocID="{645F71E6-71D3-4874-92DF-9DE027EADFAB}" presName="text" presStyleLbl="fgAcc0" presStyleIdx="2" presStyleCnt="3">
        <dgm:presLayoutVars>
          <dgm:chPref val="3"/>
        </dgm:presLayoutVars>
      </dgm:prSet>
      <dgm:spPr/>
    </dgm:pt>
    <dgm:pt modelId="{95A70713-245B-44F6-BBB2-2BBD978058B1}" type="pres">
      <dgm:prSet presAssocID="{645F71E6-71D3-4874-92DF-9DE027EADFAB}" presName="hierChild2" presStyleCnt="0"/>
      <dgm:spPr/>
    </dgm:pt>
  </dgm:ptLst>
  <dgm:cxnLst>
    <dgm:cxn modelId="{0B557A60-2796-4520-AA1E-2B54FE3855A9}" type="presOf" srcId="{6F6F8A75-D1FA-4881-8A85-EA90A902F449}" destId="{50199BA4-38D4-4765-8BCE-D1DA6A77BA74}" srcOrd="0" destOrd="0" presId="urn:microsoft.com/office/officeart/2005/8/layout/hierarchy1"/>
    <dgm:cxn modelId="{EC7F0B6D-56A7-404A-9169-21D616C8E90B}" type="presOf" srcId="{AF0E2F3E-D817-4A86-8B38-DA66AA3872C1}" destId="{F4951CAB-2EFB-460C-A465-8B595FFCB0F5}" srcOrd="0" destOrd="0" presId="urn:microsoft.com/office/officeart/2005/8/layout/hierarchy1"/>
    <dgm:cxn modelId="{151D9D8E-F782-48E7-A14A-F26B75BA3FE4}" srcId="{AF0E2F3E-D817-4A86-8B38-DA66AA3872C1}" destId="{645F71E6-71D3-4874-92DF-9DE027EADFAB}" srcOrd="2" destOrd="0" parTransId="{62CCD06F-4AC0-4CEA-8E63-2C8C3287D2A4}" sibTransId="{C60128F4-15A9-48EF-98D5-2731C6E9DE2E}"/>
    <dgm:cxn modelId="{3943A693-BFC9-4B0D-BF97-94A004478831}" srcId="{AF0E2F3E-D817-4A86-8B38-DA66AA3872C1}" destId="{6F6F8A75-D1FA-4881-8A85-EA90A902F449}" srcOrd="1" destOrd="0" parTransId="{E93BA5E5-E81B-4262-80CB-E7D1C9559534}" sibTransId="{01EF5774-2D9D-4FB4-952E-B633AA9626E9}"/>
    <dgm:cxn modelId="{A79FCEA4-4095-4368-9805-0D2CF2F1E25A}" srcId="{AF0E2F3E-D817-4A86-8B38-DA66AA3872C1}" destId="{BF56F178-4644-4195-A25E-A9BD945B5834}" srcOrd="0" destOrd="0" parTransId="{4A153210-25DC-4054-BA00-6F9AAE5115F6}" sibTransId="{1CEFB01B-23D9-42A5-A512-1AE907E6731D}"/>
    <dgm:cxn modelId="{43617EBC-091B-4BE5-A418-3B5EBE75AAE5}" type="presOf" srcId="{645F71E6-71D3-4874-92DF-9DE027EADFAB}" destId="{BC813F6C-12D8-4E87-967C-E29D6259D11B}" srcOrd="0" destOrd="0" presId="urn:microsoft.com/office/officeart/2005/8/layout/hierarchy1"/>
    <dgm:cxn modelId="{5BD940DA-24CC-4EC4-8E17-4FAB05379EE3}" type="presOf" srcId="{BF56F178-4644-4195-A25E-A9BD945B5834}" destId="{58B6CD93-EEEB-440B-B740-7C2786BEC50F}" srcOrd="0" destOrd="0" presId="urn:microsoft.com/office/officeart/2005/8/layout/hierarchy1"/>
    <dgm:cxn modelId="{1D35C735-CE0E-4801-9A54-7E9594E06F3D}" type="presParOf" srcId="{F4951CAB-2EFB-460C-A465-8B595FFCB0F5}" destId="{07EF9219-3681-4F52-9787-BABDBB7A1428}" srcOrd="0" destOrd="0" presId="urn:microsoft.com/office/officeart/2005/8/layout/hierarchy1"/>
    <dgm:cxn modelId="{1CDC57CC-E832-4736-8D58-1BC9B7B9873C}" type="presParOf" srcId="{07EF9219-3681-4F52-9787-BABDBB7A1428}" destId="{FD85CC9A-3EFE-4FF3-80CB-C0AF7CCA5082}" srcOrd="0" destOrd="0" presId="urn:microsoft.com/office/officeart/2005/8/layout/hierarchy1"/>
    <dgm:cxn modelId="{45BD49ED-C6B2-470F-8E86-C11CE8B39561}" type="presParOf" srcId="{FD85CC9A-3EFE-4FF3-80CB-C0AF7CCA5082}" destId="{52E3FAC5-FB84-4EE9-A122-C89BAC9E4A99}" srcOrd="0" destOrd="0" presId="urn:microsoft.com/office/officeart/2005/8/layout/hierarchy1"/>
    <dgm:cxn modelId="{E4ECC6C8-2F67-4DED-9D7E-DC847C7B1367}" type="presParOf" srcId="{FD85CC9A-3EFE-4FF3-80CB-C0AF7CCA5082}" destId="{58B6CD93-EEEB-440B-B740-7C2786BEC50F}" srcOrd="1" destOrd="0" presId="urn:microsoft.com/office/officeart/2005/8/layout/hierarchy1"/>
    <dgm:cxn modelId="{EDAD5DC6-D743-422B-A17C-1ED329B9090C}" type="presParOf" srcId="{07EF9219-3681-4F52-9787-BABDBB7A1428}" destId="{D94090EC-12CC-4FC9-A609-B33AE917C731}" srcOrd="1" destOrd="0" presId="urn:microsoft.com/office/officeart/2005/8/layout/hierarchy1"/>
    <dgm:cxn modelId="{E77B0BA5-1705-4838-9B6C-E17953FC9451}" type="presParOf" srcId="{F4951CAB-2EFB-460C-A465-8B595FFCB0F5}" destId="{FF569CB4-2B90-4E50-8209-7B9DF7919C5F}" srcOrd="1" destOrd="0" presId="urn:microsoft.com/office/officeart/2005/8/layout/hierarchy1"/>
    <dgm:cxn modelId="{2A745A64-A731-4427-B5BC-335ECB44BE55}" type="presParOf" srcId="{FF569CB4-2B90-4E50-8209-7B9DF7919C5F}" destId="{4C9A7FD8-D006-4D78-9CCD-1F5A3864B042}" srcOrd="0" destOrd="0" presId="urn:microsoft.com/office/officeart/2005/8/layout/hierarchy1"/>
    <dgm:cxn modelId="{F6460B07-2DEB-4734-8848-A0130DED74B9}" type="presParOf" srcId="{4C9A7FD8-D006-4D78-9CCD-1F5A3864B042}" destId="{407D6C7E-9F6B-4B24-9DD4-15F936AEBE61}" srcOrd="0" destOrd="0" presId="urn:microsoft.com/office/officeart/2005/8/layout/hierarchy1"/>
    <dgm:cxn modelId="{6BA7B458-4166-4770-B4D8-6D60F0BA16F9}" type="presParOf" srcId="{4C9A7FD8-D006-4D78-9CCD-1F5A3864B042}" destId="{50199BA4-38D4-4765-8BCE-D1DA6A77BA74}" srcOrd="1" destOrd="0" presId="urn:microsoft.com/office/officeart/2005/8/layout/hierarchy1"/>
    <dgm:cxn modelId="{76D74543-165B-456B-AD71-221712B233DA}" type="presParOf" srcId="{FF569CB4-2B90-4E50-8209-7B9DF7919C5F}" destId="{F10971BB-9B76-48BE-A125-20C1A4419D18}" srcOrd="1" destOrd="0" presId="urn:microsoft.com/office/officeart/2005/8/layout/hierarchy1"/>
    <dgm:cxn modelId="{ED73DB0C-61B8-43F2-8D18-8A4775D3746D}" type="presParOf" srcId="{F4951CAB-2EFB-460C-A465-8B595FFCB0F5}" destId="{EC95D680-6BA1-49E7-9163-ED7D6DCC97DB}" srcOrd="2" destOrd="0" presId="urn:microsoft.com/office/officeart/2005/8/layout/hierarchy1"/>
    <dgm:cxn modelId="{6512975E-FBDB-46B0-B169-ED61D6903F18}" type="presParOf" srcId="{EC95D680-6BA1-49E7-9163-ED7D6DCC97DB}" destId="{1F2542E7-41D1-4D06-9F3A-EA565C4652DB}" srcOrd="0" destOrd="0" presId="urn:microsoft.com/office/officeart/2005/8/layout/hierarchy1"/>
    <dgm:cxn modelId="{FACB5BFE-E5F9-455F-A563-01846B260018}" type="presParOf" srcId="{1F2542E7-41D1-4D06-9F3A-EA565C4652DB}" destId="{4D232E99-8927-41C0-B43C-0446EC93D835}" srcOrd="0" destOrd="0" presId="urn:microsoft.com/office/officeart/2005/8/layout/hierarchy1"/>
    <dgm:cxn modelId="{4DEBFCD2-7C41-4873-AF36-7E74AE0D6C10}" type="presParOf" srcId="{1F2542E7-41D1-4D06-9F3A-EA565C4652DB}" destId="{BC813F6C-12D8-4E87-967C-E29D6259D11B}" srcOrd="1" destOrd="0" presId="urn:microsoft.com/office/officeart/2005/8/layout/hierarchy1"/>
    <dgm:cxn modelId="{712D2084-5653-449C-9DFE-E4AB0AD1C9FD}" type="presParOf" srcId="{EC95D680-6BA1-49E7-9163-ED7D6DCC97DB}" destId="{95A70713-245B-44F6-BBB2-2BBD978058B1}" srcOrd="1" destOrd="0" presId="urn:microsoft.com/office/officeart/2005/8/layout/hierarchy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350BEE9-F0BB-4751-85B8-21E23F90061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A5303A4-9ED8-4DBB-A5FF-E143E4BFD41E}">
      <dgm:prSet/>
      <dgm:spPr/>
      <dgm:t>
        <a:bodyPr/>
        <a:lstStyle/>
        <a:p>
          <a:pPr>
            <a:lnSpc>
              <a:spcPct val="100000"/>
            </a:lnSpc>
          </a:pPr>
          <a:r>
            <a:rPr lang="en-US" b="1"/>
            <a:t>Blockchain Integration:</a:t>
          </a:r>
          <a:r>
            <a:rPr lang="en-US"/>
            <a:t> Provides transparent and immutable records of incidents.</a:t>
          </a:r>
        </a:p>
      </dgm:t>
    </dgm:pt>
    <dgm:pt modelId="{7C4A4BD4-8321-4D79-9BC3-15F611A24376}" type="parTrans" cxnId="{D3CC0865-23EE-4716-85E3-223DF94E8407}">
      <dgm:prSet/>
      <dgm:spPr/>
      <dgm:t>
        <a:bodyPr/>
        <a:lstStyle/>
        <a:p>
          <a:endParaRPr lang="en-US"/>
        </a:p>
      </dgm:t>
    </dgm:pt>
    <dgm:pt modelId="{3FBE7819-B659-4179-A082-05EC67777D33}" type="sibTrans" cxnId="{D3CC0865-23EE-4716-85E3-223DF94E8407}">
      <dgm:prSet/>
      <dgm:spPr/>
      <dgm:t>
        <a:bodyPr/>
        <a:lstStyle/>
        <a:p>
          <a:endParaRPr lang="en-US"/>
        </a:p>
      </dgm:t>
    </dgm:pt>
    <dgm:pt modelId="{2089E7D9-CBD6-4A9E-B5C0-C2E0644FC78A}">
      <dgm:prSet/>
      <dgm:spPr/>
      <dgm:t>
        <a:bodyPr/>
        <a:lstStyle/>
        <a:p>
          <a:pPr rtl="0">
            <a:lnSpc>
              <a:spcPct val="100000"/>
            </a:lnSpc>
          </a:pPr>
          <a:r>
            <a:rPr lang="en-US" b="1"/>
            <a:t>Expanded Monitoring:</a:t>
          </a:r>
          <a:r>
            <a:rPr lang="en-US"/>
            <a:t> Utilizing AI to monitor </a:t>
          </a:r>
          <a:r>
            <a:rPr lang="en-US">
              <a:latin typeface="Century Gothic" panose="020B0502020202020204"/>
            </a:rPr>
            <a:t>other </a:t>
          </a:r>
          <a:r>
            <a:rPr lang="en-US"/>
            <a:t>environmental factors</a:t>
          </a:r>
          <a:r>
            <a:rPr lang="en-US">
              <a:latin typeface="Century Gothic" panose="020B0502020202020204"/>
            </a:rPr>
            <a:t>.</a:t>
          </a:r>
          <a:endParaRPr lang="en-US"/>
        </a:p>
      </dgm:t>
    </dgm:pt>
    <dgm:pt modelId="{E84D653C-3E90-4663-ADF5-B5C644EC4BAB}" type="parTrans" cxnId="{D0299C3A-9C32-4955-A134-809971E21BB4}">
      <dgm:prSet/>
      <dgm:spPr/>
      <dgm:t>
        <a:bodyPr/>
        <a:lstStyle/>
        <a:p>
          <a:endParaRPr lang="en-US"/>
        </a:p>
      </dgm:t>
    </dgm:pt>
    <dgm:pt modelId="{3B027BB0-465F-4B84-AD9B-566E182043D0}" type="sibTrans" cxnId="{D0299C3A-9C32-4955-A134-809971E21BB4}">
      <dgm:prSet/>
      <dgm:spPr/>
      <dgm:t>
        <a:bodyPr/>
        <a:lstStyle/>
        <a:p>
          <a:endParaRPr lang="en-US"/>
        </a:p>
      </dgm:t>
    </dgm:pt>
    <dgm:pt modelId="{CD09A1D7-961C-4850-A9D4-EE9BED3A2FDB}">
      <dgm:prSet/>
      <dgm:spPr/>
      <dgm:t>
        <a:bodyPr/>
        <a:lstStyle/>
        <a:p>
          <a:pPr>
            <a:lnSpc>
              <a:spcPct val="100000"/>
            </a:lnSpc>
          </a:pPr>
          <a:r>
            <a:rPr lang="en-US" b="1"/>
            <a:t>Innovative Solutions:</a:t>
          </a:r>
          <a:r>
            <a:rPr lang="en-US"/>
            <a:t> Incorporating advanced technologies positions the system at the forefront of wildfire prevention and environmental conservation.</a:t>
          </a:r>
        </a:p>
      </dgm:t>
    </dgm:pt>
    <dgm:pt modelId="{13B433C8-5608-4A99-893E-31109CB47D8B}" type="parTrans" cxnId="{B05F6B9C-9F13-485A-BB1B-3D3CD06FB03E}">
      <dgm:prSet/>
      <dgm:spPr/>
      <dgm:t>
        <a:bodyPr/>
        <a:lstStyle/>
        <a:p>
          <a:endParaRPr lang="en-US"/>
        </a:p>
      </dgm:t>
    </dgm:pt>
    <dgm:pt modelId="{445D6D75-B35D-476F-BE77-C598F5FB3172}" type="sibTrans" cxnId="{B05F6B9C-9F13-485A-BB1B-3D3CD06FB03E}">
      <dgm:prSet/>
      <dgm:spPr/>
      <dgm:t>
        <a:bodyPr/>
        <a:lstStyle/>
        <a:p>
          <a:endParaRPr lang="en-US"/>
        </a:p>
      </dgm:t>
    </dgm:pt>
    <dgm:pt modelId="{9DC76722-4870-4CC3-B10A-919DFD2F3BA1}" type="pres">
      <dgm:prSet presAssocID="{1350BEE9-F0BB-4751-85B8-21E23F900612}" presName="root" presStyleCnt="0">
        <dgm:presLayoutVars>
          <dgm:dir/>
          <dgm:resizeHandles val="exact"/>
        </dgm:presLayoutVars>
      </dgm:prSet>
      <dgm:spPr/>
    </dgm:pt>
    <dgm:pt modelId="{9629188A-DE22-4554-BACE-C3287295EFB8}" type="pres">
      <dgm:prSet presAssocID="{DA5303A4-9ED8-4DBB-A5FF-E143E4BFD41E}" presName="compNode" presStyleCnt="0"/>
      <dgm:spPr/>
    </dgm:pt>
    <dgm:pt modelId="{E4A8E176-4AF4-4800-A6D0-8661BDBA1BE8}" type="pres">
      <dgm:prSet presAssocID="{DA5303A4-9ED8-4DBB-A5FF-E143E4BFD41E}" presName="bgRect" presStyleLbl="bgShp" presStyleIdx="0" presStyleCnt="3"/>
      <dgm:spPr/>
    </dgm:pt>
    <dgm:pt modelId="{CDA55DA3-6D1B-4B24-82F5-F69C52903D5A}" type="pres">
      <dgm:prSet presAssocID="{DA5303A4-9ED8-4DBB-A5FF-E143E4BFD41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inger Print"/>
        </a:ext>
      </dgm:extLst>
    </dgm:pt>
    <dgm:pt modelId="{6B964B8C-0508-4161-B26A-4D56B8150C0E}" type="pres">
      <dgm:prSet presAssocID="{DA5303A4-9ED8-4DBB-A5FF-E143E4BFD41E}" presName="spaceRect" presStyleCnt="0"/>
      <dgm:spPr/>
    </dgm:pt>
    <dgm:pt modelId="{37196A59-1B71-4702-AFB5-AACE456F8E87}" type="pres">
      <dgm:prSet presAssocID="{DA5303A4-9ED8-4DBB-A5FF-E143E4BFD41E}" presName="parTx" presStyleLbl="revTx" presStyleIdx="0" presStyleCnt="3">
        <dgm:presLayoutVars>
          <dgm:chMax val="0"/>
          <dgm:chPref val="0"/>
        </dgm:presLayoutVars>
      </dgm:prSet>
      <dgm:spPr/>
    </dgm:pt>
    <dgm:pt modelId="{72007D0B-1B47-4BEC-8417-37046D9596CC}" type="pres">
      <dgm:prSet presAssocID="{3FBE7819-B659-4179-A082-05EC67777D33}" presName="sibTrans" presStyleCnt="0"/>
      <dgm:spPr/>
    </dgm:pt>
    <dgm:pt modelId="{67BDCE28-59CE-4E9D-B1F4-2501DCF0F623}" type="pres">
      <dgm:prSet presAssocID="{2089E7D9-CBD6-4A9E-B5C0-C2E0644FC78A}" presName="compNode" presStyleCnt="0"/>
      <dgm:spPr/>
    </dgm:pt>
    <dgm:pt modelId="{B9C04B72-975E-4EC2-800B-CC12D47601DE}" type="pres">
      <dgm:prSet presAssocID="{2089E7D9-CBD6-4A9E-B5C0-C2E0644FC78A}" presName="bgRect" presStyleLbl="bgShp" presStyleIdx="1" presStyleCnt="3"/>
      <dgm:spPr/>
    </dgm:pt>
    <dgm:pt modelId="{F8D4A3B2-34C9-48AA-B285-B2CD79ECF047}" type="pres">
      <dgm:prSet presAssocID="{2089E7D9-CBD6-4A9E-B5C0-C2E0644FC78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ustainability"/>
        </a:ext>
      </dgm:extLst>
    </dgm:pt>
    <dgm:pt modelId="{2995A49F-2F2F-4B42-8733-5FB48C4D3A79}" type="pres">
      <dgm:prSet presAssocID="{2089E7D9-CBD6-4A9E-B5C0-C2E0644FC78A}" presName="spaceRect" presStyleCnt="0"/>
      <dgm:spPr/>
    </dgm:pt>
    <dgm:pt modelId="{73EFE46F-F87D-4A77-9FC0-87008405F6B0}" type="pres">
      <dgm:prSet presAssocID="{2089E7D9-CBD6-4A9E-B5C0-C2E0644FC78A}" presName="parTx" presStyleLbl="revTx" presStyleIdx="1" presStyleCnt="3">
        <dgm:presLayoutVars>
          <dgm:chMax val="0"/>
          <dgm:chPref val="0"/>
        </dgm:presLayoutVars>
      </dgm:prSet>
      <dgm:spPr/>
    </dgm:pt>
    <dgm:pt modelId="{FDB251D3-0B0A-4F02-86F4-3B00AAA33A39}" type="pres">
      <dgm:prSet presAssocID="{3B027BB0-465F-4B84-AD9B-566E182043D0}" presName="sibTrans" presStyleCnt="0"/>
      <dgm:spPr/>
    </dgm:pt>
    <dgm:pt modelId="{2A424119-397D-4910-8862-A18BD68DF3E4}" type="pres">
      <dgm:prSet presAssocID="{CD09A1D7-961C-4850-A9D4-EE9BED3A2FDB}" presName="compNode" presStyleCnt="0"/>
      <dgm:spPr/>
    </dgm:pt>
    <dgm:pt modelId="{32E7F387-D15D-4DD4-A63C-7659F3C1F1D8}" type="pres">
      <dgm:prSet presAssocID="{CD09A1D7-961C-4850-A9D4-EE9BED3A2FDB}" presName="bgRect" presStyleLbl="bgShp" presStyleIdx="2" presStyleCnt="3"/>
      <dgm:spPr/>
    </dgm:pt>
    <dgm:pt modelId="{7ACE2BF7-12B8-48F1-A86B-132BDF127464}" type="pres">
      <dgm:prSet presAssocID="{CD09A1D7-961C-4850-A9D4-EE9BED3A2FD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irefighter"/>
        </a:ext>
      </dgm:extLst>
    </dgm:pt>
    <dgm:pt modelId="{E96DF4FC-FCB6-45BC-92FA-66E11B69B5A2}" type="pres">
      <dgm:prSet presAssocID="{CD09A1D7-961C-4850-A9D4-EE9BED3A2FDB}" presName="spaceRect" presStyleCnt="0"/>
      <dgm:spPr/>
    </dgm:pt>
    <dgm:pt modelId="{F62BCD89-7F38-40FF-8335-A55887D1BA16}" type="pres">
      <dgm:prSet presAssocID="{CD09A1D7-961C-4850-A9D4-EE9BED3A2FDB}" presName="parTx" presStyleLbl="revTx" presStyleIdx="2" presStyleCnt="3">
        <dgm:presLayoutVars>
          <dgm:chMax val="0"/>
          <dgm:chPref val="0"/>
        </dgm:presLayoutVars>
      </dgm:prSet>
      <dgm:spPr/>
    </dgm:pt>
  </dgm:ptLst>
  <dgm:cxnLst>
    <dgm:cxn modelId="{8359E001-99E8-4D9B-97B2-D9B37CB83D8B}" type="presOf" srcId="{DA5303A4-9ED8-4DBB-A5FF-E143E4BFD41E}" destId="{37196A59-1B71-4702-AFB5-AACE456F8E87}" srcOrd="0" destOrd="0" presId="urn:microsoft.com/office/officeart/2018/2/layout/IconVerticalSolidList"/>
    <dgm:cxn modelId="{7C3CE011-D5F4-4C3B-AA5A-D180713851F0}" type="presOf" srcId="{2089E7D9-CBD6-4A9E-B5C0-C2E0644FC78A}" destId="{73EFE46F-F87D-4A77-9FC0-87008405F6B0}" srcOrd="0" destOrd="0" presId="urn:microsoft.com/office/officeart/2018/2/layout/IconVerticalSolidList"/>
    <dgm:cxn modelId="{D0299C3A-9C32-4955-A134-809971E21BB4}" srcId="{1350BEE9-F0BB-4751-85B8-21E23F900612}" destId="{2089E7D9-CBD6-4A9E-B5C0-C2E0644FC78A}" srcOrd="1" destOrd="0" parTransId="{E84D653C-3E90-4663-ADF5-B5C644EC4BAB}" sibTransId="{3B027BB0-465F-4B84-AD9B-566E182043D0}"/>
    <dgm:cxn modelId="{D3CC0865-23EE-4716-85E3-223DF94E8407}" srcId="{1350BEE9-F0BB-4751-85B8-21E23F900612}" destId="{DA5303A4-9ED8-4DBB-A5FF-E143E4BFD41E}" srcOrd="0" destOrd="0" parTransId="{7C4A4BD4-8321-4D79-9BC3-15F611A24376}" sibTransId="{3FBE7819-B659-4179-A082-05EC67777D33}"/>
    <dgm:cxn modelId="{B05F6B9C-9F13-485A-BB1B-3D3CD06FB03E}" srcId="{1350BEE9-F0BB-4751-85B8-21E23F900612}" destId="{CD09A1D7-961C-4850-A9D4-EE9BED3A2FDB}" srcOrd="2" destOrd="0" parTransId="{13B433C8-5608-4A99-893E-31109CB47D8B}" sibTransId="{445D6D75-B35D-476F-BE77-C598F5FB3172}"/>
    <dgm:cxn modelId="{861E4AA7-03E5-4B24-B4EC-1360A72678C7}" type="presOf" srcId="{CD09A1D7-961C-4850-A9D4-EE9BED3A2FDB}" destId="{F62BCD89-7F38-40FF-8335-A55887D1BA16}" srcOrd="0" destOrd="0" presId="urn:microsoft.com/office/officeart/2018/2/layout/IconVerticalSolidList"/>
    <dgm:cxn modelId="{CC63CEC2-D685-45B6-8CE1-C8A44CB5A88D}" type="presOf" srcId="{1350BEE9-F0BB-4751-85B8-21E23F900612}" destId="{9DC76722-4870-4CC3-B10A-919DFD2F3BA1}" srcOrd="0" destOrd="0" presId="urn:microsoft.com/office/officeart/2018/2/layout/IconVerticalSolidList"/>
    <dgm:cxn modelId="{5E2E09F0-2C59-4F85-9F1B-A85A24E94E19}" type="presParOf" srcId="{9DC76722-4870-4CC3-B10A-919DFD2F3BA1}" destId="{9629188A-DE22-4554-BACE-C3287295EFB8}" srcOrd="0" destOrd="0" presId="urn:microsoft.com/office/officeart/2018/2/layout/IconVerticalSolidList"/>
    <dgm:cxn modelId="{BD982CC9-C6C9-4C92-863C-EB3FCE1D2A72}" type="presParOf" srcId="{9629188A-DE22-4554-BACE-C3287295EFB8}" destId="{E4A8E176-4AF4-4800-A6D0-8661BDBA1BE8}" srcOrd="0" destOrd="0" presId="urn:microsoft.com/office/officeart/2018/2/layout/IconVerticalSolidList"/>
    <dgm:cxn modelId="{389A3C4E-9365-48D2-9308-A5458004EF0C}" type="presParOf" srcId="{9629188A-DE22-4554-BACE-C3287295EFB8}" destId="{CDA55DA3-6D1B-4B24-82F5-F69C52903D5A}" srcOrd="1" destOrd="0" presId="urn:microsoft.com/office/officeart/2018/2/layout/IconVerticalSolidList"/>
    <dgm:cxn modelId="{D6CB7D49-4568-477E-949E-69CCD5F910BB}" type="presParOf" srcId="{9629188A-DE22-4554-BACE-C3287295EFB8}" destId="{6B964B8C-0508-4161-B26A-4D56B8150C0E}" srcOrd="2" destOrd="0" presId="urn:microsoft.com/office/officeart/2018/2/layout/IconVerticalSolidList"/>
    <dgm:cxn modelId="{B8CC5D87-2364-47E1-9A5F-19C73D05AD89}" type="presParOf" srcId="{9629188A-DE22-4554-BACE-C3287295EFB8}" destId="{37196A59-1B71-4702-AFB5-AACE456F8E87}" srcOrd="3" destOrd="0" presId="urn:microsoft.com/office/officeart/2018/2/layout/IconVerticalSolidList"/>
    <dgm:cxn modelId="{9B834C5C-B8CC-444D-BB4D-A4BD1D69A2F3}" type="presParOf" srcId="{9DC76722-4870-4CC3-B10A-919DFD2F3BA1}" destId="{72007D0B-1B47-4BEC-8417-37046D9596CC}" srcOrd="1" destOrd="0" presId="urn:microsoft.com/office/officeart/2018/2/layout/IconVerticalSolidList"/>
    <dgm:cxn modelId="{87A8070B-E9A6-492B-A7E0-B454B32354C4}" type="presParOf" srcId="{9DC76722-4870-4CC3-B10A-919DFD2F3BA1}" destId="{67BDCE28-59CE-4E9D-B1F4-2501DCF0F623}" srcOrd="2" destOrd="0" presId="urn:microsoft.com/office/officeart/2018/2/layout/IconVerticalSolidList"/>
    <dgm:cxn modelId="{644BEFAF-58BB-4F06-8690-B90C90946D23}" type="presParOf" srcId="{67BDCE28-59CE-4E9D-B1F4-2501DCF0F623}" destId="{B9C04B72-975E-4EC2-800B-CC12D47601DE}" srcOrd="0" destOrd="0" presId="urn:microsoft.com/office/officeart/2018/2/layout/IconVerticalSolidList"/>
    <dgm:cxn modelId="{A72A109C-4510-405A-A694-C7FC7EB4BF5C}" type="presParOf" srcId="{67BDCE28-59CE-4E9D-B1F4-2501DCF0F623}" destId="{F8D4A3B2-34C9-48AA-B285-B2CD79ECF047}" srcOrd="1" destOrd="0" presId="urn:microsoft.com/office/officeart/2018/2/layout/IconVerticalSolidList"/>
    <dgm:cxn modelId="{1E78F129-1CA5-4E51-8E86-F23BD1CDEA38}" type="presParOf" srcId="{67BDCE28-59CE-4E9D-B1F4-2501DCF0F623}" destId="{2995A49F-2F2F-4B42-8733-5FB48C4D3A79}" srcOrd="2" destOrd="0" presId="urn:microsoft.com/office/officeart/2018/2/layout/IconVerticalSolidList"/>
    <dgm:cxn modelId="{34A33608-F6F9-46DB-9F26-81F70C51AFB1}" type="presParOf" srcId="{67BDCE28-59CE-4E9D-B1F4-2501DCF0F623}" destId="{73EFE46F-F87D-4A77-9FC0-87008405F6B0}" srcOrd="3" destOrd="0" presId="urn:microsoft.com/office/officeart/2018/2/layout/IconVerticalSolidList"/>
    <dgm:cxn modelId="{A34B5E0D-7047-4703-9272-544FB4D11121}" type="presParOf" srcId="{9DC76722-4870-4CC3-B10A-919DFD2F3BA1}" destId="{FDB251D3-0B0A-4F02-86F4-3B00AAA33A39}" srcOrd="3" destOrd="0" presId="urn:microsoft.com/office/officeart/2018/2/layout/IconVerticalSolidList"/>
    <dgm:cxn modelId="{79E7E729-A56E-4FCD-AF05-A64D952EF044}" type="presParOf" srcId="{9DC76722-4870-4CC3-B10A-919DFD2F3BA1}" destId="{2A424119-397D-4910-8862-A18BD68DF3E4}" srcOrd="4" destOrd="0" presId="urn:microsoft.com/office/officeart/2018/2/layout/IconVerticalSolidList"/>
    <dgm:cxn modelId="{B1AC04DD-6616-4E49-AB65-79D575BB31A8}" type="presParOf" srcId="{2A424119-397D-4910-8862-A18BD68DF3E4}" destId="{32E7F387-D15D-4DD4-A63C-7659F3C1F1D8}" srcOrd="0" destOrd="0" presId="urn:microsoft.com/office/officeart/2018/2/layout/IconVerticalSolidList"/>
    <dgm:cxn modelId="{3D4E1D86-7F53-42B0-97A7-2D1B60AFDE70}" type="presParOf" srcId="{2A424119-397D-4910-8862-A18BD68DF3E4}" destId="{7ACE2BF7-12B8-48F1-A86B-132BDF127464}" srcOrd="1" destOrd="0" presId="urn:microsoft.com/office/officeart/2018/2/layout/IconVerticalSolidList"/>
    <dgm:cxn modelId="{16A0F9C6-C90E-46D6-BDD7-E1756497CFD5}" type="presParOf" srcId="{2A424119-397D-4910-8862-A18BD68DF3E4}" destId="{E96DF4FC-FCB6-45BC-92FA-66E11B69B5A2}" srcOrd="2" destOrd="0" presId="urn:microsoft.com/office/officeart/2018/2/layout/IconVerticalSolidList"/>
    <dgm:cxn modelId="{794F702B-D54F-4210-BBD0-E6CFDCDE0061}" type="presParOf" srcId="{2A424119-397D-4910-8862-A18BD68DF3E4}" destId="{F62BCD89-7F38-40FF-8335-A55887D1BA16}"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6678AB-951D-41E7-B379-23431796CFC2}">
      <dsp:nvSpPr>
        <dsp:cNvPr id="0" name=""/>
        <dsp:cNvSpPr/>
      </dsp:nvSpPr>
      <dsp:spPr>
        <a:xfrm>
          <a:off x="26899" y="793138"/>
          <a:ext cx="2170958" cy="137855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3D8CBC-F5D1-4E41-97FA-C97D9A470255}">
      <dsp:nvSpPr>
        <dsp:cNvPr id="0" name=""/>
        <dsp:cNvSpPr/>
      </dsp:nvSpPr>
      <dsp:spPr>
        <a:xfrm>
          <a:off x="268117" y="1022295"/>
          <a:ext cx="2170958" cy="137855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baseline="0"/>
            <a:t>Maheen</a:t>
          </a:r>
          <a:r>
            <a:rPr lang="en-US" sz="2600" b="0" i="0" kern="1200" baseline="0"/>
            <a:t> – [Project Designer]</a:t>
          </a:r>
          <a:endParaRPr lang="en-US" sz="2600" kern="1200"/>
        </a:p>
      </dsp:txBody>
      <dsp:txXfrm>
        <a:off x="308494" y="1062672"/>
        <a:ext cx="2090204" cy="1297804"/>
      </dsp:txXfrm>
    </dsp:sp>
    <dsp:sp modelId="{2D215671-1A94-45D7-97C4-28652C384E7E}">
      <dsp:nvSpPr>
        <dsp:cNvPr id="0" name=""/>
        <dsp:cNvSpPr/>
      </dsp:nvSpPr>
      <dsp:spPr>
        <a:xfrm>
          <a:off x="2656434" y="801093"/>
          <a:ext cx="2170958" cy="137855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269F4D-8A4F-439C-8425-0275B91FFE0A}">
      <dsp:nvSpPr>
        <dsp:cNvPr id="0" name=""/>
        <dsp:cNvSpPr/>
      </dsp:nvSpPr>
      <dsp:spPr>
        <a:xfrm>
          <a:off x="2897652" y="1030249"/>
          <a:ext cx="2170958" cy="137855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baseline="0"/>
            <a:t>Sarah</a:t>
          </a:r>
          <a:r>
            <a:rPr lang="en-US" sz="2600" b="0" i="0" kern="1200" baseline="0"/>
            <a:t> – [Project Developer]</a:t>
          </a:r>
          <a:endParaRPr lang="en-US" sz="2600" kern="1200"/>
        </a:p>
      </dsp:txBody>
      <dsp:txXfrm>
        <a:off x="2938029" y="1070626"/>
        <a:ext cx="2090204" cy="1297804"/>
      </dsp:txXfrm>
    </dsp:sp>
    <dsp:sp modelId="{76D80DC6-1EB4-4210-AA76-293E39C08872}">
      <dsp:nvSpPr>
        <dsp:cNvPr id="0" name=""/>
        <dsp:cNvSpPr/>
      </dsp:nvSpPr>
      <dsp:spPr>
        <a:xfrm>
          <a:off x="5309828" y="801093"/>
          <a:ext cx="2170958" cy="137855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BCFDE8-3CBB-4FDD-960B-7E12E5F8A2B8}">
      <dsp:nvSpPr>
        <dsp:cNvPr id="0" name=""/>
        <dsp:cNvSpPr/>
      </dsp:nvSpPr>
      <dsp:spPr>
        <a:xfrm>
          <a:off x="5551046" y="1030249"/>
          <a:ext cx="2170958" cy="137855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baseline="0"/>
            <a:t>Hannah</a:t>
          </a:r>
          <a:r>
            <a:rPr lang="en-US" sz="2600" b="0" i="0" kern="1200" baseline="0"/>
            <a:t> – [Data Analyst]</a:t>
          </a:r>
          <a:endParaRPr lang="en-US" sz="2600" kern="1200"/>
        </a:p>
      </dsp:txBody>
      <dsp:txXfrm>
        <a:off x="5591423" y="1070626"/>
        <a:ext cx="2090204" cy="1297804"/>
      </dsp:txXfrm>
    </dsp:sp>
    <dsp:sp modelId="{9C8B4714-A52D-453B-A5F9-EF61E5589B57}">
      <dsp:nvSpPr>
        <dsp:cNvPr id="0" name=""/>
        <dsp:cNvSpPr/>
      </dsp:nvSpPr>
      <dsp:spPr>
        <a:xfrm>
          <a:off x="7963222" y="801093"/>
          <a:ext cx="2170958" cy="1378558"/>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672AC3-3E31-47D0-92DE-DFE8A10EE0FA}">
      <dsp:nvSpPr>
        <dsp:cNvPr id="0" name=""/>
        <dsp:cNvSpPr/>
      </dsp:nvSpPr>
      <dsp:spPr>
        <a:xfrm>
          <a:off x="8204440" y="1030249"/>
          <a:ext cx="2170958" cy="1378558"/>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baseline="0"/>
            <a:t>Pralay</a:t>
          </a:r>
          <a:r>
            <a:rPr lang="en-US" sz="2600" b="0" i="0" kern="1200" baseline="0"/>
            <a:t> – [Project Manager] </a:t>
          </a:r>
          <a:endParaRPr lang="en-US" sz="2600" kern="1200"/>
        </a:p>
      </dsp:txBody>
      <dsp:txXfrm>
        <a:off x="8244817" y="1070626"/>
        <a:ext cx="2090204" cy="12978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D17507-B2A3-4EA6-91A7-DE45167512AA}">
      <dsp:nvSpPr>
        <dsp:cNvPr id="0" name=""/>
        <dsp:cNvSpPr/>
      </dsp:nvSpPr>
      <dsp:spPr>
        <a:xfrm>
          <a:off x="0" y="545"/>
          <a:ext cx="5919503" cy="12770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C02AD4-2700-48BA-BFAB-4E41EF6B86B0}">
      <dsp:nvSpPr>
        <dsp:cNvPr id="0" name=""/>
        <dsp:cNvSpPr/>
      </dsp:nvSpPr>
      <dsp:spPr>
        <a:xfrm>
          <a:off x="386312" y="287885"/>
          <a:ext cx="702386" cy="7023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553D89-33B7-41ED-B5AB-1B4B2DBC4E3C}">
      <dsp:nvSpPr>
        <dsp:cNvPr id="0" name=""/>
        <dsp:cNvSpPr/>
      </dsp:nvSpPr>
      <dsp:spPr>
        <a:xfrm>
          <a:off x="1475010" y="545"/>
          <a:ext cx="4444492" cy="1277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56" tIns="135156" rIns="135156" bIns="135156" numCol="1" spcCol="1270" anchor="ctr" anchorCtr="0">
          <a:noAutofit/>
        </a:bodyPr>
        <a:lstStyle/>
        <a:p>
          <a:pPr marL="0" lvl="0" indent="0" algn="l" defTabSz="977900">
            <a:lnSpc>
              <a:spcPct val="100000"/>
            </a:lnSpc>
            <a:spcBef>
              <a:spcPct val="0"/>
            </a:spcBef>
            <a:spcAft>
              <a:spcPct val="35000"/>
            </a:spcAft>
            <a:buNone/>
          </a:pPr>
          <a:r>
            <a:rPr lang="en-US" sz="2200" kern="1200"/>
            <a:t>AI- Powered drones will detect, analyze, and suppress wildfires </a:t>
          </a:r>
        </a:p>
      </dsp:txBody>
      <dsp:txXfrm>
        <a:off x="1475010" y="545"/>
        <a:ext cx="4444492" cy="1277065"/>
      </dsp:txXfrm>
    </dsp:sp>
    <dsp:sp modelId="{C315349E-8B76-470B-AFDF-E0D719089211}">
      <dsp:nvSpPr>
        <dsp:cNvPr id="0" name=""/>
        <dsp:cNvSpPr/>
      </dsp:nvSpPr>
      <dsp:spPr>
        <a:xfrm>
          <a:off x="0" y="1596877"/>
          <a:ext cx="5919503" cy="12770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DFA40F-4C8D-44B0-B764-DF28AAC5F978}">
      <dsp:nvSpPr>
        <dsp:cNvPr id="0" name=""/>
        <dsp:cNvSpPr/>
      </dsp:nvSpPr>
      <dsp:spPr>
        <a:xfrm>
          <a:off x="386312" y="1884217"/>
          <a:ext cx="702386" cy="7023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4650FD-303C-45AF-8A44-3F44F00AC420}">
      <dsp:nvSpPr>
        <dsp:cNvPr id="0" name=""/>
        <dsp:cNvSpPr/>
      </dsp:nvSpPr>
      <dsp:spPr>
        <a:xfrm>
          <a:off x="1475010" y="1596877"/>
          <a:ext cx="4444492" cy="1277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56" tIns="135156" rIns="135156" bIns="135156" numCol="1" spcCol="1270" anchor="ctr" anchorCtr="0">
          <a:noAutofit/>
        </a:bodyPr>
        <a:lstStyle/>
        <a:p>
          <a:pPr marL="0" lvl="0" indent="0" algn="l" defTabSz="977900">
            <a:lnSpc>
              <a:spcPct val="100000"/>
            </a:lnSpc>
            <a:spcBef>
              <a:spcPct val="0"/>
            </a:spcBef>
            <a:spcAft>
              <a:spcPct val="35000"/>
            </a:spcAft>
            <a:buNone/>
          </a:pPr>
          <a:r>
            <a:rPr lang="en-US" sz="2200" kern="1200"/>
            <a:t>Use of AI, thermal imaging, and Starlink</a:t>
          </a:r>
        </a:p>
      </dsp:txBody>
      <dsp:txXfrm>
        <a:off x="1475010" y="1596877"/>
        <a:ext cx="4444492" cy="1277065"/>
      </dsp:txXfrm>
    </dsp:sp>
    <dsp:sp modelId="{139F5C82-255B-4292-8BD4-62FE8434C210}">
      <dsp:nvSpPr>
        <dsp:cNvPr id="0" name=""/>
        <dsp:cNvSpPr/>
      </dsp:nvSpPr>
      <dsp:spPr>
        <a:xfrm>
          <a:off x="0" y="3193209"/>
          <a:ext cx="5919503" cy="12770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45A23D-F25E-4613-A9BD-268788F6DFED}">
      <dsp:nvSpPr>
        <dsp:cNvPr id="0" name=""/>
        <dsp:cNvSpPr/>
      </dsp:nvSpPr>
      <dsp:spPr>
        <a:xfrm>
          <a:off x="386312" y="3480549"/>
          <a:ext cx="702386" cy="7023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955547-85C6-4EB7-831A-A16337307ED7}">
      <dsp:nvSpPr>
        <dsp:cNvPr id="0" name=""/>
        <dsp:cNvSpPr/>
      </dsp:nvSpPr>
      <dsp:spPr>
        <a:xfrm>
          <a:off x="1475010" y="3193209"/>
          <a:ext cx="4444492" cy="1277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56" tIns="135156" rIns="135156" bIns="135156" numCol="1" spcCol="1270" anchor="ctr" anchorCtr="0">
          <a:noAutofit/>
        </a:bodyPr>
        <a:lstStyle/>
        <a:p>
          <a:pPr marL="0" lvl="0" indent="0" algn="l" defTabSz="977900">
            <a:lnSpc>
              <a:spcPct val="100000"/>
            </a:lnSpc>
            <a:spcBef>
              <a:spcPct val="0"/>
            </a:spcBef>
            <a:spcAft>
              <a:spcPct val="35000"/>
            </a:spcAft>
            <a:buNone/>
          </a:pPr>
          <a:r>
            <a:rPr lang="en-US" sz="2200" kern="1200"/>
            <a:t>Real time decision making with AI</a:t>
          </a:r>
        </a:p>
      </dsp:txBody>
      <dsp:txXfrm>
        <a:off x="1475010" y="3193209"/>
        <a:ext cx="4444492" cy="12770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02AF54-D30C-E04B-9026-E97B128B5DA8}">
      <dsp:nvSpPr>
        <dsp:cNvPr id="0" name=""/>
        <dsp:cNvSpPr/>
      </dsp:nvSpPr>
      <dsp:spPr>
        <a:xfrm>
          <a:off x="0" y="2232"/>
          <a:ext cx="6496050" cy="0"/>
        </a:xfrm>
        <a:prstGeom prst="line">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C7B4B989-D4EE-C74A-9CDF-C69F0DD6DF26}">
      <dsp:nvSpPr>
        <dsp:cNvPr id="0" name=""/>
        <dsp:cNvSpPr/>
      </dsp:nvSpPr>
      <dsp:spPr>
        <a:xfrm>
          <a:off x="0" y="2232"/>
          <a:ext cx="6496050"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1" i="0" kern="1200"/>
            <a:t>Early Detection</a:t>
          </a:r>
          <a:r>
            <a:rPr lang="en-US" sz="3100" b="0" i="0" kern="1200"/>
            <a:t>: AI-driven thermal sensors can identify fires in the earliest stages.</a:t>
          </a:r>
          <a:endParaRPr lang="en-US" sz="3100" kern="1200"/>
        </a:p>
      </dsp:txBody>
      <dsp:txXfrm>
        <a:off x="0" y="2232"/>
        <a:ext cx="6496050" cy="1522511"/>
      </dsp:txXfrm>
    </dsp:sp>
    <dsp:sp modelId="{AF0D0F31-B3F2-CF4D-ADB3-54F362A98902}">
      <dsp:nvSpPr>
        <dsp:cNvPr id="0" name=""/>
        <dsp:cNvSpPr/>
      </dsp:nvSpPr>
      <dsp:spPr>
        <a:xfrm>
          <a:off x="0" y="1524744"/>
          <a:ext cx="6496050" cy="0"/>
        </a:xfrm>
        <a:prstGeom prst="line">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w="9525" cap="rnd" cmpd="sng" algn="ctr">
          <a:solidFill>
            <a:schemeClr val="accent3">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01EB6FA8-0A36-F244-B069-FC10264DEFB3}">
      <dsp:nvSpPr>
        <dsp:cNvPr id="0" name=""/>
        <dsp:cNvSpPr/>
      </dsp:nvSpPr>
      <dsp:spPr>
        <a:xfrm>
          <a:off x="0" y="1524744"/>
          <a:ext cx="6496050"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1" i="0" kern="1200"/>
            <a:t>Rapid Response</a:t>
          </a:r>
          <a:r>
            <a:rPr lang="en-US" sz="3100" b="0" i="0" kern="1200"/>
            <a:t>: Autonomous drones deploy instantly</a:t>
          </a:r>
          <a:endParaRPr lang="en-US" sz="3100" kern="1200"/>
        </a:p>
      </dsp:txBody>
      <dsp:txXfrm>
        <a:off x="0" y="1524744"/>
        <a:ext cx="6496050" cy="1522511"/>
      </dsp:txXfrm>
    </dsp:sp>
    <dsp:sp modelId="{15D43167-B576-A149-BC60-FA188D0C6DEE}">
      <dsp:nvSpPr>
        <dsp:cNvPr id="0" name=""/>
        <dsp:cNvSpPr/>
      </dsp:nvSpPr>
      <dsp:spPr>
        <a:xfrm>
          <a:off x="0" y="3047255"/>
          <a:ext cx="6496050" cy="0"/>
        </a:xfrm>
        <a:prstGeom prst="line">
          <a:avLst/>
        </a:prstGeom>
        <a:gradFill rotWithShape="0">
          <a:gsLst>
            <a:gs pos="0">
              <a:schemeClr val="accent4">
                <a:hueOff val="0"/>
                <a:satOff val="0"/>
                <a:lumOff val="0"/>
                <a:alphaOff val="0"/>
                <a:tint val="98000"/>
                <a:lumMod val="114000"/>
              </a:schemeClr>
            </a:gs>
            <a:gs pos="100000">
              <a:schemeClr val="accent4">
                <a:hueOff val="0"/>
                <a:satOff val="0"/>
                <a:lumOff val="0"/>
                <a:alphaOff val="0"/>
                <a:shade val="90000"/>
                <a:lumMod val="84000"/>
              </a:schemeClr>
            </a:gs>
          </a:gsLst>
          <a:lin ang="5400000" scaled="0"/>
        </a:gradFill>
        <a:ln w="9525" cap="rnd" cmpd="sng" algn="ctr">
          <a:solidFill>
            <a:schemeClr val="accent4">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86FF6447-AEEE-1B4A-AB6C-E69EACE054CE}">
      <dsp:nvSpPr>
        <dsp:cNvPr id="0" name=""/>
        <dsp:cNvSpPr/>
      </dsp:nvSpPr>
      <dsp:spPr>
        <a:xfrm>
          <a:off x="0" y="3047255"/>
          <a:ext cx="6496050"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1" i="0" kern="1200"/>
            <a:t>Sustainable</a:t>
          </a:r>
          <a:r>
            <a:rPr lang="en-US" sz="3100" b="0" i="0" kern="1200"/>
            <a:t>: Solar-powered infrastructure will ensure uninterrupted operations.</a:t>
          </a:r>
          <a:endParaRPr lang="en-US" sz="3100" kern="1200"/>
        </a:p>
      </dsp:txBody>
      <dsp:txXfrm>
        <a:off x="0" y="3047255"/>
        <a:ext cx="6496050" cy="15225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93B470-5CDD-3E43-A2BF-6F79BAD17487}">
      <dsp:nvSpPr>
        <dsp:cNvPr id="0" name=""/>
        <dsp:cNvSpPr/>
      </dsp:nvSpPr>
      <dsp:spPr>
        <a:xfrm>
          <a:off x="0" y="882141"/>
          <a:ext cx="2747218" cy="174448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CBCE5E-F932-CF41-81A5-99E3DDD57492}">
      <dsp:nvSpPr>
        <dsp:cNvPr id="0" name=""/>
        <dsp:cNvSpPr/>
      </dsp:nvSpPr>
      <dsp:spPr>
        <a:xfrm>
          <a:off x="305246" y="1172125"/>
          <a:ext cx="2747218" cy="174448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i="0" kern="1200"/>
            <a:t>Will Combine detection, alerts, and suppression</a:t>
          </a:r>
          <a:r>
            <a:rPr lang="en-US" sz="2300" b="0" i="0" kern="1200"/>
            <a:t> in one system. </a:t>
          </a:r>
          <a:endParaRPr lang="en-US" sz="2300" kern="1200"/>
        </a:p>
      </dsp:txBody>
      <dsp:txXfrm>
        <a:off x="356340" y="1223219"/>
        <a:ext cx="2645030" cy="1642295"/>
      </dsp:txXfrm>
    </dsp:sp>
    <dsp:sp modelId="{D8DAF851-C893-4D4D-8FC3-D15C81D22C36}">
      <dsp:nvSpPr>
        <dsp:cNvPr id="0" name=""/>
        <dsp:cNvSpPr/>
      </dsp:nvSpPr>
      <dsp:spPr>
        <a:xfrm>
          <a:off x="3357711" y="882141"/>
          <a:ext cx="2747218" cy="174448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202271-E981-F745-8DE6-AF18E36FC6E2}">
      <dsp:nvSpPr>
        <dsp:cNvPr id="0" name=""/>
        <dsp:cNvSpPr/>
      </dsp:nvSpPr>
      <dsp:spPr>
        <a:xfrm>
          <a:off x="3662958" y="1172125"/>
          <a:ext cx="2747218" cy="174448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i="0" kern="1200"/>
            <a:t>Faster &amp; more efficient</a:t>
          </a:r>
          <a:r>
            <a:rPr lang="en-US" sz="2300" b="0" i="0" kern="1200"/>
            <a:t> than traditional firefighting.</a:t>
          </a:r>
          <a:endParaRPr lang="en-US" sz="2300" kern="1200"/>
        </a:p>
      </dsp:txBody>
      <dsp:txXfrm>
        <a:off x="3714052" y="1223219"/>
        <a:ext cx="2645030" cy="1642295"/>
      </dsp:txXfrm>
    </dsp:sp>
    <dsp:sp modelId="{25A0E161-2999-B446-9EB2-CBDB6B857A2F}">
      <dsp:nvSpPr>
        <dsp:cNvPr id="0" name=""/>
        <dsp:cNvSpPr/>
      </dsp:nvSpPr>
      <dsp:spPr>
        <a:xfrm>
          <a:off x="6715423" y="882141"/>
          <a:ext cx="2747218" cy="174448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33890D-A456-4742-AB77-B99E038CA461}">
      <dsp:nvSpPr>
        <dsp:cNvPr id="0" name=""/>
        <dsp:cNvSpPr/>
      </dsp:nvSpPr>
      <dsp:spPr>
        <a:xfrm>
          <a:off x="7020669" y="1172125"/>
          <a:ext cx="2747218" cy="174448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i="0" kern="1200"/>
            <a:t>Sustainable &amp; scalable</a:t>
          </a:r>
          <a:r>
            <a:rPr lang="en-US" sz="2300" b="0" i="0" kern="1200"/>
            <a:t> for long-term impact.</a:t>
          </a:r>
          <a:endParaRPr lang="en-US" sz="2300" kern="1200"/>
        </a:p>
      </dsp:txBody>
      <dsp:txXfrm>
        <a:off x="7071763" y="1223219"/>
        <a:ext cx="2645030" cy="16422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D17507-B2A3-4EA6-91A7-DE45167512AA}">
      <dsp:nvSpPr>
        <dsp:cNvPr id="0" name=""/>
        <dsp:cNvSpPr/>
      </dsp:nvSpPr>
      <dsp:spPr>
        <a:xfrm>
          <a:off x="0" y="0"/>
          <a:ext cx="5919503" cy="12770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C02AD4-2700-48BA-BFAB-4E41EF6B86B0}">
      <dsp:nvSpPr>
        <dsp:cNvPr id="0" name=""/>
        <dsp:cNvSpPr/>
      </dsp:nvSpPr>
      <dsp:spPr>
        <a:xfrm>
          <a:off x="386312" y="287885"/>
          <a:ext cx="702386" cy="70238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5553D89-33B7-41ED-B5AB-1B4B2DBC4E3C}">
      <dsp:nvSpPr>
        <dsp:cNvPr id="0" name=""/>
        <dsp:cNvSpPr/>
      </dsp:nvSpPr>
      <dsp:spPr>
        <a:xfrm>
          <a:off x="1475010" y="545"/>
          <a:ext cx="4444492" cy="1277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56" tIns="135156" rIns="135156" bIns="135156" numCol="1" spcCol="1270" anchor="ctr" anchorCtr="0">
          <a:noAutofit/>
        </a:bodyPr>
        <a:lstStyle/>
        <a:p>
          <a:pPr marL="0" lvl="0" indent="0" algn="l" defTabSz="1111250">
            <a:lnSpc>
              <a:spcPct val="100000"/>
            </a:lnSpc>
            <a:spcBef>
              <a:spcPct val="0"/>
            </a:spcBef>
            <a:spcAft>
              <a:spcPct val="35000"/>
            </a:spcAft>
            <a:buNone/>
          </a:pPr>
          <a:r>
            <a:rPr lang="en-US" sz="2500" kern="1200"/>
            <a:t>Search-and-Rescue</a:t>
          </a:r>
        </a:p>
      </dsp:txBody>
      <dsp:txXfrm>
        <a:off x="1475010" y="545"/>
        <a:ext cx="4444492" cy="1277065"/>
      </dsp:txXfrm>
    </dsp:sp>
    <dsp:sp modelId="{C315349E-8B76-470B-AFDF-E0D719089211}">
      <dsp:nvSpPr>
        <dsp:cNvPr id="0" name=""/>
        <dsp:cNvSpPr/>
      </dsp:nvSpPr>
      <dsp:spPr>
        <a:xfrm>
          <a:off x="0" y="1596877"/>
          <a:ext cx="5919503" cy="12770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DFA40F-4C8D-44B0-B764-DF28AAC5F978}">
      <dsp:nvSpPr>
        <dsp:cNvPr id="0" name=""/>
        <dsp:cNvSpPr/>
      </dsp:nvSpPr>
      <dsp:spPr>
        <a:xfrm>
          <a:off x="386312" y="1884217"/>
          <a:ext cx="702386" cy="70238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E4650FD-303C-45AF-8A44-3F44F00AC420}">
      <dsp:nvSpPr>
        <dsp:cNvPr id="0" name=""/>
        <dsp:cNvSpPr/>
      </dsp:nvSpPr>
      <dsp:spPr>
        <a:xfrm>
          <a:off x="1475010" y="1596877"/>
          <a:ext cx="4444492" cy="1277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56" tIns="135156" rIns="135156" bIns="135156" numCol="1" spcCol="1270" anchor="ctr" anchorCtr="0">
          <a:noAutofit/>
        </a:bodyPr>
        <a:lstStyle/>
        <a:p>
          <a:pPr marL="0" lvl="0" indent="0" algn="l" defTabSz="1111250">
            <a:lnSpc>
              <a:spcPct val="100000"/>
            </a:lnSpc>
            <a:spcBef>
              <a:spcPct val="0"/>
            </a:spcBef>
            <a:spcAft>
              <a:spcPct val="35000"/>
            </a:spcAft>
            <a:buNone/>
          </a:pPr>
          <a:r>
            <a:rPr lang="en-US" sz="2500" kern="1200"/>
            <a:t>Deforestation Monitoring</a:t>
          </a:r>
        </a:p>
      </dsp:txBody>
      <dsp:txXfrm>
        <a:off x="1475010" y="1596877"/>
        <a:ext cx="4444492" cy="1277065"/>
      </dsp:txXfrm>
    </dsp:sp>
    <dsp:sp modelId="{139F5C82-255B-4292-8BD4-62FE8434C210}">
      <dsp:nvSpPr>
        <dsp:cNvPr id="0" name=""/>
        <dsp:cNvSpPr/>
      </dsp:nvSpPr>
      <dsp:spPr>
        <a:xfrm>
          <a:off x="0" y="3193209"/>
          <a:ext cx="5919503" cy="127706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45A23D-F25E-4613-A9BD-268788F6DFED}">
      <dsp:nvSpPr>
        <dsp:cNvPr id="0" name=""/>
        <dsp:cNvSpPr/>
      </dsp:nvSpPr>
      <dsp:spPr>
        <a:xfrm>
          <a:off x="386312" y="3480549"/>
          <a:ext cx="702386" cy="70238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5955547-85C6-4EB7-831A-A16337307ED7}">
      <dsp:nvSpPr>
        <dsp:cNvPr id="0" name=""/>
        <dsp:cNvSpPr/>
      </dsp:nvSpPr>
      <dsp:spPr>
        <a:xfrm>
          <a:off x="1475010" y="3193209"/>
          <a:ext cx="4444492" cy="12770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56" tIns="135156" rIns="135156" bIns="135156" numCol="1" spcCol="1270" anchor="ctr" anchorCtr="0">
          <a:noAutofit/>
        </a:bodyPr>
        <a:lstStyle/>
        <a:p>
          <a:pPr marL="0" lvl="0" indent="0" algn="l" defTabSz="1111250">
            <a:lnSpc>
              <a:spcPct val="100000"/>
            </a:lnSpc>
            <a:spcBef>
              <a:spcPct val="0"/>
            </a:spcBef>
            <a:spcAft>
              <a:spcPct val="35000"/>
            </a:spcAft>
            <a:buNone/>
          </a:pPr>
          <a:r>
            <a:rPr lang="en-US" sz="2500" kern="1200"/>
            <a:t>Agricultural Fire Prevention</a:t>
          </a:r>
        </a:p>
      </dsp:txBody>
      <dsp:txXfrm>
        <a:off x="1475010" y="3193209"/>
        <a:ext cx="4444492" cy="127706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2D99DC-7B5A-4EB3-B9D8-19A949D1E4E0}">
      <dsp:nvSpPr>
        <dsp:cNvPr id="0" name=""/>
        <dsp:cNvSpPr/>
      </dsp:nvSpPr>
      <dsp:spPr>
        <a:xfrm rot="5400000">
          <a:off x="3641325" y="-1379534"/>
          <a:ext cx="852989" cy="3828536"/>
        </a:xfrm>
        <a:prstGeom prst="round2Same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AI systems can automatically notify fire departments.</a:t>
          </a:r>
        </a:p>
      </dsp:txBody>
      <dsp:txXfrm rot="-5400000">
        <a:off x="2153552" y="149878"/>
        <a:ext cx="3786897" cy="769711"/>
      </dsp:txXfrm>
    </dsp:sp>
    <dsp:sp modelId="{53CAD839-2A2E-4856-9680-A8AD9312AE81}">
      <dsp:nvSpPr>
        <dsp:cNvPr id="0" name=""/>
        <dsp:cNvSpPr/>
      </dsp:nvSpPr>
      <dsp:spPr>
        <a:xfrm>
          <a:off x="0" y="1615"/>
          <a:ext cx="2153552" cy="106623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a:t>Automated Alerts: </a:t>
          </a:r>
        </a:p>
      </dsp:txBody>
      <dsp:txXfrm>
        <a:off x="52049" y="53664"/>
        <a:ext cx="2049454" cy="962139"/>
      </dsp:txXfrm>
    </dsp:sp>
    <dsp:sp modelId="{B2D2FF2A-F534-4AC9-AD87-DFD467F16674}">
      <dsp:nvSpPr>
        <dsp:cNvPr id="0" name=""/>
        <dsp:cNvSpPr/>
      </dsp:nvSpPr>
      <dsp:spPr>
        <a:xfrm rot="5400000">
          <a:off x="3641325" y="-259985"/>
          <a:ext cx="852989" cy="3828536"/>
        </a:xfrm>
        <a:prstGeom prst="round2Same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Real-time visuals provide critical information</a:t>
          </a:r>
        </a:p>
      </dsp:txBody>
      <dsp:txXfrm rot="-5400000">
        <a:off x="2153552" y="1269427"/>
        <a:ext cx="3786897" cy="769711"/>
      </dsp:txXfrm>
    </dsp:sp>
    <dsp:sp modelId="{47674AAE-F0BE-4137-A36D-5A8ED70C35B3}">
      <dsp:nvSpPr>
        <dsp:cNvPr id="0" name=""/>
        <dsp:cNvSpPr/>
      </dsp:nvSpPr>
      <dsp:spPr>
        <a:xfrm>
          <a:off x="0" y="1121164"/>
          <a:ext cx="2153552" cy="106623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a:t>Live Drone Footage: </a:t>
          </a:r>
        </a:p>
      </dsp:txBody>
      <dsp:txXfrm>
        <a:off x="52049" y="1173213"/>
        <a:ext cx="2049454" cy="962139"/>
      </dsp:txXfrm>
    </dsp:sp>
    <dsp:sp modelId="{3B2C640E-D487-458E-A2FB-E52372CBED07}">
      <dsp:nvSpPr>
        <dsp:cNvPr id="0" name=""/>
        <dsp:cNvSpPr/>
      </dsp:nvSpPr>
      <dsp:spPr>
        <a:xfrm rot="5400000">
          <a:off x="3641325" y="859563"/>
          <a:ext cx="852989" cy="3828536"/>
        </a:xfrm>
        <a:prstGeom prst="round2Same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Enhanced communication leads to more efficient emergency responses.</a:t>
          </a:r>
        </a:p>
      </dsp:txBody>
      <dsp:txXfrm rot="-5400000">
        <a:off x="2153552" y="2388976"/>
        <a:ext cx="3786897" cy="769711"/>
      </dsp:txXfrm>
    </dsp:sp>
    <dsp:sp modelId="{01FC71A8-10C5-46F0-93B4-13007BB23131}">
      <dsp:nvSpPr>
        <dsp:cNvPr id="0" name=""/>
        <dsp:cNvSpPr/>
      </dsp:nvSpPr>
      <dsp:spPr>
        <a:xfrm>
          <a:off x="0" y="2240713"/>
          <a:ext cx="2153552" cy="106623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a:t>Improved Coordination: </a:t>
          </a:r>
        </a:p>
      </dsp:txBody>
      <dsp:txXfrm>
        <a:off x="52049" y="2292762"/>
        <a:ext cx="2049454" cy="9621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F60E16-9E05-4B8B-AB08-218DE6554B45}">
      <dsp:nvSpPr>
        <dsp:cNvPr id="0" name=""/>
        <dsp:cNvSpPr/>
      </dsp:nvSpPr>
      <dsp:spPr>
        <a:xfrm>
          <a:off x="0" y="0"/>
          <a:ext cx="614852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4EA01F-DF09-4A94-8496-55C361F866AC}">
      <dsp:nvSpPr>
        <dsp:cNvPr id="0" name=""/>
        <dsp:cNvSpPr/>
      </dsp:nvSpPr>
      <dsp:spPr>
        <a:xfrm>
          <a:off x="0" y="0"/>
          <a:ext cx="6148525" cy="1038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100000"/>
            </a:lnSpc>
            <a:spcBef>
              <a:spcPct val="0"/>
            </a:spcBef>
            <a:spcAft>
              <a:spcPct val="35000"/>
            </a:spcAft>
            <a:buNone/>
          </a:pPr>
          <a:r>
            <a:rPr lang="en-US" sz="1900" b="1" kern="1200"/>
            <a:t>The system would utilize a heat map of high-risk areas, helping forestry managers take preventive measures.</a:t>
          </a:r>
        </a:p>
      </dsp:txBody>
      <dsp:txXfrm>
        <a:off x="0" y="0"/>
        <a:ext cx="6148525" cy="1038087"/>
      </dsp:txXfrm>
    </dsp:sp>
    <dsp:sp modelId="{E5C45811-2E44-47CD-AF78-6A176CA7E734}">
      <dsp:nvSpPr>
        <dsp:cNvPr id="0" name=""/>
        <dsp:cNvSpPr/>
      </dsp:nvSpPr>
      <dsp:spPr>
        <a:xfrm>
          <a:off x="0" y="1038087"/>
          <a:ext cx="614852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25A992-3B0C-43B0-AA45-5C47979C1BEF}">
      <dsp:nvSpPr>
        <dsp:cNvPr id="0" name=""/>
        <dsp:cNvSpPr/>
      </dsp:nvSpPr>
      <dsp:spPr>
        <a:xfrm>
          <a:off x="0" y="1038087"/>
          <a:ext cx="6148525" cy="1038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rtl="0">
            <a:lnSpc>
              <a:spcPct val="100000"/>
            </a:lnSpc>
            <a:spcBef>
              <a:spcPct val="0"/>
            </a:spcBef>
            <a:spcAft>
              <a:spcPct val="35000"/>
            </a:spcAft>
            <a:buNone/>
          </a:pPr>
          <a:r>
            <a:rPr lang="en-US" sz="1900" b="1" kern="1200"/>
            <a:t>Risk Visualization:</a:t>
          </a:r>
          <a:r>
            <a:rPr lang="en-US" sz="1900" kern="1200"/>
            <a:t> Heat maps identify areas susceptible to wildfires</a:t>
          </a:r>
          <a:endParaRPr lang="en-US" sz="1900" kern="1200">
            <a:latin typeface="Century Gothic" panose="020B0502020202020204"/>
          </a:endParaRPr>
        </a:p>
      </dsp:txBody>
      <dsp:txXfrm>
        <a:off x="0" y="1038087"/>
        <a:ext cx="6148525" cy="1038087"/>
      </dsp:txXfrm>
    </dsp:sp>
    <dsp:sp modelId="{70B6EA75-5C9F-4DA4-8C90-B8DD9F749DC1}">
      <dsp:nvSpPr>
        <dsp:cNvPr id="0" name=""/>
        <dsp:cNvSpPr/>
      </dsp:nvSpPr>
      <dsp:spPr>
        <a:xfrm>
          <a:off x="0" y="2076174"/>
          <a:ext cx="614852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5692D1-88B0-4995-828A-0B2B9A03D303}">
      <dsp:nvSpPr>
        <dsp:cNvPr id="0" name=""/>
        <dsp:cNvSpPr/>
      </dsp:nvSpPr>
      <dsp:spPr>
        <a:xfrm>
          <a:off x="0" y="2076174"/>
          <a:ext cx="6148525" cy="1038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100000"/>
            </a:lnSpc>
            <a:spcBef>
              <a:spcPct val="0"/>
            </a:spcBef>
            <a:spcAft>
              <a:spcPct val="35000"/>
            </a:spcAft>
            <a:buNone/>
          </a:pPr>
          <a:r>
            <a:rPr lang="en-US" sz="1900" b="1" kern="1200"/>
            <a:t>Data Integration:</a:t>
          </a:r>
          <a:r>
            <a:rPr lang="en-US" sz="1900" kern="1200"/>
            <a:t> We would combine satellite imagery and environmental data </a:t>
          </a:r>
        </a:p>
      </dsp:txBody>
      <dsp:txXfrm>
        <a:off x="0" y="2076174"/>
        <a:ext cx="6148525" cy="1038087"/>
      </dsp:txXfrm>
    </dsp:sp>
    <dsp:sp modelId="{6F4D13FD-6F87-4B1C-9D1E-190CC108E06B}">
      <dsp:nvSpPr>
        <dsp:cNvPr id="0" name=""/>
        <dsp:cNvSpPr/>
      </dsp:nvSpPr>
      <dsp:spPr>
        <a:xfrm>
          <a:off x="0" y="3114261"/>
          <a:ext cx="6148525"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E528EB5-6CBB-47B7-A76A-778199DA52EF}">
      <dsp:nvSpPr>
        <dsp:cNvPr id="0" name=""/>
        <dsp:cNvSpPr/>
      </dsp:nvSpPr>
      <dsp:spPr>
        <a:xfrm>
          <a:off x="0" y="3114261"/>
          <a:ext cx="6148525" cy="1038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100000"/>
            </a:lnSpc>
            <a:spcBef>
              <a:spcPct val="0"/>
            </a:spcBef>
            <a:spcAft>
              <a:spcPct val="35000"/>
            </a:spcAft>
            <a:buNone/>
          </a:pPr>
          <a:r>
            <a:rPr lang="en-US" sz="1900" b="1" kern="1200"/>
            <a:t>Proactive Management:</a:t>
          </a:r>
          <a:r>
            <a:rPr lang="en-US" sz="1900" kern="1200"/>
            <a:t> Forestry managers can implement measures in high-risk zones.</a:t>
          </a:r>
        </a:p>
      </dsp:txBody>
      <dsp:txXfrm>
        <a:off x="0" y="3114261"/>
        <a:ext cx="6148525" cy="103808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E3FAC5-FB84-4EE9-A122-C89BAC9E4A99}">
      <dsp:nvSpPr>
        <dsp:cNvPr id="0" name=""/>
        <dsp:cNvSpPr/>
      </dsp:nvSpPr>
      <dsp:spPr>
        <a:xfrm>
          <a:off x="0" y="573842"/>
          <a:ext cx="1982856" cy="125911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B6CD93-EEEB-440B-B740-7C2786BEC50F}">
      <dsp:nvSpPr>
        <dsp:cNvPr id="0" name=""/>
        <dsp:cNvSpPr/>
      </dsp:nvSpPr>
      <dsp:spPr>
        <a:xfrm>
          <a:off x="220317" y="783144"/>
          <a:ext cx="1982856" cy="125911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t>Data Encryption:</a:t>
          </a:r>
          <a:r>
            <a:rPr lang="en-US" sz="1300" kern="1200"/>
            <a:t> Protects sensitive information from unauthorized access.</a:t>
          </a:r>
        </a:p>
      </dsp:txBody>
      <dsp:txXfrm>
        <a:off x="257195" y="820022"/>
        <a:ext cx="1909100" cy="1185357"/>
      </dsp:txXfrm>
    </dsp:sp>
    <dsp:sp modelId="{407D6C7E-9F6B-4B24-9DD4-15F936AEBE61}">
      <dsp:nvSpPr>
        <dsp:cNvPr id="0" name=""/>
        <dsp:cNvSpPr/>
      </dsp:nvSpPr>
      <dsp:spPr>
        <a:xfrm>
          <a:off x="2423490" y="573842"/>
          <a:ext cx="1982856" cy="125911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199BA4-38D4-4765-8BCE-D1DA6A77BA74}">
      <dsp:nvSpPr>
        <dsp:cNvPr id="0" name=""/>
        <dsp:cNvSpPr/>
      </dsp:nvSpPr>
      <dsp:spPr>
        <a:xfrm>
          <a:off x="2643808" y="783144"/>
          <a:ext cx="1982856" cy="125911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t>Secure Communication:</a:t>
          </a:r>
          <a:r>
            <a:rPr lang="en-US" sz="1300" kern="1200"/>
            <a:t> Ensures data integrity during transmission between drones and control systems.</a:t>
          </a:r>
        </a:p>
      </dsp:txBody>
      <dsp:txXfrm>
        <a:off x="2680686" y="820022"/>
        <a:ext cx="1909100" cy="1185357"/>
      </dsp:txXfrm>
    </dsp:sp>
    <dsp:sp modelId="{4D232E99-8927-41C0-B43C-0446EC93D835}">
      <dsp:nvSpPr>
        <dsp:cNvPr id="0" name=""/>
        <dsp:cNvSpPr/>
      </dsp:nvSpPr>
      <dsp:spPr>
        <a:xfrm>
          <a:off x="4846981" y="573842"/>
          <a:ext cx="1982856" cy="125911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813F6C-12D8-4E87-967C-E29D6259D11B}">
      <dsp:nvSpPr>
        <dsp:cNvPr id="0" name=""/>
        <dsp:cNvSpPr/>
      </dsp:nvSpPr>
      <dsp:spPr>
        <a:xfrm>
          <a:off x="5067298" y="783144"/>
          <a:ext cx="1982856" cy="125911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t>Compliance:</a:t>
          </a:r>
          <a:r>
            <a:rPr lang="en-US" sz="1300" kern="1200"/>
            <a:t> Adheres to industry standards and regulations for data protection.</a:t>
          </a:r>
        </a:p>
      </dsp:txBody>
      <dsp:txXfrm>
        <a:off x="5104176" y="820022"/>
        <a:ext cx="1909100" cy="118535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A8E176-4AF4-4800-A6D0-8661BDBA1BE8}">
      <dsp:nvSpPr>
        <dsp:cNvPr id="0" name=""/>
        <dsp:cNvSpPr/>
      </dsp:nvSpPr>
      <dsp:spPr>
        <a:xfrm>
          <a:off x="0" y="465"/>
          <a:ext cx="5927036" cy="108830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A55DA3-6D1B-4B24-82F5-F69C52903D5A}">
      <dsp:nvSpPr>
        <dsp:cNvPr id="0" name=""/>
        <dsp:cNvSpPr/>
      </dsp:nvSpPr>
      <dsp:spPr>
        <a:xfrm>
          <a:off x="329212" y="245333"/>
          <a:ext cx="598567" cy="5985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196A59-1B71-4702-AFB5-AACE456F8E87}">
      <dsp:nvSpPr>
        <dsp:cNvPr id="0" name=""/>
        <dsp:cNvSpPr/>
      </dsp:nvSpPr>
      <dsp:spPr>
        <a:xfrm>
          <a:off x="1256992" y="465"/>
          <a:ext cx="4670043" cy="1088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179" tIns="115179" rIns="115179" bIns="115179" numCol="1" spcCol="1270" anchor="ctr" anchorCtr="0">
          <a:noAutofit/>
        </a:bodyPr>
        <a:lstStyle/>
        <a:p>
          <a:pPr marL="0" lvl="0" indent="0" algn="l" defTabSz="622300">
            <a:lnSpc>
              <a:spcPct val="100000"/>
            </a:lnSpc>
            <a:spcBef>
              <a:spcPct val="0"/>
            </a:spcBef>
            <a:spcAft>
              <a:spcPct val="35000"/>
            </a:spcAft>
            <a:buNone/>
          </a:pPr>
          <a:r>
            <a:rPr lang="en-US" sz="1400" b="1" kern="1200"/>
            <a:t>Blockchain Integration:</a:t>
          </a:r>
          <a:r>
            <a:rPr lang="en-US" sz="1400" kern="1200"/>
            <a:t> Provides transparent and immutable records of incidents.</a:t>
          </a:r>
        </a:p>
      </dsp:txBody>
      <dsp:txXfrm>
        <a:off x="1256992" y="465"/>
        <a:ext cx="4670043" cy="1088305"/>
      </dsp:txXfrm>
    </dsp:sp>
    <dsp:sp modelId="{B9C04B72-975E-4EC2-800B-CC12D47601DE}">
      <dsp:nvSpPr>
        <dsp:cNvPr id="0" name=""/>
        <dsp:cNvSpPr/>
      </dsp:nvSpPr>
      <dsp:spPr>
        <a:xfrm>
          <a:off x="0" y="1360846"/>
          <a:ext cx="5927036" cy="108830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D4A3B2-34C9-48AA-B285-B2CD79ECF047}">
      <dsp:nvSpPr>
        <dsp:cNvPr id="0" name=""/>
        <dsp:cNvSpPr/>
      </dsp:nvSpPr>
      <dsp:spPr>
        <a:xfrm>
          <a:off x="329212" y="1605715"/>
          <a:ext cx="598567" cy="5985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3EFE46F-F87D-4A77-9FC0-87008405F6B0}">
      <dsp:nvSpPr>
        <dsp:cNvPr id="0" name=""/>
        <dsp:cNvSpPr/>
      </dsp:nvSpPr>
      <dsp:spPr>
        <a:xfrm>
          <a:off x="1256992" y="1360846"/>
          <a:ext cx="4670043" cy="1088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179" tIns="115179" rIns="115179" bIns="115179" numCol="1" spcCol="1270" anchor="ctr" anchorCtr="0">
          <a:noAutofit/>
        </a:bodyPr>
        <a:lstStyle/>
        <a:p>
          <a:pPr marL="0" lvl="0" indent="0" algn="l" defTabSz="622300" rtl="0">
            <a:lnSpc>
              <a:spcPct val="100000"/>
            </a:lnSpc>
            <a:spcBef>
              <a:spcPct val="0"/>
            </a:spcBef>
            <a:spcAft>
              <a:spcPct val="35000"/>
            </a:spcAft>
            <a:buNone/>
          </a:pPr>
          <a:r>
            <a:rPr lang="en-US" sz="1400" b="1" kern="1200"/>
            <a:t>Expanded Monitoring:</a:t>
          </a:r>
          <a:r>
            <a:rPr lang="en-US" sz="1400" kern="1200"/>
            <a:t> Utilizing AI to monitor </a:t>
          </a:r>
          <a:r>
            <a:rPr lang="en-US" sz="1400" kern="1200">
              <a:latin typeface="Century Gothic" panose="020B0502020202020204"/>
            </a:rPr>
            <a:t>other </a:t>
          </a:r>
          <a:r>
            <a:rPr lang="en-US" sz="1400" kern="1200"/>
            <a:t>environmental factors</a:t>
          </a:r>
          <a:r>
            <a:rPr lang="en-US" sz="1400" kern="1200">
              <a:latin typeface="Century Gothic" panose="020B0502020202020204"/>
            </a:rPr>
            <a:t>.</a:t>
          </a:r>
          <a:endParaRPr lang="en-US" sz="1400" kern="1200"/>
        </a:p>
      </dsp:txBody>
      <dsp:txXfrm>
        <a:off x="1256992" y="1360846"/>
        <a:ext cx="4670043" cy="1088305"/>
      </dsp:txXfrm>
    </dsp:sp>
    <dsp:sp modelId="{32E7F387-D15D-4DD4-A63C-7659F3C1F1D8}">
      <dsp:nvSpPr>
        <dsp:cNvPr id="0" name=""/>
        <dsp:cNvSpPr/>
      </dsp:nvSpPr>
      <dsp:spPr>
        <a:xfrm>
          <a:off x="0" y="2721228"/>
          <a:ext cx="5927036" cy="108830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CE2BF7-12B8-48F1-A86B-132BDF127464}">
      <dsp:nvSpPr>
        <dsp:cNvPr id="0" name=""/>
        <dsp:cNvSpPr/>
      </dsp:nvSpPr>
      <dsp:spPr>
        <a:xfrm>
          <a:off x="329212" y="2966097"/>
          <a:ext cx="598567" cy="5985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2BCD89-7F38-40FF-8335-A55887D1BA16}">
      <dsp:nvSpPr>
        <dsp:cNvPr id="0" name=""/>
        <dsp:cNvSpPr/>
      </dsp:nvSpPr>
      <dsp:spPr>
        <a:xfrm>
          <a:off x="1256992" y="2721228"/>
          <a:ext cx="4670043" cy="1088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179" tIns="115179" rIns="115179" bIns="115179" numCol="1" spcCol="1270" anchor="ctr" anchorCtr="0">
          <a:noAutofit/>
        </a:bodyPr>
        <a:lstStyle/>
        <a:p>
          <a:pPr marL="0" lvl="0" indent="0" algn="l" defTabSz="622300">
            <a:lnSpc>
              <a:spcPct val="100000"/>
            </a:lnSpc>
            <a:spcBef>
              <a:spcPct val="0"/>
            </a:spcBef>
            <a:spcAft>
              <a:spcPct val="35000"/>
            </a:spcAft>
            <a:buNone/>
          </a:pPr>
          <a:r>
            <a:rPr lang="en-US" sz="1400" b="1" kern="1200"/>
            <a:t>Innovative Solutions:</a:t>
          </a:r>
          <a:r>
            <a:rPr lang="en-US" sz="1400" kern="1200"/>
            <a:t> Incorporating advanced technologies positions the system at the forefront of wildfire prevention and environmental conservation.</a:t>
          </a:r>
        </a:p>
      </dsp:txBody>
      <dsp:txXfrm>
        <a:off x="1256992" y="2721228"/>
        <a:ext cx="4670043" cy="108830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917A3D-2267-9945-BA68-7F1A8B2471C5}" type="datetimeFigureOut">
              <a:rPr lang="en-US" smtClean="0"/>
              <a:t>3/31/2025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2F84EB-44FE-EA4A-B3AA-9B6F69A1500D}" type="slidenum">
              <a:rPr lang="en-US" smtClean="0"/>
              <a:t>‹#›</a:t>
            </a:fld>
            <a:endParaRPr lang="en-US"/>
          </a:p>
        </p:txBody>
      </p:sp>
    </p:spTree>
    <p:extLst>
      <p:ext uri="{BB962C8B-B14F-4D97-AF65-F5344CB8AC3E}">
        <p14:creationId xmlns:p14="http://schemas.microsoft.com/office/powerpoint/2010/main" val="1517154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8.92 million acres: https://</a:t>
            </a:r>
            <a:r>
              <a:rPr lang="en-US" err="1"/>
              <a:t>www.statista.com</a:t>
            </a:r>
            <a:r>
              <a:rPr lang="en-US"/>
              <a:t>/statistics/203990/area-of-acres-burnt-due-to-wildland-fires-in-the-us/ </a:t>
            </a:r>
          </a:p>
          <a:p>
            <a:endParaRPr lang="en-US"/>
          </a:p>
        </p:txBody>
      </p:sp>
      <p:sp>
        <p:nvSpPr>
          <p:cNvPr id="4" name="Slide Number Placeholder 3"/>
          <p:cNvSpPr>
            <a:spLocks noGrp="1"/>
          </p:cNvSpPr>
          <p:nvPr>
            <p:ph type="sldNum" sz="quarter" idx="5"/>
          </p:nvPr>
        </p:nvSpPr>
        <p:spPr/>
        <p:txBody>
          <a:bodyPr/>
          <a:lstStyle/>
          <a:p>
            <a:fld id="{342F84EB-44FE-EA4A-B3AA-9B6F69A1500D}" type="slidenum">
              <a:rPr lang="en-US" smtClean="0"/>
              <a:t>3</a:t>
            </a:fld>
            <a:endParaRPr lang="en-US"/>
          </a:p>
        </p:txBody>
      </p:sp>
    </p:spTree>
    <p:extLst>
      <p:ext uri="{BB962C8B-B14F-4D97-AF65-F5344CB8AC3E}">
        <p14:creationId xmlns:p14="http://schemas.microsoft.com/office/powerpoint/2010/main" val="1751830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42F84EB-44FE-EA4A-B3AA-9B6F69A1500D}" type="slidenum">
              <a:rPr lang="en-US" smtClean="0"/>
              <a:t>4</a:t>
            </a:fld>
            <a:endParaRPr lang="en-US"/>
          </a:p>
        </p:txBody>
      </p:sp>
    </p:spTree>
    <p:extLst>
      <p:ext uri="{BB962C8B-B14F-4D97-AF65-F5344CB8AC3E}">
        <p14:creationId xmlns:p14="http://schemas.microsoft.com/office/powerpoint/2010/main" val="913202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31B4E-460C-5C50-DBB0-2E59EE370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733FB-E1E6-9080-927B-00FFB4C53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6B0472-574C-2412-B243-8E69D1C24BD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470648C-DAFE-E8BD-8485-05F8BA29E6D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42F84EB-44FE-EA4A-B3AA-9B6F69A1500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61462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We will also create a mobile app for users to use to monitor all drone activity. This will streamline all drone processes. You will be able to receive alerts, and manual control drones through our AI- powered mobile app</a:t>
            </a:r>
          </a:p>
        </p:txBody>
      </p:sp>
      <p:sp>
        <p:nvSpPr>
          <p:cNvPr id="4" name="Slide Number Placeholder 3"/>
          <p:cNvSpPr>
            <a:spLocks noGrp="1"/>
          </p:cNvSpPr>
          <p:nvPr>
            <p:ph type="sldNum" sz="quarter" idx="5"/>
          </p:nvPr>
        </p:nvSpPr>
        <p:spPr/>
        <p:txBody>
          <a:bodyPr/>
          <a:lstStyle/>
          <a:p>
            <a:fld id="{342F84EB-44FE-EA4A-B3AA-9B6F69A1500D}" type="slidenum">
              <a:rPr lang="en-US" smtClean="0"/>
              <a:t>23</a:t>
            </a:fld>
            <a:endParaRPr lang="en-US"/>
          </a:p>
        </p:txBody>
      </p:sp>
    </p:spTree>
    <p:extLst>
      <p:ext uri="{BB962C8B-B14F-4D97-AF65-F5344CB8AC3E}">
        <p14:creationId xmlns:p14="http://schemas.microsoft.com/office/powerpoint/2010/main" val="1239175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Our drones will be connected to allow for real time emergency notifications. Fire departments and other law enforcement will be able to receive automatic alerts with drone footage, allowing them to act immediately. This will cut down in their response times and provide more efficient services. </a:t>
            </a:r>
          </a:p>
        </p:txBody>
      </p:sp>
      <p:sp>
        <p:nvSpPr>
          <p:cNvPr id="4" name="Slide Number Placeholder 3"/>
          <p:cNvSpPr>
            <a:spLocks noGrp="1"/>
          </p:cNvSpPr>
          <p:nvPr>
            <p:ph type="sldNum" sz="quarter" idx="5"/>
          </p:nvPr>
        </p:nvSpPr>
        <p:spPr/>
        <p:txBody>
          <a:bodyPr/>
          <a:lstStyle/>
          <a:p>
            <a:fld id="{342F84EB-44FE-EA4A-B3AA-9B6F69A1500D}" type="slidenum">
              <a:rPr lang="en-US" smtClean="0"/>
              <a:t>24</a:t>
            </a:fld>
            <a:endParaRPr lang="en-US"/>
          </a:p>
        </p:txBody>
      </p:sp>
    </p:spTree>
    <p:extLst>
      <p:ext uri="{BB962C8B-B14F-4D97-AF65-F5344CB8AC3E}">
        <p14:creationId xmlns:p14="http://schemas.microsoft.com/office/powerpoint/2010/main" val="2374942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With the data provided by the drones we will be able to maintain dashboards with predictive analytics. Utilizing this will allow us to mitigate as many fires as possible </a:t>
            </a:r>
          </a:p>
        </p:txBody>
      </p:sp>
      <p:sp>
        <p:nvSpPr>
          <p:cNvPr id="4" name="Slide Number Placeholder 3"/>
          <p:cNvSpPr>
            <a:spLocks noGrp="1"/>
          </p:cNvSpPr>
          <p:nvPr>
            <p:ph type="sldNum" sz="quarter" idx="5"/>
          </p:nvPr>
        </p:nvSpPr>
        <p:spPr/>
        <p:txBody>
          <a:bodyPr/>
          <a:lstStyle/>
          <a:p>
            <a:fld id="{342F84EB-44FE-EA4A-B3AA-9B6F69A1500D}" type="slidenum">
              <a:rPr lang="en-US" smtClean="0"/>
              <a:t>25</a:t>
            </a:fld>
            <a:endParaRPr lang="en-US"/>
          </a:p>
        </p:txBody>
      </p:sp>
    </p:spTree>
    <p:extLst>
      <p:ext uri="{BB962C8B-B14F-4D97-AF65-F5344CB8AC3E}">
        <p14:creationId xmlns:p14="http://schemas.microsoft.com/office/powerpoint/2010/main" val="2175640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disasters strike, AI drones become critical tools for first responders. They can quickly search large areas to locate survivors, assess damage, identify hazards, and guide rescue teams. For example, thermal imaging helps find people trapped in rubble or lost in remote terrain. Drones can also deliver emergency supplies to cut-off areas. This rapid aerial response capability saves precious time when minutes matter most.</a:t>
            </a:r>
          </a:p>
        </p:txBody>
      </p:sp>
      <p:sp>
        <p:nvSpPr>
          <p:cNvPr id="4" name="Slide Number Placeholder 3"/>
          <p:cNvSpPr>
            <a:spLocks noGrp="1"/>
          </p:cNvSpPr>
          <p:nvPr>
            <p:ph type="sldNum" sz="quarter" idx="5"/>
          </p:nvPr>
        </p:nvSpPr>
        <p:spPr/>
        <p:txBody>
          <a:bodyPr/>
          <a:lstStyle/>
          <a:p>
            <a:fld id="{342F84EB-44FE-EA4A-B3AA-9B6F69A1500D}" type="slidenum">
              <a:rPr lang="en-US" smtClean="0"/>
              <a:t>30</a:t>
            </a:fld>
            <a:endParaRPr lang="en-US"/>
          </a:p>
        </p:txBody>
      </p:sp>
    </p:spTree>
    <p:extLst>
      <p:ext uri="{BB962C8B-B14F-4D97-AF65-F5344CB8AC3E}">
        <p14:creationId xmlns:p14="http://schemas.microsoft.com/office/powerpoint/2010/main" val="2576951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DCD0A52-FEA7-8041-9524-361803A0A442}" type="datetime1">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455632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807797AB-3BC5-124C-850A-4C39A78A3DFC}" type="datetime1">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2804866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119389-555C-C742-B563-1D570C23CF03}" type="datetime1">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660535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1041CA1-BAF3-C848-9439-E97AD0ABE7CC}" type="datetime1">
              <a:rPr lang="en-US" smtClean="0"/>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1208500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6C3AF4-D04E-044E-92CC-F750BA5923BF}" type="datetime1">
              <a:rPr lang="en-US" smtClean="0"/>
              <a:t>3/31/2025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2301035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630A7EE0-E2E1-FD4B-B71D-0F709D9CA14E}" type="datetime1">
              <a:rPr lang="en-US" smtClean="0"/>
              <a:t>3/31/2025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2438967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66E9EA2-75F4-2B43-8973-7F5322AB98A4}" type="datetime1">
              <a:rPr lang="en-US" smtClean="0"/>
              <a:t>3/31/2025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2916900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877D302-0F99-7B46-AFBC-E5E2C42716EB}" type="datetime1">
              <a:rPr lang="en-US" smtClean="0"/>
              <a:t>3/31/2025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109598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628703-8D1B-4E44-9A13-5B218785E4FA}" type="datetime1">
              <a:rPr lang="en-US" smtClean="0"/>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188686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F30CBA-A07E-024D-9088-12DCC33EDAFC}" type="datetime1">
              <a:rPr lang="en-US" smtClean="0"/>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2429940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E8B8C3A-B89E-5241-A3E3-31849016CA02}" type="datetime1">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19390675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33AE71D-07AE-644F-8D5A-E2B5B4B50315}" type="datetime1">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6F5A5-9172-A445-B9BD-F8F0698F3076}"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29539620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606BCB-03D8-6043-AF0F-C34427A5BEAA}" type="datetime1">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3137482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421E28D-9936-B344-AE30-28EFB7D8A593}" type="datetime1">
              <a:rPr lang="en-US" smtClean="0"/>
              <a:t>3/31/2025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26128671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88FD956-2FCD-5C47-8E10-E93FBB175202}" type="datetime1">
              <a:rPr lang="en-US" smtClean="0"/>
              <a:t>3/31/2025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12824902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4D15AA-EC0B-784D-9A44-B858BE22AC3F}" type="datetime1">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9059676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534C00-0A1B-9D4D-B188-1E532952C51D}" type="datetime1">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26F5A5-9172-A445-B9BD-F8F0698F3076}" type="slidenum">
              <a:rPr lang="en-US" smtClean="0"/>
              <a:t>‹#›</a:t>
            </a:fld>
            <a:endParaRPr lang="en-US"/>
          </a:p>
        </p:txBody>
      </p:sp>
    </p:spTree>
    <p:extLst>
      <p:ext uri="{BB962C8B-B14F-4D97-AF65-F5344CB8AC3E}">
        <p14:creationId xmlns:p14="http://schemas.microsoft.com/office/powerpoint/2010/main" val="631601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A2830ED-2C9A-DD42-B778-BC518B8043B3}" type="datetime1">
              <a:rPr lang="en-US" smtClean="0"/>
              <a:t>3/31/2025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726F5A5-9172-A445-B9BD-F8F0698F3076}" type="slidenum">
              <a:rPr lang="en-US" smtClean="0"/>
              <a:t>‹#›</a:t>
            </a:fld>
            <a:endParaRPr lang="en-US"/>
          </a:p>
        </p:txBody>
      </p:sp>
    </p:spTree>
    <p:extLst>
      <p:ext uri="{BB962C8B-B14F-4D97-AF65-F5344CB8AC3E}">
        <p14:creationId xmlns:p14="http://schemas.microsoft.com/office/powerpoint/2010/main" val="4053822537"/>
      </p:ext>
    </p:extLst>
  </p:cSld>
  <p:clrMap bg1="dk1" tx1="lt1" bg2="dk2" tx2="lt2" accent1="accent1" accent2="accent2" accent3="accent3" accent4="accent4" accent5="accent5" accent6="accent6" hlink="hlink" folHlink="folHlink"/>
  <p:sldLayoutIdLst>
    <p:sldLayoutId id="2147484388" r:id="rId1"/>
    <p:sldLayoutId id="2147484389" r:id="rId2"/>
    <p:sldLayoutId id="2147484390" r:id="rId3"/>
    <p:sldLayoutId id="2147484391" r:id="rId4"/>
    <p:sldLayoutId id="2147484392" r:id="rId5"/>
    <p:sldLayoutId id="2147484393" r:id="rId6"/>
    <p:sldLayoutId id="2147484394" r:id="rId7"/>
    <p:sldLayoutId id="2147484395" r:id="rId8"/>
    <p:sldLayoutId id="2147484396" r:id="rId9"/>
    <p:sldLayoutId id="2147484397" r:id="rId10"/>
    <p:sldLayoutId id="2147484398" r:id="rId11"/>
    <p:sldLayoutId id="2147484399" r:id="rId12"/>
    <p:sldLayoutId id="2147484400" r:id="rId13"/>
    <p:sldLayoutId id="2147484401" r:id="rId14"/>
    <p:sldLayoutId id="2147484402" r:id="rId15"/>
    <p:sldLayoutId id="2147484403" r:id="rId16"/>
    <p:sldLayoutId id="2147484404"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www.statista.com/statistics/203990/area-of-acres-burnt-due-to-wildland-fires-in-the-us/" TargetMode="Externa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hyperlink" Target="https://scholarworks.uark.edu/cgi/viewcontent.cgi?article=5749&amp;context=etd" TargetMode="External"/><Relationship Id="rId4" Type="http://schemas.openxmlformats.org/officeDocument/2006/relationships/hyperlink" Target="https://emlab.ucsb.edu/projects/bringing-historical-perspective-wildfires-california"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wsj.com/tech/ai/these-ai-cameras-detect-wildfires-before-they-spread-6b6e3229?mod=djemfoe" TargetMode="External"/></Relationships>
</file>

<file path=ppt/slides/_rels/slide17.xml.rels><?xml version="1.0" encoding="UTF-8" standalone="yes"?>
<Relationships xmlns="http://schemas.openxmlformats.org/package/2006/relationships"><Relationship Id="rId2" Type="http://schemas.openxmlformats.org/officeDocument/2006/relationships/hyperlink" Target="https://ntrs.nasa.gov/api/citations/20220001826/downloads/DroneApplicationsforWildfires.pdf"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24.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1.jpeg"/><Relationship Id="rId7" Type="http://schemas.openxmlformats.org/officeDocument/2006/relationships/diagramQuickStyle" Target="../diagrams/quickStyle6.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Layout" Target="../diagrams/layout6.xml"/><Relationship Id="rId5" Type="http://schemas.openxmlformats.org/officeDocument/2006/relationships/diagramData" Target="../diagrams/data6.xml"/><Relationship Id="rId10" Type="http://schemas.openxmlformats.org/officeDocument/2006/relationships/hyperlink" Target="https://www.theguardian.com/world/article/2024/aug/15/how-ai-is-revolutionising-how-firefighters-tackle-blazes-and-saving-lives?utm_source=chatgpt.com" TargetMode="External"/><Relationship Id="rId4" Type="http://schemas.openxmlformats.org/officeDocument/2006/relationships/image" Target="../media/image44.jpeg"/><Relationship Id="rId9" Type="http://schemas.microsoft.com/office/2007/relationships/diagramDrawing" Target="../diagrams/drawing6.xml"/></Relationships>
</file>

<file path=ppt/slides/_rels/slide25.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image" Target="../media/image1.jpeg"/><Relationship Id="rId7" Type="http://schemas.openxmlformats.org/officeDocument/2006/relationships/diagramQuickStyle" Target="../diagrams/quickStyle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Layout" Target="../diagrams/layout7.xml"/><Relationship Id="rId5" Type="http://schemas.openxmlformats.org/officeDocument/2006/relationships/diagramData" Target="../diagrams/data7.xml"/><Relationship Id="rId10" Type="http://schemas.openxmlformats.org/officeDocument/2006/relationships/hyperlink" Target="https://today.usc.edu/using-ai-to-predict-wildfires/" TargetMode="External"/><Relationship Id="rId4" Type="http://schemas.openxmlformats.org/officeDocument/2006/relationships/image" Target="../media/image45.jpeg"/><Relationship Id="rId9" Type="http://schemas.microsoft.com/office/2007/relationships/diagramDrawing" Target="../diagrams/drawing7.xml"/></Relationships>
</file>

<file path=ppt/slides/_rels/slide2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7.jpeg"/><Relationship Id="rId5" Type="http://schemas.openxmlformats.org/officeDocument/2006/relationships/image" Target="../media/image5.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image" Target="../media/image2.png"/><Relationship Id="rId7" Type="http://schemas.openxmlformats.org/officeDocument/2006/relationships/image" Target="../media/image48.jpeg"/><Relationship Id="rId12" Type="http://schemas.microsoft.com/office/2007/relationships/diagramDrawing" Target="../diagrams/drawing8.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diagramColors" Target="../diagrams/colors8.xml"/><Relationship Id="rId5" Type="http://schemas.openxmlformats.org/officeDocument/2006/relationships/image" Target="../media/image4.png"/><Relationship Id="rId10" Type="http://schemas.openxmlformats.org/officeDocument/2006/relationships/diagramQuickStyle" Target="../diagrams/quickStyle8.xml"/><Relationship Id="rId4" Type="http://schemas.openxmlformats.org/officeDocument/2006/relationships/image" Target="../media/image3.png"/><Relationship Id="rId9" Type="http://schemas.openxmlformats.org/officeDocument/2006/relationships/diagramLayout" Target="../diagrams/layout8.xml"/></Relationships>
</file>

<file path=ppt/slides/_rels/slide29.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49.jpeg"/><Relationship Id="rId7" Type="http://schemas.openxmlformats.org/officeDocument/2006/relationships/diagramColors" Target="../diagrams/colors9.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37.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slide" Target="slide36.xml"/><Relationship Id="rId5" Type="http://schemas.openxmlformats.org/officeDocument/2006/relationships/slide" Target="slide35.xml"/><Relationship Id="rId4" Type="http://schemas.openxmlformats.org/officeDocument/2006/relationships/slide" Target="slide33.xml"/></Relationships>
</file>

<file path=ppt/slides/_rels/slide33.xml.rels><?xml version="1.0" encoding="UTF-8" standalone="yes"?>
<Relationships xmlns="http://schemas.openxmlformats.org/package/2006/relationships"><Relationship Id="rId2" Type="http://schemas.openxmlformats.org/officeDocument/2006/relationships/hyperlink" Target="https://docs.google.com/document/d/1lfZhAYJBpwgjVOGEevkY_AxDA8sVltEH/edit?usp=sharing&amp;ouid=106539882794568680204&amp;rtpof=true&amp;sd=true"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alertcalifornia.org/" TargetMode="External"/><Relationship Id="rId2" Type="http://schemas.openxmlformats.org/officeDocument/2006/relationships/slide" Target="slide31.xml"/><Relationship Id="rId1" Type="http://schemas.openxmlformats.org/officeDocument/2006/relationships/slideLayout" Target="../slideLayouts/slideLayout2.xml"/><Relationship Id="rId4" Type="http://schemas.openxmlformats.org/officeDocument/2006/relationships/hyperlink" Target="https://insider.govtech.com/california/news/calfire-uc-san-diego-get-10-4m-boost-for-wildfire-system"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www.dailynews.com/2025/02/27/palisades-and-eaton-wildfires-caused-up-to-53-8-billion-in-property-damage-study-finds/" TargetMode="External"/><Relationship Id="rId2" Type="http://schemas.openxmlformats.org/officeDocument/2006/relationships/hyperlink" Target="https://www.fire.ca.gov/incidents/2025" TargetMode="External"/><Relationship Id="rId1" Type="http://schemas.openxmlformats.org/officeDocument/2006/relationships/slideLayout" Target="../slideLayouts/slideLayout2.xml"/><Relationship Id="rId4" Type="http://schemas.openxmlformats.org/officeDocument/2006/relationships/slide" Target="slide31.xml"/></Relationships>
</file>

<file path=ppt/slides/_rels/slide36.xml.rels><?xml version="1.0" encoding="UTF-8" standalone="yes"?>
<Relationships xmlns="http://schemas.openxmlformats.org/package/2006/relationships"><Relationship Id="rId3" Type="http://schemas.openxmlformats.org/officeDocument/2006/relationships/hyperlink" Target="https://today.ucsd.edu/story/alertcalifornia-and-cal-fires-fire-detection-ai-program-named-one-of-times-best-inventions-of-2023" TargetMode="External"/><Relationship Id="rId2" Type="http://schemas.openxmlformats.org/officeDocument/2006/relationships/hyperlink" Target="https://esto.nasa.gov/firesense2022final/" TargetMode="External"/><Relationship Id="rId1" Type="http://schemas.openxmlformats.org/officeDocument/2006/relationships/slideLayout" Target="../slideLayouts/slideLayout2.xml"/><Relationship Id="rId4" Type="http://schemas.openxmlformats.org/officeDocument/2006/relationships/slide" Target="slide31.xml"/></Relationships>
</file>

<file path=ppt/slides/_rels/slide37.xml.rels><?xml version="1.0" encoding="UTF-8" standalone="yes"?>
<Relationships xmlns="http://schemas.openxmlformats.org/package/2006/relationships"><Relationship Id="rId3" Type="http://schemas.openxmlformats.org/officeDocument/2006/relationships/hyperlink" Target="https://cce.nasa.gov/firesense/airborne_campaigns.html" TargetMode="External"/><Relationship Id="rId2" Type="http://schemas.openxmlformats.org/officeDocument/2006/relationships/slide" Target="slide31.xml"/><Relationship Id="rId1" Type="http://schemas.openxmlformats.org/officeDocument/2006/relationships/slideLayout" Target="../slideLayouts/slideLayout2.xml"/><Relationship Id="rId4" Type="http://schemas.openxmlformats.org/officeDocument/2006/relationships/hyperlink" Target="https://today.ucsd.edu/story/alert-californi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6" name="Picture 15" descr="Drone flying over a field">
            <a:extLst>
              <a:ext uri="{FF2B5EF4-FFF2-40B4-BE49-F238E27FC236}">
                <a16:creationId xmlns:a16="http://schemas.microsoft.com/office/drawing/2014/main" id="{6F7FCB5F-30D5-C6A4-949B-50C2EFCD620D}"/>
              </a:ext>
            </a:extLst>
          </p:cNvPr>
          <p:cNvPicPr>
            <a:picLocks noChangeAspect="1"/>
          </p:cNvPicPr>
          <p:nvPr/>
        </p:nvPicPr>
        <p:blipFill>
          <a:blip r:embed="rId3">
            <a:duotone>
              <a:prstClr val="black"/>
              <a:schemeClr val="accent5">
                <a:tint val="45000"/>
                <a:satMod val="400000"/>
              </a:schemeClr>
            </a:duotone>
            <a:alphaModFix amt="25000"/>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60C43CFC-9884-F263-71E1-BAE860616ED5}"/>
              </a:ext>
            </a:extLst>
          </p:cNvPr>
          <p:cNvSpPr>
            <a:spLocks noGrp="1"/>
          </p:cNvSpPr>
          <p:nvPr>
            <p:ph type="ctrTitle"/>
          </p:nvPr>
        </p:nvSpPr>
        <p:spPr>
          <a:xfrm>
            <a:off x="1154955" y="1447800"/>
            <a:ext cx="8825658" cy="3329581"/>
          </a:xfrm>
        </p:spPr>
        <p:txBody>
          <a:bodyPr>
            <a:normAutofit/>
          </a:bodyPr>
          <a:lstStyle/>
          <a:p>
            <a:pPr>
              <a:lnSpc>
                <a:spcPct val="90000"/>
              </a:lnSpc>
            </a:pPr>
            <a:r>
              <a:rPr lang="en-US" sz="5600"/>
              <a:t>ExtinguishAI: AI-Powered Drone Surveillance for Wildfire Prevention</a:t>
            </a:r>
          </a:p>
        </p:txBody>
      </p:sp>
      <p:sp>
        <p:nvSpPr>
          <p:cNvPr id="3" name="Subtitle 2">
            <a:extLst>
              <a:ext uri="{FF2B5EF4-FFF2-40B4-BE49-F238E27FC236}">
                <a16:creationId xmlns:a16="http://schemas.microsoft.com/office/drawing/2014/main" id="{69DB9763-0390-3243-9AD1-165936327697}"/>
              </a:ext>
            </a:extLst>
          </p:cNvPr>
          <p:cNvSpPr>
            <a:spLocks noGrp="1"/>
          </p:cNvSpPr>
          <p:nvPr>
            <p:ph type="subTitle" idx="1"/>
          </p:nvPr>
        </p:nvSpPr>
        <p:spPr>
          <a:xfrm>
            <a:off x="1154955" y="4777380"/>
            <a:ext cx="8825658" cy="861420"/>
          </a:xfrm>
        </p:spPr>
        <p:txBody>
          <a:bodyPr>
            <a:normAutofit/>
          </a:bodyPr>
          <a:lstStyle/>
          <a:p>
            <a:endParaRPr lang="en-US"/>
          </a:p>
          <a:p>
            <a:r>
              <a:rPr lang="en-US"/>
              <a:t>Innovating for a safer and more sustainable forest future</a:t>
            </a:r>
          </a:p>
        </p:txBody>
      </p:sp>
      <p:sp>
        <p:nvSpPr>
          <p:cNvPr id="17" name="Rectangle 16">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5A941CF5-9AC1-3275-906A-9AEB000822F4}"/>
              </a:ext>
            </a:extLst>
          </p:cNvPr>
          <p:cNvSpPr>
            <a:spLocks noGrp="1"/>
          </p:cNvSpPr>
          <p:nvPr>
            <p:ph type="sldNum" sz="quarter" idx="12"/>
          </p:nvPr>
        </p:nvSpPr>
        <p:spPr/>
        <p:txBody>
          <a:bodyPr/>
          <a:lstStyle/>
          <a:p>
            <a:fld id="{F726F5A5-9172-A445-B9BD-F8F0698F3076}" type="slidenum">
              <a:rPr lang="en-US" smtClean="0"/>
              <a:t>1</a:t>
            </a:fld>
            <a:endParaRPr lang="en-US"/>
          </a:p>
        </p:txBody>
      </p:sp>
    </p:spTree>
    <p:extLst>
      <p:ext uri="{BB962C8B-B14F-4D97-AF65-F5344CB8AC3E}">
        <p14:creationId xmlns:p14="http://schemas.microsoft.com/office/powerpoint/2010/main" val="4192239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06F2FFCF-DAA6-6DFE-90C4-B06267E840BA}"/>
              </a:ext>
            </a:extLst>
          </p:cNvPr>
          <p:cNvSpPr>
            <a:spLocks noGrp="1"/>
          </p:cNvSpPr>
          <p:nvPr>
            <p:ph type="title"/>
          </p:nvPr>
        </p:nvSpPr>
        <p:spPr>
          <a:xfrm>
            <a:off x="1103312" y="452718"/>
            <a:ext cx="8947522" cy="1400530"/>
          </a:xfrm>
        </p:spPr>
        <p:txBody>
          <a:bodyPr anchor="ctr">
            <a:normAutofit/>
          </a:bodyPr>
          <a:lstStyle/>
          <a:p>
            <a:pPr algn="ctr"/>
            <a:r>
              <a:rPr lang="en-US">
                <a:solidFill>
                  <a:srgbClr val="FFFFFF"/>
                </a:solidFill>
              </a:rPr>
              <a:t>Team Introduction</a:t>
            </a:r>
            <a:endParaRPr lang="en-US"/>
          </a:p>
        </p:txBody>
      </p:sp>
      <p:graphicFrame>
        <p:nvGraphicFramePr>
          <p:cNvPr id="4" name="Rectangle 1">
            <a:extLst>
              <a:ext uri="{FF2B5EF4-FFF2-40B4-BE49-F238E27FC236}">
                <a16:creationId xmlns:a16="http://schemas.microsoft.com/office/drawing/2014/main" id="{BCA90076-52A5-8A03-1B15-F68EC1EA7E29}"/>
              </a:ext>
            </a:extLst>
          </p:cNvPr>
          <p:cNvGraphicFramePr>
            <a:graphicFrameLocks noGrp="1"/>
          </p:cNvGraphicFramePr>
          <p:nvPr>
            <p:ph idx="1"/>
            <p:extLst>
              <p:ext uri="{D42A27DB-BD31-4B8C-83A1-F6EECF244321}">
                <p14:modId xmlns:p14="http://schemas.microsoft.com/office/powerpoint/2010/main" val="952991245"/>
              </p:ext>
            </p:extLst>
          </p:nvPr>
        </p:nvGraphicFramePr>
        <p:xfrm>
          <a:off x="975360" y="2891740"/>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6311886F-8ED2-6891-DC27-144F8DEF3794}"/>
              </a:ext>
            </a:extLst>
          </p:cNvPr>
          <p:cNvSpPr>
            <a:spLocks noGrp="1"/>
          </p:cNvSpPr>
          <p:nvPr>
            <p:ph type="sldNum" sz="quarter" idx="12"/>
          </p:nvPr>
        </p:nvSpPr>
        <p:spPr/>
        <p:txBody>
          <a:bodyPr/>
          <a:lstStyle/>
          <a:p>
            <a:fld id="{F726F5A5-9172-A445-B9BD-F8F0698F3076}" type="slidenum">
              <a:rPr lang="en-US" smtClean="0"/>
              <a:t>2</a:t>
            </a:fld>
            <a:endParaRPr lang="en-US"/>
          </a:p>
        </p:txBody>
      </p:sp>
    </p:spTree>
    <p:extLst>
      <p:ext uri="{BB962C8B-B14F-4D97-AF65-F5344CB8AC3E}">
        <p14:creationId xmlns:p14="http://schemas.microsoft.com/office/powerpoint/2010/main" val="2288816685"/>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CA126F-2A47-F81C-AE16-AEDDA4D4C87B}"/>
              </a:ext>
            </a:extLst>
          </p:cNvPr>
          <p:cNvSpPr>
            <a:spLocks noGrp="1"/>
          </p:cNvSpPr>
          <p:nvPr>
            <p:ph type="title"/>
          </p:nvPr>
        </p:nvSpPr>
        <p:spPr>
          <a:xfrm>
            <a:off x="5411931" y="452718"/>
            <a:ext cx="4638903" cy="1400530"/>
          </a:xfrm>
        </p:spPr>
        <p:txBody>
          <a:bodyPr>
            <a:normAutofit/>
          </a:bodyPr>
          <a:lstStyle/>
          <a:p>
            <a:r>
              <a:rPr lang="en-US" sz="3900"/>
              <a:t>The Growing Threat of Wildfires</a:t>
            </a:r>
          </a:p>
        </p:txBody>
      </p:sp>
      <p:sp>
        <p:nvSpPr>
          <p:cNvPr id="38"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Content Placeholder 4" descr="Burning forest and trees">
            <a:extLst>
              <a:ext uri="{FF2B5EF4-FFF2-40B4-BE49-F238E27FC236}">
                <a16:creationId xmlns:a16="http://schemas.microsoft.com/office/drawing/2014/main" id="{307C89BD-2F14-51F2-119D-26177EC3624F}"/>
              </a:ext>
            </a:extLst>
          </p:cNvPr>
          <p:cNvPicPr>
            <a:picLocks noChangeAspect="1"/>
          </p:cNvPicPr>
          <p:nvPr/>
        </p:nvPicPr>
        <p:blipFill>
          <a:blip r:embed="rId4"/>
          <a:srcRect l="26360" r="25235" b="-1"/>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40" name="Rectangle 39">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Content Placeholder 25">
            <a:extLst>
              <a:ext uri="{FF2B5EF4-FFF2-40B4-BE49-F238E27FC236}">
                <a16:creationId xmlns:a16="http://schemas.microsoft.com/office/drawing/2014/main" id="{033683B3-D172-BCA3-42E3-D922FA648F43}"/>
              </a:ext>
            </a:extLst>
          </p:cNvPr>
          <p:cNvSpPr>
            <a:spLocks noGrp="1"/>
          </p:cNvSpPr>
          <p:nvPr>
            <p:ph idx="1"/>
          </p:nvPr>
        </p:nvSpPr>
        <p:spPr>
          <a:xfrm>
            <a:off x="5410950" y="2052918"/>
            <a:ext cx="4638903" cy="4195481"/>
          </a:xfrm>
        </p:spPr>
        <p:txBody>
          <a:bodyPr>
            <a:normAutofit lnSpcReduction="10000"/>
          </a:bodyPr>
          <a:lstStyle/>
          <a:p>
            <a:r>
              <a:rPr lang="en-US"/>
              <a:t>Wildfires are more destructive than ever due to Climate Change</a:t>
            </a:r>
          </a:p>
          <a:p>
            <a:endParaRPr lang="en-US"/>
          </a:p>
          <a:p>
            <a:r>
              <a:rPr lang="en-US"/>
              <a:t>In 2024 alone, </a:t>
            </a:r>
            <a:r>
              <a:rPr lang="en-US" b="1"/>
              <a:t>8.92 Million </a:t>
            </a:r>
            <a:r>
              <a:rPr lang="en-US"/>
              <a:t>acres of land was burnt by wildfires </a:t>
            </a:r>
          </a:p>
          <a:p>
            <a:endParaRPr lang="en-US"/>
          </a:p>
          <a:p>
            <a:r>
              <a:rPr lang="en-US"/>
              <a:t>Loss of biodiversity </a:t>
            </a:r>
          </a:p>
          <a:p>
            <a:endParaRPr lang="en-US"/>
          </a:p>
          <a:p>
            <a:r>
              <a:rPr lang="en-US"/>
              <a:t>Destroyed ecosystems and wildlife habitats</a:t>
            </a:r>
          </a:p>
          <a:p>
            <a:endParaRPr lang="en-US"/>
          </a:p>
        </p:txBody>
      </p:sp>
      <p:sp>
        <p:nvSpPr>
          <p:cNvPr id="6" name="TextBox 5">
            <a:extLst>
              <a:ext uri="{FF2B5EF4-FFF2-40B4-BE49-F238E27FC236}">
                <a16:creationId xmlns:a16="http://schemas.microsoft.com/office/drawing/2014/main" id="{E70D4352-3C01-BC7F-4F9D-825970E6D32D}"/>
              </a:ext>
            </a:extLst>
          </p:cNvPr>
          <p:cNvSpPr txBox="1"/>
          <p:nvPr/>
        </p:nvSpPr>
        <p:spPr>
          <a:xfrm>
            <a:off x="4977740" y="6453273"/>
            <a:ext cx="11658600" cy="261610"/>
          </a:xfrm>
          <a:prstGeom prst="rect">
            <a:avLst/>
          </a:prstGeom>
          <a:noFill/>
        </p:spPr>
        <p:txBody>
          <a:bodyPr wrap="square" rtlCol="0">
            <a:spAutoFit/>
          </a:bodyPr>
          <a:lstStyle/>
          <a:p>
            <a:r>
              <a:rPr lang="en-US" sz="1050">
                <a:hlinkClick r:id="rId5"/>
              </a:rPr>
              <a:t>https://www.statista.com/statistics/203990/area-of-acres-burnt-due-to-wildland-fires-in-the-us/</a:t>
            </a:r>
            <a:r>
              <a:rPr lang="en-US" sz="1050"/>
              <a:t> </a:t>
            </a:r>
          </a:p>
        </p:txBody>
      </p:sp>
      <p:sp>
        <p:nvSpPr>
          <p:cNvPr id="3" name="Slide Number Placeholder 2">
            <a:extLst>
              <a:ext uri="{FF2B5EF4-FFF2-40B4-BE49-F238E27FC236}">
                <a16:creationId xmlns:a16="http://schemas.microsoft.com/office/drawing/2014/main" id="{806B9ADD-BDED-E8CB-EABD-5637C851CF4F}"/>
              </a:ext>
            </a:extLst>
          </p:cNvPr>
          <p:cNvSpPr>
            <a:spLocks noGrp="1"/>
          </p:cNvSpPr>
          <p:nvPr>
            <p:ph type="sldNum" sz="quarter" idx="12"/>
          </p:nvPr>
        </p:nvSpPr>
        <p:spPr/>
        <p:txBody>
          <a:bodyPr/>
          <a:lstStyle/>
          <a:p>
            <a:fld id="{F726F5A5-9172-A445-B9BD-F8F0698F3076}" type="slidenum">
              <a:rPr lang="en-US" smtClean="0"/>
              <a:t>3</a:t>
            </a:fld>
            <a:endParaRPr lang="en-US"/>
          </a:p>
        </p:txBody>
      </p:sp>
    </p:spTree>
    <p:extLst>
      <p:ext uri="{BB962C8B-B14F-4D97-AF65-F5344CB8AC3E}">
        <p14:creationId xmlns:p14="http://schemas.microsoft.com/office/powerpoint/2010/main" val="1421443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EF1D7842-F60A-361B-316E-60958EEA2EEE}"/>
              </a:ext>
            </a:extLst>
          </p:cNvPr>
          <p:cNvSpPr>
            <a:spLocks noGrp="1"/>
          </p:cNvSpPr>
          <p:nvPr>
            <p:ph type="title"/>
          </p:nvPr>
        </p:nvSpPr>
        <p:spPr>
          <a:xfrm>
            <a:off x="876300" y="452718"/>
            <a:ext cx="9174534" cy="1400530"/>
          </a:xfrm>
        </p:spPr>
        <p:txBody>
          <a:bodyPr anchor="ctr">
            <a:normAutofit/>
          </a:bodyPr>
          <a:lstStyle/>
          <a:p>
            <a:r>
              <a:rPr lang="en-US">
                <a:solidFill>
                  <a:srgbClr val="FFFFFF"/>
                </a:solidFill>
              </a:rPr>
              <a:t>Problems With the Current Solutions</a:t>
            </a:r>
          </a:p>
        </p:txBody>
      </p:sp>
      <p:sp>
        <p:nvSpPr>
          <p:cNvPr id="9" name="TextBox 8">
            <a:extLst>
              <a:ext uri="{FF2B5EF4-FFF2-40B4-BE49-F238E27FC236}">
                <a16:creationId xmlns:a16="http://schemas.microsoft.com/office/drawing/2014/main" id="{C7750308-6587-3DAD-AD68-169CD08B2489}"/>
              </a:ext>
            </a:extLst>
          </p:cNvPr>
          <p:cNvSpPr txBox="1"/>
          <p:nvPr/>
        </p:nvSpPr>
        <p:spPr>
          <a:xfrm>
            <a:off x="1187846" y="5227276"/>
            <a:ext cx="2703512" cy="1200329"/>
          </a:xfrm>
          <a:prstGeom prst="rect">
            <a:avLst/>
          </a:prstGeom>
          <a:noFill/>
        </p:spPr>
        <p:txBody>
          <a:bodyPr wrap="square" rtlCol="0">
            <a:spAutoFit/>
          </a:bodyPr>
          <a:lstStyle/>
          <a:p>
            <a:r>
              <a:rPr lang="en-US" b="1"/>
              <a:t>          High Costs:</a:t>
            </a:r>
          </a:p>
          <a:p>
            <a:r>
              <a:rPr lang="en-US"/>
              <a:t>Firefighting efforts are incredibly expensive       and labor-intensive</a:t>
            </a:r>
          </a:p>
        </p:txBody>
      </p:sp>
      <p:pic>
        <p:nvPicPr>
          <p:cNvPr id="13" name="Graphic 12" descr="Firefighter male with solid fill">
            <a:extLst>
              <a:ext uri="{FF2B5EF4-FFF2-40B4-BE49-F238E27FC236}">
                <a16:creationId xmlns:a16="http://schemas.microsoft.com/office/drawing/2014/main" id="{E14F4986-98E8-DE7E-FC7C-7CAC55B285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6300" y="2305966"/>
            <a:ext cx="3081138" cy="3081138"/>
          </a:xfrm>
          <a:prstGeom prst="rect">
            <a:avLst/>
          </a:prstGeom>
        </p:spPr>
      </p:pic>
      <p:sp>
        <p:nvSpPr>
          <p:cNvPr id="17" name="TextBox 16">
            <a:extLst>
              <a:ext uri="{FF2B5EF4-FFF2-40B4-BE49-F238E27FC236}">
                <a16:creationId xmlns:a16="http://schemas.microsoft.com/office/drawing/2014/main" id="{FE25D55D-AC62-018B-AD05-15CBD6A42ED5}"/>
              </a:ext>
            </a:extLst>
          </p:cNvPr>
          <p:cNvSpPr txBox="1"/>
          <p:nvPr/>
        </p:nvSpPr>
        <p:spPr>
          <a:xfrm>
            <a:off x="5014512" y="5227276"/>
            <a:ext cx="2719588" cy="1200329"/>
          </a:xfrm>
          <a:prstGeom prst="rect">
            <a:avLst/>
          </a:prstGeom>
          <a:noFill/>
        </p:spPr>
        <p:txBody>
          <a:bodyPr wrap="square" rtlCol="0">
            <a:spAutoFit/>
          </a:bodyPr>
          <a:lstStyle/>
          <a:p>
            <a:r>
              <a:rPr lang="en-US" b="1"/>
              <a:t>   Delayed Detection: </a:t>
            </a:r>
          </a:p>
          <a:p>
            <a:r>
              <a:rPr lang="en-US"/>
              <a:t>Cameras and satellites only alert, without any direct response system</a:t>
            </a:r>
          </a:p>
        </p:txBody>
      </p:sp>
      <p:pic>
        <p:nvPicPr>
          <p:cNvPr id="19" name="Graphic 18" descr="Siren with solid fill">
            <a:extLst>
              <a:ext uri="{FF2B5EF4-FFF2-40B4-BE49-F238E27FC236}">
                <a16:creationId xmlns:a16="http://schemas.microsoft.com/office/drawing/2014/main" id="{32731B0C-18FD-5B48-0A03-18D03BC51BE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33737" y="2401366"/>
            <a:ext cx="3081138" cy="3081138"/>
          </a:xfrm>
          <a:prstGeom prst="rect">
            <a:avLst/>
          </a:prstGeom>
        </p:spPr>
      </p:pic>
      <p:sp>
        <p:nvSpPr>
          <p:cNvPr id="20" name="TextBox 19">
            <a:extLst>
              <a:ext uri="{FF2B5EF4-FFF2-40B4-BE49-F238E27FC236}">
                <a16:creationId xmlns:a16="http://schemas.microsoft.com/office/drawing/2014/main" id="{67CFCD1C-7C71-04A5-2082-99D7F5CCA212}"/>
              </a:ext>
            </a:extLst>
          </p:cNvPr>
          <p:cNvSpPr txBox="1"/>
          <p:nvPr/>
        </p:nvSpPr>
        <p:spPr>
          <a:xfrm>
            <a:off x="8657803" y="5239566"/>
            <a:ext cx="2786062" cy="1477328"/>
          </a:xfrm>
          <a:prstGeom prst="rect">
            <a:avLst/>
          </a:prstGeom>
          <a:noFill/>
        </p:spPr>
        <p:txBody>
          <a:bodyPr wrap="square" rtlCol="0">
            <a:spAutoFit/>
          </a:bodyPr>
          <a:lstStyle/>
          <a:p>
            <a:r>
              <a:rPr lang="en-US" b="1"/>
              <a:t>   Limited Prevention:</a:t>
            </a:r>
          </a:p>
          <a:p>
            <a:r>
              <a:rPr lang="en-US"/>
              <a:t>Current solutions focus on fighting fires rather than stopping them    		early</a:t>
            </a:r>
          </a:p>
        </p:txBody>
      </p:sp>
      <p:pic>
        <p:nvPicPr>
          <p:cNvPr id="26" name="Graphic 25" descr="Fire Hydrant outline">
            <a:extLst>
              <a:ext uri="{FF2B5EF4-FFF2-40B4-BE49-F238E27FC236}">
                <a16:creationId xmlns:a16="http://schemas.microsoft.com/office/drawing/2014/main" id="{C39A467C-00EF-35E8-322C-371F576A4D0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77028" y="2548904"/>
            <a:ext cx="2786062" cy="2786062"/>
          </a:xfrm>
          <a:prstGeom prst="rect">
            <a:avLst/>
          </a:prstGeom>
        </p:spPr>
      </p:pic>
      <p:sp>
        <p:nvSpPr>
          <p:cNvPr id="3" name="Slide Number Placeholder 2">
            <a:extLst>
              <a:ext uri="{FF2B5EF4-FFF2-40B4-BE49-F238E27FC236}">
                <a16:creationId xmlns:a16="http://schemas.microsoft.com/office/drawing/2014/main" id="{37E8A94A-08B1-9654-7638-B8B46CA3944E}"/>
              </a:ext>
            </a:extLst>
          </p:cNvPr>
          <p:cNvSpPr>
            <a:spLocks noGrp="1"/>
          </p:cNvSpPr>
          <p:nvPr>
            <p:ph type="sldNum" sz="quarter" idx="12"/>
          </p:nvPr>
        </p:nvSpPr>
        <p:spPr/>
        <p:txBody>
          <a:bodyPr/>
          <a:lstStyle/>
          <a:p>
            <a:fld id="{F726F5A5-9172-A445-B9BD-F8F0698F3076}" type="slidenum">
              <a:rPr lang="en-US" smtClean="0"/>
              <a:t>4</a:t>
            </a:fld>
            <a:endParaRPr lang="en-US"/>
          </a:p>
        </p:txBody>
      </p:sp>
    </p:spTree>
    <p:extLst>
      <p:ext uri="{BB962C8B-B14F-4D97-AF65-F5344CB8AC3E}">
        <p14:creationId xmlns:p14="http://schemas.microsoft.com/office/powerpoint/2010/main" val="735527514"/>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8"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2">
              <a:alpha val="20000"/>
            </a:schemeClr>
          </a:solidFill>
          <a:ln>
            <a:noFill/>
          </a:ln>
        </p:spPr>
        <p:txBody>
          <a:bodyPr rtlCol="0" anchor="ctr"/>
          <a:lstStyle/>
          <a:p>
            <a:pPr algn="ctr"/>
            <a:endParaRPr lang="en-US"/>
          </a:p>
        </p:txBody>
      </p:sp>
      <p:sp>
        <p:nvSpPr>
          <p:cNvPr id="29" name="Freeform: Shape 22">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B817935-04D7-4048-4A12-93B8A20A48F0}"/>
              </a:ext>
            </a:extLst>
          </p:cNvPr>
          <p:cNvSpPr>
            <a:spLocks noGrp="1"/>
          </p:cNvSpPr>
          <p:nvPr>
            <p:ph type="title"/>
          </p:nvPr>
        </p:nvSpPr>
        <p:spPr>
          <a:xfrm>
            <a:off x="612841" y="2538043"/>
            <a:ext cx="3522879" cy="1781914"/>
          </a:xfrm>
        </p:spPr>
        <p:txBody>
          <a:bodyPr>
            <a:normAutofit/>
          </a:bodyPr>
          <a:lstStyle/>
          <a:p>
            <a:pPr algn="r"/>
            <a:r>
              <a:rPr lang="en-US">
                <a:solidFill>
                  <a:srgbClr val="FFFFFF"/>
                </a:solidFill>
              </a:rPr>
              <a:t>Introducing ExtinguishAI</a:t>
            </a:r>
          </a:p>
        </p:txBody>
      </p:sp>
      <p:graphicFrame>
        <p:nvGraphicFramePr>
          <p:cNvPr id="33" name="Content Placeholder 2">
            <a:extLst>
              <a:ext uri="{FF2B5EF4-FFF2-40B4-BE49-F238E27FC236}">
                <a16:creationId xmlns:a16="http://schemas.microsoft.com/office/drawing/2014/main" id="{410648A5-94A9-8341-34AB-98E5F08CC1D7}"/>
              </a:ext>
            </a:extLst>
          </p:cNvPr>
          <p:cNvGraphicFramePr>
            <a:graphicFrameLocks noGrp="1"/>
          </p:cNvGraphicFramePr>
          <p:nvPr>
            <p:ph idx="1"/>
            <p:extLst>
              <p:ext uri="{D42A27DB-BD31-4B8C-83A1-F6EECF244321}">
                <p14:modId xmlns:p14="http://schemas.microsoft.com/office/powerpoint/2010/main" val="104573485"/>
              </p:ext>
            </p:extLst>
          </p:nvPr>
        </p:nvGraphicFramePr>
        <p:xfrm>
          <a:off x="5204109" y="1645920"/>
          <a:ext cx="5919503" cy="44708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C53986B5-3288-A4EB-50F3-5B41648798E6}"/>
              </a:ext>
            </a:extLst>
          </p:cNvPr>
          <p:cNvSpPr>
            <a:spLocks noGrp="1"/>
          </p:cNvSpPr>
          <p:nvPr>
            <p:ph type="sldNum" sz="quarter" idx="12"/>
          </p:nvPr>
        </p:nvSpPr>
        <p:spPr/>
        <p:txBody>
          <a:bodyPr/>
          <a:lstStyle/>
          <a:p>
            <a:fld id="{F726F5A5-9172-A445-B9BD-F8F0698F3076}" type="slidenum">
              <a:rPr lang="en-US" smtClean="0"/>
              <a:t>5</a:t>
            </a:fld>
            <a:endParaRPr lang="en-US"/>
          </a:p>
        </p:txBody>
      </p:sp>
    </p:spTree>
    <p:extLst>
      <p:ext uri="{BB962C8B-B14F-4D97-AF65-F5344CB8AC3E}">
        <p14:creationId xmlns:p14="http://schemas.microsoft.com/office/powerpoint/2010/main" val="1261622166"/>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 name="Rectangle 65">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C1C6C6-0DB5-4DDD-C9E8-91B9EDC63C91}"/>
              </a:ext>
            </a:extLst>
          </p:cNvPr>
          <p:cNvSpPr>
            <a:spLocks noGrp="1"/>
          </p:cNvSpPr>
          <p:nvPr>
            <p:ph type="title"/>
          </p:nvPr>
        </p:nvSpPr>
        <p:spPr>
          <a:xfrm>
            <a:off x="796848" y="1143000"/>
            <a:ext cx="3108626" cy="4572000"/>
          </a:xfrm>
        </p:spPr>
        <p:txBody>
          <a:bodyPr anchor="ctr">
            <a:normAutofit/>
          </a:bodyPr>
          <a:lstStyle/>
          <a:p>
            <a:r>
              <a:rPr lang="en-US" sz="3200">
                <a:solidFill>
                  <a:srgbClr val="F2F2F2"/>
                </a:solidFill>
              </a:rPr>
              <a:t>      Key Objectives</a:t>
            </a:r>
          </a:p>
        </p:txBody>
      </p:sp>
      <p:sp>
        <p:nvSpPr>
          <p:cNvPr id="68" name="Freeform: Shape 67">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72" name="Rectangle 71">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325E74AC-B352-7D9D-AF6C-6BF89021431F}"/>
              </a:ext>
            </a:extLst>
          </p:cNvPr>
          <p:cNvSpPr>
            <a:spLocks noGrp="1"/>
          </p:cNvSpPr>
          <p:nvPr>
            <p:ph type="sldNum" sz="quarter" idx="12"/>
          </p:nvPr>
        </p:nvSpPr>
        <p:spPr>
          <a:xfrm>
            <a:off x="10352540" y="295729"/>
            <a:ext cx="838199" cy="767687"/>
          </a:xfrm>
        </p:spPr>
        <p:txBody>
          <a:bodyPr>
            <a:normAutofit/>
          </a:bodyPr>
          <a:lstStyle/>
          <a:p>
            <a:pPr>
              <a:spcAft>
                <a:spcPts val="600"/>
              </a:spcAft>
            </a:pPr>
            <a:fld id="{F726F5A5-9172-A445-B9BD-F8F0698F3076}" type="slidenum">
              <a:rPr lang="en-US">
                <a:solidFill>
                  <a:srgbClr val="FFFFFF"/>
                </a:solidFill>
              </a:rPr>
              <a:pPr>
                <a:spcAft>
                  <a:spcPts val="600"/>
                </a:spcAft>
              </a:pPr>
              <a:t>6</a:t>
            </a:fld>
            <a:endParaRPr lang="en-US">
              <a:solidFill>
                <a:srgbClr val="FFFFFF"/>
              </a:solidFill>
            </a:endParaRPr>
          </a:p>
        </p:txBody>
      </p:sp>
      <p:graphicFrame>
        <p:nvGraphicFramePr>
          <p:cNvPr id="50" name="Content Placeholder 2">
            <a:extLst>
              <a:ext uri="{FF2B5EF4-FFF2-40B4-BE49-F238E27FC236}">
                <a16:creationId xmlns:a16="http://schemas.microsoft.com/office/drawing/2014/main" id="{3C0E91E3-74FF-6471-3110-5620450D41D3}"/>
              </a:ext>
            </a:extLst>
          </p:cNvPr>
          <p:cNvGraphicFramePr>
            <a:graphicFrameLocks noGrp="1"/>
          </p:cNvGraphicFramePr>
          <p:nvPr>
            <p:ph idx="1"/>
            <p:extLst>
              <p:ext uri="{D42A27DB-BD31-4B8C-83A1-F6EECF244321}">
                <p14:modId xmlns:p14="http://schemas.microsoft.com/office/powerpoint/2010/main" val="757717551"/>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9099650"/>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3"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2">
              <a:alpha val="20000"/>
            </a:schemeClr>
          </a:solidFill>
          <a:ln>
            <a:noFill/>
          </a:ln>
        </p:spPr>
        <p:txBody>
          <a:bodyPr rtlCol="0" anchor="ctr"/>
          <a:lstStyle/>
          <a:p>
            <a:pPr algn="ctr"/>
            <a:endParaRPr lang="en-US"/>
          </a:p>
        </p:txBody>
      </p:sp>
      <p:sp>
        <p:nvSpPr>
          <p:cNvPr id="35" name="Freeform: Shape 34">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94266F26-057C-5855-445E-B4F3FB266BC3}"/>
              </a:ext>
            </a:extLst>
          </p:cNvPr>
          <p:cNvSpPr>
            <a:spLocks noGrp="1"/>
          </p:cNvSpPr>
          <p:nvPr>
            <p:ph type="sldNum" sz="quarter" idx="12"/>
          </p:nvPr>
        </p:nvSpPr>
        <p:spPr>
          <a:xfrm>
            <a:off x="10352540" y="295729"/>
            <a:ext cx="838199" cy="767687"/>
          </a:xfrm>
        </p:spPr>
        <p:txBody>
          <a:bodyPr>
            <a:normAutofit/>
          </a:bodyPr>
          <a:lstStyle/>
          <a:p>
            <a:pPr>
              <a:spcAft>
                <a:spcPts val="600"/>
              </a:spcAft>
            </a:pPr>
            <a:fld id="{F726F5A5-9172-A445-B9BD-F8F0698F3076}" type="slidenum">
              <a:rPr lang="en-US">
                <a:solidFill>
                  <a:srgbClr val="FFFFFF"/>
                </a:solidFill>
              </a:rPr>
              <a:pPr>
                <a:spcAft>
                  <a:spcPts val="600"/>
                </a:spcAft>
              </a:pPr>
              <a:t>7</a:t>
            </a:fld>
            <a:endParaRPr lang="en-US">
              <a:solidFill>
                <a:srgbClr val="FFFFFF"/>
              </a:solidFill>
            </a:endParaRPr>
          </a:p>
        </p:txBody>
      </p:sp>
      <p:sp>
        <p:nvSpPr>
          <p:cNvPr id="2" name="Title 1">
            <a:extLst>
              <a:ext uri="{FF2B5EF4-FFF2-40B4-BE49-F238E27FC236}">
                <a16:creationId xmlns:a16="http://schemas.microsoft.com/office/drawing/2014/main" id="{EDD30806-0A55-0A0A-42D9-7ABD14E91948}"/>
              </a:ext>
            </a:extLst>
          </p:cNvPr>
          <p:cNvSpPr>
            <a:spLocks noGrp="1"/>
          </p:cNvSpPr>
          <p:nvPr>
            <p:ph type="title"/>
          </p:nvPr>
        </p:nvSpPr>
        <p:spPr>
          <a:xfrm>
            <a:off x="612841" y="2334260"/>
            <a:ext cx="3522879" cy="2189480"/>
          </a:xfrm>
        </p:spPr>
        <p:txBody>
          <a:bodyPr>
            <a:normAutofit/>
          </a:bodyPr>
          <a:lstStyle/>
          <a:p>
            <a:pPr algn="r"/>
            <a:r>
              <a:rPr lang="en-US" b="1">
                <a:solidFill>
                  <a:srgbClr val="FFFFFF"/>
                </a:solidFill>
                <a:latin typeface="Times New Roman"/>
                <a:cs typeface="Times New Roman"/>
              </a:rPr>
              <a:t>Overview of Technological Approach</a:t>
            </a:r>
            <a:endParaRPr lang="en-US">
              <a:solidFill>
                <a:srgbClr val="FFFFFF"/>
              </a:solidFill>
            </a:endParaRPr>
          </a:p>
        </p:txBody>
      </p:sp>
      <p:sp>
        <p:nvSpPr>
          <p:cNvPr id="3" name="Content Placeholder 2">
            <a:extLst>
              <a:ext uri="{FF2B5EF4-FFF2-40B4-BE49-F238E27FC236}">
                <a16:creationId xmlns:a16="http://schemas.microsoft.com/office/drawing/2014/main" id="{91C400A0-8083-3A90-43CE-63242D747BF4}"/>
              </a:ext>
            </a:extLst>
          </p:cNvPr>
          <p:cNvSpPr>
            <a:spLocks noGrp="1"/>
          </p:cNvSpPr>
          <p:nvPr>
            <p:ph idx="1"/>
          </p:nvPr>
        </p:nvSpPr>
        <p:spPr>
          <a:xfrm>
            <a:off x="5204109" y="1193589"/>
            <a:ext cx="5919503" cy="4470821"/>
          </a:xfrm>
        </p:spPr>
        <p:txBody>
          <a:bodyPr vert="horz" lIns="91440" tIns="45720" rIns="91440" bIns="45720" rtlCol="0">
            <a:normAutofit lnSpcReduction="10000"/>
          </a:bodyPr>
          <a:lstStyle/>
          <a:p>
            <a:pPr marL="0" indent="0">
              <a:buClr>
                <a:srgbClr val="8AD0D6"/>
              </a:buClr>
              <a:buNone/>
            </a:pPr>
            <a:endParaRPr lang="en-US" sz="3000" b="1">
              <a:latin typeface="Times New Roman"/>
              <a:cs typeface="Times New Roman"/>
            </a:endParaRPr>
          </a:p>
          <a:p>
            <a:pPr>
              <a:buClr>
                <a:srgbClr val="8AD0D6"/>
              </a:buClr>
            </a:pPr>
            <a:r>
              <a:rPr lang="en-US" sz="3000" b="1">
                <a:latin typeface="Times New Roman"/>
                <a:cs typeface="Times New Roman"/>
              </a:rPr>
              <a:t>Autonomous Drone Navigation:</a:t>
            </a:r>
            <a:r>
              <a:rPr lang="en-US" sz="3000">
                <a:latin typeface="Times New Roman"/>
                <a:cs typeface="Times New Roman"/>
              </a:rPr>
              <a:t> AI-optimized routes ensure efficiency.</a:t>
            </a:r>
            <a:endParaRPr lang="en-US" sz="3000"/>
          </a:p>
          <a:p>
            <a:pPr>
              <a:buClr>
                <a:srgbClr val="8AD0D6"/>
              </a:buClr>
            </a:pPr>
            <a:r>
              <a:rPr lang="en-US" sz="3000" b="1">
                <a:latin typeface="Times New Roman"/>
                <a:cs typeface="Times New Roman"/>
              </a:rPr>
              <a:t>Fire Retardant Deployment:</a:t>
            </a:r>
            <a:r>
              <a:rPr lang="en-US" sz="3000">
                <a:latin typeface="Times New Roman"/>
                <a:cs typeface="Times New Roman"/>
              </a:rPr>
              <a:t> Targeted suppression prevents escalation.</a:t>
            </a:r>
          </a:p>
          <a:p>
            <a:pPr>
              <a:buClr>
                <a:srgbClr val="8AD0D6"/>
              </a:buClr>
            </a:pPr>
            <a:r>
              <a:rPr lang="en-US" sz="3000" b="1">
                <a:latin typeface="Times New Roman"/>
                <a:cs typeface="Times New Roman"/>
              </a:rPr>
              <a:t>AI-Powered Image Processing:</a:t>
            </a:r>
            <a:r>
              <a:rPr lang="en-US" sz="3000">
                <a:latin typeface="Times New Roman"/>
                <a:cs typeface="Times New Roman"/>
              </a:rPr>
              <a:t> Detects temperature anomalies.</a:t>
            </a:r>
            <a:endParaRPr lang="en-US" sz="3000"/>
          </a:p>
          <a:p>
            <a:pPr>
              <a:buClr>
                <a:srgbClr val="8AD0D6"/>
              </a:buClr>
            </a:pPr>
            <a:endParaRPr lang="en-US" sz="3000"/>
          </a:p>
        </p:txBody>
      </p:sp>
    </p:spTree>
    <p:extLst>
      <p:ext uri="{BB962C8B-B14F-4D97-AF65-F5344CB8AC3E}">
        <p14:creationId xmlns:p14="http://schemas.microsoft.com/office/powerpoint/2010/main" val="2701646882"/>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FB666D3E-1492-1178-82A8-518809C26D15}"/>
              </a:ext>
            </a:extLst>
          </p:cNvPr>
          <p:cNvSpPr>
            <a:spLocks noGrp="1"/>
          </p:cNvSpPr>
          <p:nvPr>
            <p:ph type="title"/>
          </p:nvPr>
        </p:nvSpPr>
        <p:spPr>
          <a:xfrm>
            <a:off x="1103312" y="452718"/>
            <a:ext cx="8947522" cy="1400530"/>
          </a:xfrm>
        </p:spPr>
        <p:txBody>
          <a:bodyPr anchor="ctr">
            <a:normAutofit/>
          </a:bodyPr>
          <a:lstStyle/>
          <a:p>
            <a:r>
              <a:rPr lang="en-US">
                <a:solidFill>
                  <a:srgbClr val="FFFFFF"/>
                </a:solidFill>
              </a:rPr>
              <a:t>How </a:t>
            </a:r>
            <a:r>
              <a:rPr lang="en-US" err="1">
                <a:solidFill>
                  <a:srgbClr val="FFFFFF"/>
                </a:solidFill>
              </a:rPr>
              <a:t>ExtinguishAI</a:t>
            </a:r>
            <a:r>
              <a:rPr lang="en-US">
                <a:solidFill>
                  <a:srgbClr val="FFFFFF"/>
                </a:solidFill>
              </a:rPr>
              <a:t> stands out</a:t>
            </a:r>
          </a:p>
        </p:txBody>
      </p:sp>
      <p:graphicFrame>
        <p:nvGraphicFramePr>
          <p:cNvPr id="16" name="Content Placeholder 2">
            <a:extLst>
              <a:ext uri="{FF2B5EF4-FFF2-40B4-BE49-F238E27FC236}">
                <a16:creationId xmlns:a16="http://schemas.microsoft.com/office/drawing/2014/main" id="{AB6E8E1E-B20A-E408-D82A-A6B2B9C56005}"/>
              </a:ext>
            </a:extLst>
          </p:cNvPr>
          <p:cNvGraphicFramePr>
            <a:graphicFrameLocks noGrp="1"/>
          </p:cNvGraphicFramePr>
          <p:nvPr>
            <p:ph idx="1"/>
          </p:nvPr>
        </p:nvGraphicFramePr>
        <p:xfrm>
          <a:off x="1212056" y="2521932"/>
          <a:ext cx="9767888" cy="3798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044AE4E5-F9A9-ABAE-B344-E0814119E784}"/>
              </a:ext>
            </a:extLst>
          </p:cNvPr>
          <p:cNvSpPr>
            <a:spLocks noGrp="1"/>
          </p:cNvSpPr>
          <p:nvPr>
            <p:ph type="sldNum" sz="quarter" idx="12"/>
          </p:nvPr>
        </p:nvSpPr>
        <p:spPr/>
        <p:txBody>
          <a:bodyPr/>
          <a:lstStyle/>
          <a:p>
            <a:fld id="{F726F5A5-9172-A445-B9BD-F8F0698F3076}" type="slidenum">
              <a:rPr lang="en-US" smtClean="0"/>
              <a:t>8</a:t>
            </a:fld>
            <a:endParaRPr lang="en-US"/>
          </a:p>
        </p:txBody>
      </p:sp>
    </p:spTree>
    <p:extLst>
      <p:ext uri="{BB962C8B-B14F-4D97-AF65-F5344CB8AC3E}">
        <p14:creationId xmlns:p14="http://schemas.microsoft.com/office/powerpoint/2010/main" val="982331962"/>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636C9A0B-A896-6C74-9D5D-FAE5E5CD5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49A4C-A6CB-F4CA-72EB-223B60C02B22}"/>
              </a:ext>
            </a:extLst>
          </p:cNvPr>
          <p:cNvSpPr>
            <a:spLocks noGrp="1"/>
          </p:cNvSpPr>
          <p:nvPr>
            <p:ph type="title"/>
          </p:nvPr>
        </p:nvSpPr>
        <p:spPr>
          <a:xfrm>
            <a:off x="606707" y="322007"/>
            <a:ext cx="6249784" cy="1641986"/>
          </a:xfrm>
        </p:spPr>
        <p:txBody>
          <a:bodyPr>
            <a:normAutofit/>
          </a:bodyPr>
          <a:lstStyle/>
          <a:p>
            <a:r>
              <a:rPr lang="en-US" b="1">
                <a:ea typeface="+mj-lt"/>
                <a:cs typeface="+mj-lt"/>
              </a:rPr>
              <a:t>AI-Powered</a:t>
            </a:r>
            <a:br>
              <a:rPr lang="en-US" b="1">
                <a:ea typeface="+mj-lt"/>
                <a:cs typeface="+mj-lt"/>
              </a:rPr>
            </a:br>
            <a:r>
              <a:rPr lang="en-US" b="1">
                <a:ea typeface="+mj-lt"/>
                <a:cs typeface="+mj-lt"/>
              </a:rPr>
              <a:t>Fire Detection</a:t>
            </a:r>
            <a:endParaRPr lang="en-US"/>
          </a:p>
        </p:txBody>
      </p:sp>
      <p:pic>
        <p:nvPicPr>
          <p:cNvPr id="6" name="Picture 5">
            <a:extLst>
              <a:ext uri="{FF2B5EF4-FFF2-40B4-BE49-F238E27FC236}">
                <a16:creationId xmlns:a16="http://schemas.microsoft.com/office/drawing/2014/main" id="{090754E9-6490-8698-A89D-4FAF3BB92E2D}"/>
              </a:ext>
            </a:extLst>
          </p:cNvPr>
          <p:cNvPicPr>
            <a:picLocks noChangeAspect="1"/>
          </p:cNvPicPr>
          <p:nvPr/>
        </p:nvPicPr>
        <p:blipFill>
          <a:blip r:embed="rId3"/>
          <a:srcRect l="28401" r="28401"/>
          <a:stretch/>
        </p:blipFill>
        <p:spPr>
          <a:xfrm>
            <a:off x="7584732" y="5"/>
            <a:ext cx="4607268" cy="6857990"/>
          </a:xfrm>
          <a:prstGeom prst="rect">
            <a:avLst/>
          </a:prstGeom>
        </p:spPr>
      </p:pic>
      <p:sp>
        <p:nvSpPr>
          <p:cNvPr id="14" name="Rectangle 13">
            <a:extLst>
              <a:ext uri="{FF2B5EF4-FFF2-40B4-BE49-F238E27FC236}">
                <a16:creationId xmlns:a16="http://schemas.microsoft.com/office/drawing/2014/main" id="{4554089D-779D-46F6-81CB-EA9C12693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 name="Slide Number Placeholder 3">
            <a:extLst>
              <a:ext uri="{FF2B5EF4-FFF2-40B4-BE49-F238E27FC236}">
                <a16:creationId xmlns:a16="http://schemas.microsoft.com/office/drawing/2014/main" id="{CAE63E59-9770-AEAD-CBEF-04F318CAD34E}"/>
              </a:ext>
            </a:extLst>
          </p:cNvPr>
          <p:cNvSpPr>
            <a:spLocks noGrp="1"/>
          </p:cNvSpPr>
          <p:nvPr>
            <p:ph type="sldNum" sz="quarter" idx="12"/>
          </p:nvPr>
        </p:nvSpPr>
        <p:spPr>
          <a:xfrm>
            <a:off x="10352540" y="295729"/>
            <a:ext cx="838199" cy="76768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2800" b="0" i="0" u="none" strike="noStrike" kern="1200" cap="none" spc="0" normalizeH="0" baseline="0" noProof="0">
                <a:ln>
                  <a:noFill/>
                </a:ln>
                <a:solidFill>
                  <a:prstClr val="white">
                    <a:tint val="75000"/>
                  </a:prstClr>
                </a:solidFill>
                <a:effectLst/>
                <a:uLnTx/>
                <a:uFillTx/>
                <a:latin typeface="Century Gothic" panose="020B0502020202020204"/>
                <a:ea typeface="+mn-ea"/>
                <a:cs typeface="+mn-cs"/>
              </a:rPr>
              <a:t>9</a:t>
            </a:r>
          </a:p>
        </p:txBody>
      </p:sp>
      <p:sp>
        <p:nvSpPr>
          <p:cNvPr id="13" name="Content Placeholder 2">
            <a:extLst>
              <a:ext uri="{FF2B5EF4-FFF2-40B4-BE49-F238E27FC236}">
                <a16:creationId xmlns:a16="http://schemas.microsoft.com/office/drawing/2014/main" id="{DFEE26A5-6E00-BD28-00F4-E0FF80FE4561}"/>
              </a:ext>
            </a:extLst>
          </p:cNvPr>
          <p:cNvSpPr>
            <a:spLocks noGrp="1"/>
          </p:cNvSpPr>
          <p:nvPr>
            <p:ph idx="1"/>
          </p:nvPr>
        </p:nvSpPr>
        <p:spPr>
          <a:xfrm>
            <a:off x="245326" y="1645920"/>
            <a:ext cx="6929197" cy="5212080"/>
          </a:xfrm>
        </p:spPr>
        <p:txBody>
          <a:bodyPr vert="horz" lIns="91440" tIns="45720" rIns="91440" bIns="45720" rtlCol="0" anchor="t">
            <a:normAutofit fontScale="85000" lnSpcReduction="20000"/>
          </a:bodyPr>
          <a:lstStyle/>
          <a:p>
            <a:pPr>
              <a:lnSpc>
                <a:spcPct val="150000"/>
              </a:lnSpc>
              <a:spcBef>
                <a:spcPts val="0"/>
              </a:spcBef>
              <a:buClr>
                <a:srgbClr val="8AD0D6"/>
              </a:buClr>
            </a:pPr>
            <a:r>
              <a:rPr lang="en-US" sz="2400">
                <a:ea typeface="+mj-lt"/>
                <a:cs typeface="+mj-lt"/>
              </a:rPr>
              <a:t>Train learning models using historical wildfire data to recognize early fire indicators.</a:t>
            </a:r>
          </a:p>
          <a:p>
            <a:pPr lvl="1">
              <a:lnSpc>
                <a:spcPct val="150000"/>
              </a:lnSpc>
              <a:spcBef>
                <a:spcPts val="0"/>
              </a:spcBef>
              <a:buClr>
                <a:srgbClr val="8AD0D6"/>
              </a:buClr>
            </a:pPr>
            <a:r>
              <a:rPr lang="en-US" sz="2400">
                <a:ea typeface="+mj-lt"/>
                <a:cs typeface="+mj-lt"/>
              </a:rPr>
              <a:t>Ex: National Centers for Environmental Information</a:t>
            </a:r>
          </a:p>
          <a:p>
            <a:pPr marL="0" indent="0">
              <a:lnSpc>
                <a:spcPct val="150000"/>
              </a:lnSpc>
              <a:spcBef>
                <a:spcPts val="0"/>
              </a:spcBef>
              <a:buClr>
                <a:srgbClr val="8AD0D6"/>
              </a:buClr>
              <a:buNone/>
            </a:pPr>
            <a:endParaRPr lang="en-US" sz="2400">
              <a:ea typeface="+mj-lt"/>
              <a:cs typeface="+mj-lt"/>
            </a:endParaRPr>
          </a:p>
          <a:p>
            <a:pPr>
              <a:lnSpc>
                <a:spcPct val="150000"/>
              </a:lnSpc>
              <a:spcBef>
                <a:spcPts val="0"/>
              </a:spcBef>
              <a:buClr>
                <a:srgbClr val="8AD0D6"/>
              </a:buClr>
            </a:pPr>
            <a:r>
              <a:rPr lang="en-US" sz="2400">
                <a:ea typeface="+mj-lt"/>
                <a:cs typeface="+mj-lt"/>
              </a:rPr>
              <a:t>Combine thermal Imaging and computer vision data to enhance recognition of real threats or false alarms</a:t>
            </a:r>
          </a:p>
          <a:p>
            <a:pPr lvl="1">
              <a:lnSpc>
                <a:spcPct val="150000"/>
              </a:lnSpc>
              <a:spcBef>
                <a:spcPts val="0"/>
              </a:spcBef>
              <a:buClr>
                <a:srgbClr val="8AD0D6"/>
              </a:buClr>
            </a:pPr>
            <a:r>
              <a:rPr lang="en-US" sz="2400">
                <a:ea typeface="+mj-lt"/>
                <a:cs typeface="+mj-lt"/>
              </a:rPr>
              <a:t>Temperature differences</a:t>
            </a:r>
          </a:p>
          <a:p>
            <a:pPr lvl="1">
              <a:lnSpc>
                <a:spcPct val="150000"/>
              </a:lnSpc>
              <a:spcBef>
                <a:spcPts val="0"/>
              </a:spcBef>
              <a:buClr>
                <a:srgbClr val="8AD0D6"/>
              </a:buClr>
            </a:pPr>
            <a:r>
              <a:rPr lang="en-US" sz="2400">
                <a:ea typeface="+mj-lt"/>
                <a:cs typeface="+mj-lt"/>
              </a:rPr>
              <a:t>Heat Patterns</a:t>
            </a:r>
          </a:p>
          <a:p>
            <a:pPr lvl="1">
              <a:lnSpc>
                <a:spcPct val="150000"/>
              </a:lnSpc>
              <a:spcBef>
                <a:spcPts val="0"/>
              </a:spcBef>
              <a:buClr>
                <a:srgbClr val="8AD0D6"/>
              </a:buClr>
            </a:pPr>
            <a:r>
              <a:rPr lang="en-US" sz="2400">
                <a:ea typeface="+mj-lt"/>
                <a:cs typeface="+mj-lt"/>
              </a:rPr>
              <a:t>Movement</a:t>
            </a:r>
          </a:p>
          <a:p>
            <a:pPr marL="0" indent="0">
              <a:spcBef>
                <a:spcPts val="0"/>
              </a:spcBef>
              <a:buNone/>
            </a:pPr>
            <a:endParaRPr lang="en-US" sz="1100">
              <a:effectLst/>
              <a:hlinkClick r:id="rId4"/>
            </a:endParaRPr>
          </a:p>
          <a:p>
            <a:pPr marL="0" indent="0">
              <a:spcBef>
                <a:spcPts val="0"/>
              </a:spcBef>
              <a:buClr>
                <a:srgbClr val="8AD0D6"/>
              </a:buClr>
              <a:buNone/>
            </a:pPr>
            <a:endParaRPr lang="en-US" sz="1100">
              <a:latin typeface="+mn-lt"/>
              <a:cs typeface="Times New Roman"/>
              <a:hlinkClick r:id="rId5"/>
            </a:endParaRPr>
          </a:p>
          <a:p>
            <a:pPr marL="0" indent="0">
              <a:spcBef>
                <a:spcPts val="0"/>
              </a:spcBef>
              <a:buClr>
                <a:srgbClr val="8AD0D6"/>
              </a:buClr>
              <a:buNone/>
            </a:pPr>
            <a:endParaRPr lang="en-US" sz="1100">
              <a:latin typeface="+mn-lt"/>
              <a:cs typeface="Times New Roman"/>
              <a:hlinkClick r:id="rId5"/>
            </a:endParaRPr>
          </a:p>
          <a:p>
            <a:pPr marL="0" indent="0">
              <a:spcBef>
                <a:spcPts val="0"/>
              </a:spcBef>
              <a:buClr>
                <a:srgbClr val="8AD0D6"/>
              </a:buClr>
              <a:buNone/>
            </a:pPr>
            <a:endParaRPr lang="en-US" sz="1100">
              <a:latin typeface="+mn-lt"/>
              <a:cs typeface="Times New Roman"/>
              <a:hlinkClick r:id="rId5"/>
            </a:endParaRPr>
          </a:p>
          <a:p>
            <a:pPr marL="0" indent="0">
              <a:spcBef>
                <a:spcPts val="0"/>
              </a:spcBef>
              <a:buClr>
                <a:srgbClr val="8AD0D6"/>
              </a:buClr>
              <a:buNone/>
            </a:pPr>
            <a:r>
              <a:rPr lang="en-US" sz="1100">
                <a:latin typeface="+mn-lt"/>
                <a:cs typeface="Times New Roman"/>
                <a:hlinkClick r:id="rId4"/>
              </a:rPr>
              <a:t>https://emlab.ucsb.edu/projects/bringing-historical-perspective-wildfires-california</a:t>
            </a:r>
            <a:r>
              <a:rPr lang="en-US" sz="1100">
                <a:latin typeface="+mn-lt"/>
                <a:cs typeface="Times New Roman"/>
              </a:rPr>
              <a:t>	</a:t>
            </a:r>
            <a:endParaRPr lang="en-US" sz="1100"/>
          </a:p>
        </p:txBody>
      </p:sp>
    </p:spTree>
    <p:extLst>
      <p:ext uri="{BB962C8B-B14F-4D97-AF65-F5344CB8AC3E}">
        <p14:creationId xmlns:p14="http://schemas.microsoft.com/office/powerpoint/2010/main" val="3520609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DF71A2-D184-9F3D-58DA-D1EC3E86C16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0467934-DCE9-1DFD-6DBB-551AB17E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90C4A38C-6CFB-4B3F-79C8-9FD01A1ED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2" name="Freeform 7">
            <a:extLst>
              <a:ext uri="{FF2B5EF4-FFF2-40B4-BE49-F238E27FC236}">
                <a16:creationId xmlns:a16="http://schemas.microsoft.com/office/drawing/2014/main" id="{374AF5CA-C0A3-C665-21EE-9BAC45227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5D86A9AC-B289-7E5E-C178-CDB53B7AB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1A3E70E2-D2E6-28D5-8B31-2DDE633D2030}"/>
              </a:ext>
            </a:extLst>
          </p:cNvPr>
          <p:cNvSpPr>
            <a:spLocks noGrp="1"/>
          </p:cNvSpPr>
          <p:nvPr>
            <p:ph type="title"/>
          </p:nvPr>
        </p:nvSpPr>
        <p:spPr>
          <a:xfrm>
            <a:off x="765839" y="443442"/>
            <a:ext cx="10657292" cy="1400530"/>
          </a:xfrm>
        </p:spPr>
        <p:txBody>
          <a:bodyPr anchor="ctr">
            <a:normAutofit/>
          </a:bodyPr>
          <a:lstStyle/>
          <a:p>
            <a:pPr algn="ctr"/>
            <a:r>
              <a:rPr lang="en-US" sz="3900" b="1">
                <a:solidFill>
                  <a:srgbClr val="FFFFFF"/>
                </a:solidFill>
              </a:rPr>
              <a:t>Machine Learning for </a:t>
            </a:r>
            <a:br>
              <a:rPr lang="en-US" sz="3900" b="1">
                <a:solidFill>
                  <a:srgbClr val="FFFFFF"/>
                </a:solidFill>
              </a:rPr>
            </a:br>
            <a:r>
              <a:rPr lang="en-US" sz="3900" b="1">
                <a:solidFill>
                  <a:srgbClr val="FFFFFF"/>
                </a:solidFill>
              </a:rPr>
              <a:t>Predictive Analysis</a:t>
            </a:r>
          </a:p>
        </p:txBody>
      </p:sp>
      <p:sp>
        <p:nvSpPr>
          <p:cNvPr id="9" name="TextBox 8">
            <a:extLst>
              <a:ext uri="{FF2B5EF4-FFF2-40B4-BE49-F238E27FC236}">
                <a16:creationId xmlns:a16="http://schemas.microsoft.com/office/drawing/2014/main" id="{093FC643-18F9-A811-FA2B-3978D107B74D}"/>
              </a:ext>
            </a:extLst>
          </p:cNvPr>
          <p:cNvSpPr txBox="1"/>
          <p:nvPr/>
        </p:nvSpPr>
        <p:spPr>
          <a:xfrm>
            <a:off x="1173014" y="5521919"/>
            <a:ext cx="2703512" cy="123110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entury Gothic" panose="020B0502020202020204"/>
                <a:ea typeface="+mn-ea"/>
                <a:cs typeface="+mn-cs"/>
              </a:rPr>
              <a:t>          </a:t>
            </a:r>
            <a:r>
              <a:rPr kumimoji="0" lang="en-US" sz="2000" b="1" i="0" u="none" strike="noStrike" kern="1200" cap="none" spc="0" normalizeH="0" baseline="0" noProof="0">
                <a:ln>
                  <a:noFill/>
                </a:ln>
                <a:solidFill>
                  <a:prstClr val="black"/>
                </a:solidFill>
                <a:effectLst/>
                <a:uLnTx/>
                <a:uFillTx/>
                <a:latin typeface="Century Gothic" panose="020B0502020202020204"/>
                <a:ea typeface="+mn-ea"/>
                <a:cs typeface="+mn-cs"/>
              </a:rPr>
              <a:t>Wind speed</a:t>
            </a:r>
            <a:r>
              <a:rPr kumimoji="0" lang="en-US" sz="1800" b="1" i="0" u="none" strike="noStrike" kern="1200" cap="none" spc="0" normalizeH="0" baseline="0" noProof="0">
                <a:ln>
                  <a:noFill/>
                </a:ln>
                <a:solidFill>
                  <a:prstClr val="black"/>
                </a:solidFill>
                <a:effectLst/>
                <a:uLnTx/>
                <a:uFillTx/>
                <a:latin typeface="Century Gothic" panose="020B0502020202020204"/>
                <a:ea typeface="+mn-ea"/>
                <a:cs typeface="+mn-cs"/>
              </a:rPr>
              <a: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High wind speeds determine spread of fires</a:t>
            </a:r>
          </a:p>
        </p:txBody>
      </p:sp>
      <p:pic>
        <p:nvPicPr>
          <p:cNvPr id="13" name="Graphic 12">
            <a:extLst>
              <a:ext uri="{FF2B5EF4-FFF2-40B4-BE49-F238E27FC236}">
                <a16:creationId xmlns:a16="http://schemas.microsoft.com/office/drawing/2014/main" id="{C50B5288-9CB7-4A90-BA5B-E4612A08639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478311" y="3429000"/>
            <a:ext cx="2092919" cy="2092919"/>
          </a:xfrm>
          <a:prstGeom prst="rect">
            <a:avLst/>
          </a:prstGeom>
        </p:spPr>
      </p:pic>
      <p:sp>
        <p:nvSpPr>
          <p:cNvPr id="17" name="TextBox 16">
            <a:extLst>
              <a:ext uri="{FF2B5EF4-FFF2-40B4-BE49-F238E27FC236}">
                <a16:creationId xmlns:a16="http://schemas.microsoft.com/office/drawing/2014/main" id="{1EEF431D-3A59-5C9B-69DE-9BA9E0DC5F00}"/>
              </a:ext>
            </a:extLst>
          </p:cNvPr>
          <p:cNvSpPr txBox="1"/>
          <p:nvPr/>
        </p:nvSpPr>
        <p:spPr>
          <a:xfrm>
            <a:off x="4736205" y="5521919"/>
            <a:ext cx="2719588" cy="123110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entury Gothic" panose="020B0502020202020204"/>
                <a:ea typeface="+mn-ea"/>
                <a:cs typeface="+mn-cs"/>
              </a:rPr>
              <a:t>   </a:t>
            </a:r>
            <a:r>
              <a:rPr kumimoji="0" lang="en-US" sz="2000" b="1" i="0" u="none" strike="noStrike" kern="1200" cap="none" spc="0" normalizeH="0" baseline="0" noProof="0">
                <a:ln>
                  <a:noFill/>
                </a:ln>
                <a:solidFill>
                  <a:prstClr val="black"/>
                </a:solidFill>
                <a:effectLst/>
                <a:uLnTx/>
                <a:uFillTx/>
                <a:latin typeface="Century Gothic" panose="020B0502020202020204"/>
                <a:ea typeface="+mn-ea"/>
                <a:cs typeface="+mn-cs"/>
              </a:rPr>
              <a:t>Temperature</a:t>
            </a:r>
            <a:r>
              <a:rPr kumimoji="0" lang="en-US" sz="1800" b="1" i="0" u="none" strike="noStrike" kern="1200" cap="none" spc="0" normalizeH="0" baseline="0" noProof="0">
                <a:ln>
                  <a:noFill/>
                </a:ln>
                <a:solidFill>
                  <a:prstClr val="black"/>
                </a:solidFill>
                <a:effectLst/>
                <a:uLnTx/>
                <a:uFillTx/>
                <a:latin typeface="Century Gothic" panose="020B0502020202020204"/>
                <a:ea typeface="+mn-ea"/>
                <a:cs typeface="+mn-cs"/>
              </a:rPr>
              <a: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High temperatures determine likelihood of fire outbreaks</a:t>
            </a:r>
          </a:p>
        </p:txBody>
      </p:sp>
      <p:pic>
        <p:nvPicPr>
          <p:cNvPr id="19" name="Graphic 18" descr="Thermometer">
            <a:extLst>
              <a:ext uri="{FF2B5EF4-FFF2-40B4-BE49-F238E27FC236}">
                <a16:creationId xmlns:a16="http://schemas.microsoft.com/office/drawing/2014/main" id="{3796E48D-4014-D76A-FA52-D93D58F04B5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49539" y="3429000"/>
            <a:ext cx="2092921" cy="2092921"/>
          </a:xfrm>
          <a:prstGeom prst="rect">
            <a:avLst/>
          </a:prstGeom>
        </p:spPr>
      </p:pic>
      <p:sp>
        <p:nvSpPr>
          <p:cNvPr id="20" name="TextBox 19">
            <a:extLst>
              <a:ext uri="{FF2B5EF4-FFF2-40B4-BE49-F238E27FC236}">
                <a16:creationId xmlns:a16="http://schemas.microsoft.com/office/drawing/2014/main" id="{B3E6ACD3-03A7-608A-9D35-7F632C995979}"/>
              </a:ext>
            </a:extLst>
          </p:cNvPr>
          <p:cNvSpPr txBox="1"/>
          <p:nvPr/>
        </p:nvSpPr>
        <p:spPr>
          <a:xfrm>
            <a:off x="8657802" y="5521919"/>
            <a:ext cx="2786062" cy="123110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entury Gothic" panose="020B0502020202020204"/>
                <a:ea typeface="+mn-ea"/>
                <a:cs typeface="+mn-cs"/>
              </a:rPr>
              <a:t>   </a:t>
            </a:r>
            <a:r>
              <a:rPr kumimoji="0" lang="en-US" sz="2000" b="1" i="0" u="none" strike="noStrike" kern="1200" cap="none" spc="0" normalizeH="0" baseline="0" noProof="0">
                <a:ln>
                  <a:noFill/>
                </a:ln>
                <a:solidFill>
                  <a:prstClr val="black"/>
                </a:solidFill>
                <a:effectLst/>
                <a:uLnTx/>
                <a:uFillTx/>
                <a:latin typeface="Century Gothic" panose="020B0502020202020204"/>
                <a:ea typeface="+mn-ea"/>
                <a:cs typeface="+mn-cs"/>
              </a:rPr>
              <a:t>Humidity</a:t>
            </a:r>
            <a:r>
              <a:rPr kumimoji="0" lang="en-US" sz="1800" b="1" i="0" u="none" strike="noStrike" kern="1200" cap="none" spc="0" normalizeH="0" baseline="0" noProof="0">
                <a:ln>
                  <a:noFill/>
                </a:ln>
                <a:solidFill>
                  <a:prstClr val="black"/>
                </a:solidFill>
                <a:effectLst/>
                <a:uLnTx/>
                <a:uFillTx/>
                <a:latin typeface="Century Gothic" panose="020B0502020202020204"/>
                <a:ea typeface="+mn-ea"/>
                <a:cs typeface="+mn-cs"/>
              </a:rPr>
              <a: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Low humidity determines flammability of fuel</a:t>
            </a:r>
          </a:p>
        </p:txBody>
      </p:sp>
      <p:pic>
        <p:nvPicPr>
          <p:cNvPr id="26" name="Graphic 25">
            <a:extLst>
              <a:ext uri="{FF2B5EF4-FFF2-40B4-BE49-F238E27FC236}">
                <a16:creationId xmlns:a16="http://schemas.microsoft.com/office/drawing/2014/main" id="{CF008A8C-F694-1D99-37D1-9AC788EE5596}"/>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9004373" y="3428998"/>
            <a:ext cx="2092921" cy="2092921"/>
          </a:xfrm>
          <a:prstGeom prst="rect">
            <a:avLst/>
          </a:prstGeom>
        </p:spPr>
      </p:pic>
      <p:sp>
        <p:nvSpPr>
          <p:cNvPr id="3" name="Slide Number Placeholder 2">
            <a:extLst>
              <a:ext uri="{FF2B5EF4-FFF2-40B4-BE49-F238E27FC236}">
                <a16:creationId xmlns:a16="http://schemas.microsoft.com/office/drawing/2014/main" id="{23728642-9E4F-D752-C30B-02E4CF08E9EE}"/>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F726F5A5-9172-A445-B9BD-F8F0698F3076}" type="slidenum">
              <a:rPr kumimoji="0" lang="en-US" sz="2800" b="0" i="0" u="none" strike="noStrike" kern="1200" cap="none" spc="0" normalizeH="0" baseline="0" noProof="0" smtClean="0">
                <a:ln>
                  <a:noFill/>
                </a:ln>
                <a:solidFill>
                  <a:prstClr val="white"/>
                </a:solidFill>
                <a:effectLst/>
                <a:uLnTx/>
                <a:uFillTx/>
                <a:latin typeface="Century Gothic" panose="020B0502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10</a:t>
            </a:fld>
            <a:endParaRPr kumimoji="0" lang="en-US" sz="2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 name="TextBox 3">
            <a:extLst>
              <a:ext uri="{FF2B5EF4-FFF2-40B4-BE49-F238E27FC236}">
                <a16:creationId xmlns:a16="http://schemas.microsoft.com/office/drawing/2014/main" id="{978CEFDD-6A89-97CD-698E-8EF80A38F852}"/>
              </a:ext>
            </a:extLst>
          </p:cNvPr>
          <p:cNvSpPr txBox="1"/>
          <p:nvPr/>
        </p:nvSpPr>
        <p:spPr>
          <a:xfrm>
            <a:off x="766854" y="2728028"/>
            <a:ext cx="10656277"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Century Gothic" panose="020B0502020202020204"/>
                <a:ea typeface="+mn-ea"/>
                <a:cs typeface="+mn-cs"/>
              </a:rPr>
              <a:t>To enable proactive drone deployment, AI models analyze for fire patterns using:</a:t>
            </a:r>
          </a:p>
        </p:txBody>
      </p:sp>
    </p:spTree>
    <p:extLst>
      <p:ext uri="{BB962C8B-B14F-4D97-AF65-F5344CB8AC3E}">
        <p14:creationId xmlns:p14="http://schemas.microsoft.com/office/powerpoint/2010/main" val="3558416654"/>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E80DDB06-3A85-B98B-B168-E8AD05ABF6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0DC8A-5FB3-5D3C-FAE2-9269C34A2E51}"/>
              </a:ext>
            </a:extLst>
          </p:cNvPr>
          <p:cNvSpPr>
            <a:spLocks noGrp="1"/>
          </p:cNvSpPr>
          <p:nvPr>
            <p:ph type="title"/>
          </p:nvPr>
        </p:nvSpPr>
        <p:spPr>
          <a:xfrm>
            <a:off x="5282381" y="629266"/>
            <a:ext cx="4767471" cy="1641986"/>
          </a:xfrm>
        </p:spPr>
        <p:txBody>
          <a:bodyPr>
            <a:normAutofit/>
          </a:bodyPr>
          <a:lstStyle/>
          <a:p>
            <a:pPr>
              <a:lnSpc>
                <a:spcPct val="90000"/>
              </a:lnSpc>
            </a:pPr>
            <a:r>
              <a:rPr lang="en-US" sz="3600" b="1">
                <a:ea typeface="+mj-lt"/>
                <a:cs typeface="+mj-lt"/>
              </a:rPr>
              <a:t>Computer Vision for Fire Identification</a:t>
            </a:r>
            <a:endParaRPr lang="en-US" sz="3600"/>
          </a:p>
        </p:txBody>
      </p:sp>
      <p:pic>
        <p:nvPicPr>
          <p:cNvPr id="6" name="Picture 5">
            <a:extLst>
              <a:ext uri="{FF2B5EF4-FFF2-40B4-BE49-F238E27FC236}">
                <a16:creationId xmlns:a16="http://schemas.microsoft.com/office/drawing/2014/main" id="{E5411A81-E057-597E-992D-8B77D997469D}"/>
              </a:ext>
            </a:extLst>
          </p:cNvPr>
          <p:cNvPicPr>
            <a:picLocks noChangeAspect="1"/>
          </p:cNvPicPr>
          <p:nvPr/>
        </p:nvPicPr>
        <p:blipFill>
          <a:blip r:embed="rId3"/>
          <a:srcRect t="265" b="265"/>
          <a:stretch/>
        </p:blipFill>
        <p:spPr>
          <a:xfrm>
            <a:off x="-1" y="10"/>
            <a:ext cx="4634680" cy="6857990"/>
          </a:xfrm>
          <a:prstGeom prst="rect">
            <a:avLst/>
          </a:prstGeom>
        </p:spPr>
      </p:pic>
      <p:sp>
        <p:nvSpPr>
          <p:cNvPr id="4" name="Slide Number Placeholder 3">
            <a:extLst>
              <a:ext uri="{FF2B5EF4-FFF2-40B4-BE49-F238E27FC236}">
                <a16:creationId xmlns:a16="http://schemas.microsoft.com/office/drawing/2014/main" id="{C9A33030-8F2A-0574-6B74-A2E6E7E8EFA2}"/>
              </a:ext>
            </a:extLst>
          </p:cNvPr>
          <p:cNvSpPr>
            <a:spLocks noGrp="1"/>
          </p:cNvSpPr>
          <p:nvPr>
            <p:ph type="sldNum" sz="quarter" idx="12"/>
          </p:nvPr>
        </p:nvSpPr>
        <p:spPr>
          <a:xfrm>
            <a:off x="10352540" y="295729"/>
            <a:ext cx="838199" cy="76768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2800" b="0" i="0" u="none" strike="noStrike" kern="1200" cap="none" spc="0" normalizeH="0" baseline="0" noProof="0">
                <a:ln>
                  <a:noFill/>
                </a:ln>
                <a:solidFill>
                  <a:prstClr val="white">
                    <a:tint val="75000"/>
                  </a:prstClr>
                </a:solidFill>
                <a:effectLst/>
                <a:uLnTx/>
                <a:uFillTx/>
                <a:latin typeface="Century Gothic" panose="020B0502020202020204"/>
                <a:ea typeface="+mn-ea"/>
                <a:cs typeface="+mn-cs"/>
              </a:rPr>
              <a:t>11</a:t>
            </a:r>
          </a:p>
        </p:txBody>
      </p:sp>
      <p:sp>
        <p:nvSpPr>
          <p:cNvPr id="10" name="Content Placeholder 2">
            <a:extLst>
              <a:ext uri="{FF2B5EF4-FFF2-40B4-BE49-F238E27FC236}">
                <a16:creationId xmlns:a16="http://schemas.microsoft.com/office/drawing/2014/main" id="{325A5038-335D-B32A-9B21-BA1E066DF3BA}"/>
              </a:ext>
            </a:extLst>
          </p:cNvPr>
          <p:cNvSpPr>
            <a:spLocks noGrp="1"/>
          </p:cNvSpPr>
          <p:nvPr>
            <p:ph idx="1"/>
          </p:nvPr>
        </p:nvSpPr>
        <p:spPr>
          <a:xfrm>
            <a:off x="5271236" y="2004266"/>
            <a:ext cx="5919503" cy="4470821"/>
          </a:xfrm>
        </p:spPr>
        <p:txBody>
          <a:bodyPr vert="horz" lIns="91440" tIns="45720" rIns="91440" bIns="45720" rtlCol="0" anchor="t">
            <a:normAutofit/>
          </a:bodyPr>
          <a:lstStyle/>
          <a:p>
            <a:r>
              <a:rPr lang="en-US" sz="2800">
                <a:ea typeface="+mj-lt"/>
                <a:cs typeface="+mj-lt"/>
              </a:rPr>
              <a:t>Drones will use object detection algorithms to differentiate threatening and non-threatening heat sources</a:t>
            </a:r>
          </a:p>
          <a:p>
            <a:pPr>
              <a:buClr>
                <a:srgbClr val="8AD0D6"/>
              </a:buClr>
            </a:pPr>
            <a:r>
              <a:rPr lang="en-US" sz="2800">
                <a:ea typeface="+mj-lt"/>
                <a:cs typeface="+mj-lt"/>
              </a:rPr>
              <a:t>Before flames are visible to satellites, AI drones will detect early-stage fire flickers and send alerts to local fire stations.	</a:t>
            </a:r>
            <a:endParaRPr lang="en-US" sz="2800"/>
          </a:p>
          <a:p>
            <a:pPr marL="0" indent="0">
              <a:buClr>
                <a:srgbClr val="8AD0D6"/>
              </a:buClr>
              <a:buNone/>
            </a:pPr>
            <a:endParaRPr lang="en-US"/>
          </a:p>
        </p:txBody>
      </p:sp>
    </p:spTree>
    <p:extLst>
      <p:ext uri="{BB962C8B-B14F-4D97-AF65-F5344CB8AC3E}">
        <p14:creationId xmlns:p14="http://schemas.microsoft.com/office/powerpoint/2010/main" val="673960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6BE4B-BBCC-DBE8-6D9A-0B17E3A9C6F7}"/>
              </a:ext>
            </a:extLst>
          </p:cNvPr>
          <p:cNvSpPr>
            <a:spLocks noGrp="1"/>
          </p:cNvSpPr>
          <p:nvPr>
            <p:ph type="title"/>
          </p:nvPr>
        </p:nvSpPr>
        <p:spPr>
          <a:xfrm>
            <a:off x="650668" y="629266"/>
            <a:ext cx="6828512" cy="1641986"/>
          </a:xfrm>
        </p:spPr>
        <p:txBody>
          <a:bodyPr>
            <a:normAutofit/>
          </a:bodyPr>
          <a:lstStyle/>
          <a:p>
            <a:r>
              <a:rPr lang="en-US" b="1"/>
              <a:t>AI Model Training &amp; Optimization</a:t>
            </a:r>
          </a:p>
        </p:txBody>
      </p:sp>
      <p:pic>
        <p:nvPicPr>
          <p:cNvPr id="17" name="Picture 16">
            <a:extLst>
              <a:ext uri="{FF2B5EF4-FFF2-40B4-BE49-F238E27FC236}">
                <a16:creationId xmlns:a16="http://schemas.microsoft.com/office/drawing/2014/main" id="{DC3EA24C-EAF5-5CF5-7D05-D9FF0FA9E821}"/>
              </a:ext>
            </a:extLst>
          </p:cNvPr>
          <p:cNvPicPr>
            <a:picLocks noChangeAspect="1"/>
          </p:cNvPicPr>
          <p:nvPr/>
        </p:nvPicPr>
        <p:blipFill>
          <a:blip r:embed="rId3"/>
          <a:srcRect l="30302" r="30302"/>
          <a:stretch/>
        </p:blipFill>
        <p:spPr>
          <a:xfrm>
            <a:off x="8135860" y="10"/>
            <a:ext cx="4058955" cy="6858000"/>
          </a:xfrm>
          <a:prstGeom prst="rect">
            <a:avLst/>
          </a:prstGeom>
        </p:spPr>
      </p:pic>
      <p:sp>
        <p:nvSpPr>
          <p:cNvPr id="28" name="Rectangle 27">
            <a:extLst>
              <a:ext uri="{FF2B5EF4-FFF2-40B4-BE49-F238E27FC236}">
                <a16:creationId xmlns:a16="http://schemas.microsoft.com/office/drawing/2014/main" id="{14701A01-E306-48FB-A661-2335BB38BA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 name="Slide Number Placeholder 3">
            <a:extLst>
              <a:ext uri="{FF2B5EF4-FFF2-40B4-BE49-F238E27FC236}">
                <a16:creationId xmlns:a16="http://schemas.microsoft.com/office/drawing/2014/main" id="{6D4EB88B-5081-FBFB-C275-02FE1BBC64F7}"/>
              </a:ext>
            </a:extLst>
          </p:cNvPr>
          <p:cNvSpPr>
            <a:spLocks noGrp="1"/>
          </p:cNvSpPr>
          <p:nvPr>
            <p:ph type="sldNum" sz="quarter" idx="12"/>
          </p:nvPr>
        </p:nvSpPr>
        <p:spPr>
          <a:xfrm>
            <a:off x="10352540" y="295729"/>
            <a:ext cx="838199" cy="76768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fld id="{F726F5A5-9172-A445-B9BD-F8F0698F3076}" type="slidenum">
              <a:rPr kumimoji="0" lang="en-US" sz="2800" b="0" i="0" u="none" strike="noStrike" kern="1200" cap="none" spc="0" normalizeH="0" baseline="0" noProof="0" smtClean="0">
                <a:ln>
                  <a:noFill/>
                </a:ln>
                <a:solidFill>
                  <a:prstClr val="white">
                    <a:tint val="75000"/>
                  </a:prstClr>
                </a:solidFill>
                <a:effectLst/>
                <a:uLnTx/>
                <a:uFillTx/>
                <a:latin typeface="Century Gothic" panose="020B0502020202020204"/>
                <a:ea typeface="+mn-ea"/>
                <a:cs typeface="+mn-cs"/>
              </a:rPr>
              <a:pPr marL="0" marR="0" lvl="0" indent="0" algn="ctr" defTabSz="457200" rtl="0" eaLnBrk="1" fontAlgn="auto" latinLnBrk="0" hangingPunct="1">
                <a:lnSpc>
                  <a:spcPct val="100000"/>
                </a:lnSpc>
                <a:spcBef>
                  <a:spcPts val="0"/>
                </a:spcBef>
                <a:spcAft>
                  <a:spcPts val="600"/>
                </a:spcAft>
                <a:buClrTx/>
                <a:buSzTx/>
                <a:buFontTx/>
                <a:buNone/>
                <a:tabLst/>
                <a:defRPr/>
              </a:pPr>
              <a:t>12</a:t>
            </a:fld>
            <a:endParaRPr kumimoji="0" lang="en-US" sz="2800" b="0" i="0" u="none" strike="noStrike" kern="1200" cap="none" spc="0" normalizeH="0" baseline="0" noProof="0">
              <a:ln>
                <a:noFill/>
              </a:ln>
              <a:solidFill>
                <a:prstClr val="white">
                  <a:tint val="75000"/>
                </a:prstClr>
              </a:solidFill>
              <a:effectLst/>
              <a:uLnTx/>
              <a:uFillTx/>
              <a:latin typeface="Century Gothic" panose="020B0502020202020204"/>
              <a:ea typeface="+mn-ea"/>
              <a:cs typeface="+mn-cs"/>
            </a:endParaRPr>
          </a:p>
        </p:txBody>
      </p:sp>
      <p:sp>
        <p:nvSpPr>
          <p:cNvPr id="3" name="Content Placeholder 2">
            <a:extLst>
              <a:ext uri="{FF2B5EF4-FFF2-40B4-BE49-F238E27FC236}">
                <a16:creationId xmlns:a16="http://schemas.microsoft.com/office/drawing/2014/main" id="{4E1A35FA-0F5A-0AAC-0CF9-9BC98AC23122}"/>
              </a:ext>
            </a:extLst>
          </p:cNvPr>
          <p:cNvSpPr>
            <a:spLocks noGrp="1"/>
          </p:cNvSpPr>
          <p:nvPr>
            <p:ph idx="1"/>
          </p:nvPr>
        </p:nvSpPr>
        <p:spPr>
          <a:xfrm>
            <a:off x="650668" y="2438400"/>
            <a:ext cx="6828512" cy="3809999"/>
          </a:xfrm>
        </p:spPr>
        <p:txBody>
          <a:bodyPr vert="horz" lIns="91440" tIns="45720" rIns="91440" bIns="45720" rtlCol="0" anchor="t">
            <a:normAutofit/>
          </a:bodyPr>
          <a:lstStyle/>
          <a:p>
            <a:r>
              <a:rPr lang="en-US" sz="2800">
                <a:ea typeface="+mj-lt"/>
                <a:cs typeface="+mj-lt"/>
              </a:rPr>
              <a:t>Refine AI models by feeding them new wildfire data, ensuring accurate and up-to-date fire prediction</a:t>
            </a:r>
          </a:p>
          <a:p>
            <a:pPr lvl="1"/>
            <a:r>
              <a:rPr lang="en-US" sz="2400">
                <a:ea typeface="+mj-lt"/>
                <a:cs typeface="+mj-lt"/>
              </a:rPr>
              <a:t>Government databases: quarterly, annual</a:t>
            </a:r>
          </a:p>
          <a:p>
            <a:pPr lvl="1"/>
            <a:r>
              <a:rPr lang="en-US" sz="2400">
                <a:ea typeface="+mj-lt"/>
                <a:cs typeface="+mj-lt"/>
              </a:rPr>
              <a:t>Weather/Climate: daily</a:t>
            </a:r>
          </a:p>
        </p:txBody>
      </p:sp>
    </p:spTree>
    <p:extLst>
      <p:ext uri="{BB962C8B-B14F-4D97-AF65-F5344CB8AC3E}">
        <p14:creationId xmlns:p14="http://schemas.microsoft.com/office/powerpoint/2010/main" val="1698429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5774A-0E08-3B2D-358C-C89E5A87D992}"/>
              </a:ext>
            </a:extLst>
          </p:cNvPr>
          <p:cNvSpPr>
            <a:spLocks noGrp="1"/>
          </p:cNvSpPr>
          <p:nvPr>
            <p:ph type="title"/>
          </p:nvPr>
        </p:nvSpPr>
        <p:spPr>
          <a:xfrm>
            <a:off x="4706649" y="629266"/>
            <a:ext cx="5645891" cy="1641986"/>
          </a:xfrm>
        </p:spPr>
        <p:txBody>
          <a:bodyPr>
            <a:normAutofit/>
          </a:bodyPr>
          <a:lstStyle/>
          <a:p>
            <a:pPr>
              <a:lnSpc>
                <a:spcPct val="90000"/>
              </a:lnSpc>
            </a:pPr>
            <a:r>
              <a:rPr lang="en-US" sz="3600" b="1"/>
              <a:t>AI's Role in </a:t>
            </a:r>
            <a:br>
              <a:rPr lang="en-US" sz="3600" b="1"/>
            </a:br>
            <a:r>
              <a:rPr lang="en-US" sz="3600" b="1"/>
              <a:t>Autonomous Navigation</a:t>
            </a:r>
          </a:p>
        </p:txBody>
      </p:sp>
      <p:pic>
        <p:nvPicPr>
          <p:cNvPr id="17" name="Picture 16">
            <a:extLst>
              <a:ext uri="{FF2B5EF4-FFF2-40B4-BE49-F238E27FC236}">
                <a16:creationId xmlns:a16="http://schemas.microsoft.com/office/drawing/2014/main" id="{377473D8-62FD-7408-3630-348FF59B5CC1}"/>
              </a:ext>
            </a:extLst>
          </p:cNvPr>
          <p:cNvPicPr>
            <a:picLocks noChangeAspect="1"/>
          </p:cNvPicPr>
          <p:nvPr/>
        </p:nvPicPr>
        <p:blipFill>
          <a:blip r:embed="rId3"/>
          <a:srcRect l="20407" r="20407"/>
          <a:stretch/>
        </p:blipFill>
        <p:spPr>
          <a:xfrm>
            <a:off x="0" y="0"/>
            <a:ext cx="4058949" cy="8249479"/>
          </a:xfrm>
          <a:prstGeom prst="rect">
            <a:avLst/>
          </a:prstGeom>
        </p:spPr>
      </p:pic>
      <p:sp>
        <p:nvSpPr>
          <p:cNvPr id="4" name="Slide Number Placeholder 3">
            <a:extLst>
              <a:ext uri="{FF2B5EF4-FFF2-40B4-BE49-F238E27FC236}">
                <a16:creationId xmlns:a16="http://schemas.microsoft.com/office/drawing/2014/main" id="{5F2A42CB-B836-9B49-105A-ACBCDA9DC662}"/>
              </a:ext>
            </a:extLst>
          </p:cNvPr>
          <p:cNvSpPr>
            <a:spLocks noGrp="1"/>
          </p:cNvSpPr>
          <p:nvPr>
            <p:ph type="sldNum" sz="quarter" idx="12"/>
          </p:nvPr>
        </p:nvSpPr>
        <p:spPr>
          <a:xfrm>
            <a:off x="10352540" y="295729"/>
            <a:ext cx="838199" cy="76768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fld id="{F726F5A5-9172-A445-B9BD-F8F0698F3076}" type="slidenum">
              <a:rPr kumimoji="0" lang="en-US" sz="2800" b="0" i="0" u="none" strike="noStrike" kern="1200" cap="none" spc="0" normalizeH="0" baseline="0" noProof="0">
                <a:ln>
                  <a:noFill/>
                </a:ln>
                <a:solidFill>
                  <a:prstClr val="white">
                    <a:tint val="75000"/>
                  </a:prstClr>
                </a:solidFill>
                <a:effectLst/>
                <a:uLnTx/>
                <a:uFillTx/>
                <a:latin typeface="Century Gothic" panose="020B0502020202020204"/>
                <a:ea typeface="+mn-ea"/>
                <a:cs typeface="+mn-cs"/>
              </a:rPr>
              <a:pPr marL="0" marR="0" lvl="0" indent="0" algn="ctr" defTabSz="457200" rtl="0" eaLnBrk="1" fontAlgn="auto" latinLnBrk="0" hangingPunct="1">
                <a:lnSpc>
                  <a:spcPct val="100000"/>
                </a:lnSpc>
                <a:spcBef>
                  <a:spcPts val="0"/>
                </a:spcBef>
                <a:spcAft>
                  <a:spcPts val="600"/>
                </a:spcAft>
                <a:buClrTx/>
                <a:buSzTx/>
                <a:buFontTx/>
                <a:buNone/>
                <a:tabLst/>
                <a:defRPr/>
              </a:pPr>
              <a:t>13</a:t>
            </a:fld>
            <a:endParaRPr kumimoji="0" lang="en-US" sz="2800" b="0" i="0" u="none" strike="noStrike" kern="1200" cap="none" spc="0" normalizeH="0" baseline="0" noProof="0">
              <a:ln>
                <a:noFill/>
              </a:ln>
              <a:solidFill>
                <a:prstClr val="white">
                  <a:tint val="75000"/>
                </a:prstClr>
              </a:solidFill>
              <a:effectLst/>
              <a:uLnTx/>
              <a:uFillTx/>
              <a:latin typeface="Century Gothic" panose="020B0502020202020204"/>
              <a:ea typeface="+mn-ea"/>
              <a:cs typeface="+mn-cs"/>
            </a:endParaRPr>
          </a:p>
        </p:txBody>
      </p:sp>
      <p:sp>
        <p:nvSpPr>
          <p:cNvPr id="3" name="Content Placeholder 2">
            <a:extLst>
              <a:ext uri="{FF2B5EF4-FFF2-40B4-BE49-F238E27FC236}">
                <a16:creationId xmlns:a16="http://schemas.microsoft.com/office/drawing/2014/main" id="{98892D7E-4E9E-9285-C7FC-DAB058C98AC0}"/>
              </a:ext>
            </a:extLst>
          </p:cNvPr>
          <p:cNvSpPr>
            <a:spLocks noGrp="1"/>
          </p:cNvSpPr>
          <p:nvPr>
            <p:ph idx="1"/>
          </p:nvPr>
        </p:nvSpPr>
        <p:spPr>
          <a:xfrm>
            <a:off x="4624839" y="2219739"/>
            <a:ext cx="7016428" cy="3809999"/>
          </a:xfrm>
        </p:spPr>
        <p:txBody>
          <a:bodyPr vert="horz" lIns="91440" tIns="45720" rIns="91440" bIns="45720" rtlCol="0">
            <a:normAutofit/>
          </a:bodyPr>
          <a:lstStyle/>
          <a:p>
            <a:r>
              <a:rPr lang="en-US" sz="2800">
                <a:ea typeface="+mj-lt"/>
                <a:cs typeface="+mj-lt"/>
              </a:rPr>
              <a:t>AI calculates optimal flight paths, avoiding obstacles and navigating rough terrains while ensuring efficient wildfire tracking.</a:t>
            </a:r>
          </a:p>
          <a:p>
            <a:pPr lvl="1"/>
            <a:r>
              <a:rPr lang="en-US" sz="2400">
                <a:ea typeface="+mj-lt"/>
                <a:cs typeface="+mj-lt"/>
              </a:rPr>
              <a:t>Sensor data</a:t>
            </a:r>
          </a:p>
          <a:p>
            <a:pPr lvl="2"/>
            <a:r>
              <a:rPr lang="en-US" sz="2000">
                <a:ea typeface="+mj-lt"/>
                <a:cs typeface="+mj-lt"/>
              </a:rPr>
              <a:t>Wind speed and direction</a:t>
            </a:r>
          </a:p>
          <a:p>
            <a:pPr lvl="1"/>
            <a:r>
              <a:rPr lang="en-US" sz="2400">
                <a:ea typeface="+mj-lt"/>
                <a:cs typeface="+mj-lt"/>
              </a:rPr>
              <a:t>Machine Learning</a:t>
            </a:r>
          </a:p>
          <a:p>
            <a:pPr lvl="2"/>
            <a:r>
              <a:rPr lang="en-US" sz="2000">
                <a:ea typeface="+mj-lt"/>
                <a:cs typeface="+mj-lt"/>
              </a:rPr>
              <a:t>Computer vision (Object detection)</a:t>
            </a:r>
          </a:p>
        </p:txBody>
      </p:sp>
    </p:spTree>
    <p:extLst>
      <p:ext uri="{BB962C8B-B14F-4D97-AF65-F5344CB8AC3E}">
        <p14:creationId xmlns:p14="http://schemas.microsoft.com/office/powerpoint/2010/main" val="3150465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89E84-9956-CFCD-D5DA-7CA792D1E521}"/>
              </a:ext>
            </a:extLst>
          </p:cNvPr>
          <p:cNvSpPr>
            <a:spLocks noGrp="1"/>
          </p:cNvSpPr>
          <p:nvPr>
            <p:ph type="title"/>
          </p:nvPr>
        </p:nvSpPr>
        <p:spPr>
          <a:xfrm>
            <a:off x="650668" y="629266"/>
            <a:ext cx="6828512" cy="1641986"/>
          </a:xfrm>
        </p:spPr>
        <p:txBody>
          <a:bodyPr>
            <a:normAutofit/>
          </a:bodyPr>
          <a:lstStyle/>
          <a:p>
            <a:r>
              <a:rPr lang="en-US" b="1"/>
              <a:t>AI-Driven </a:t>
            </a:r>
            <a:br>
              <a:rPr lang="en-US" b="1"/>
            </a:br>
            <a:r>
              <a:rPr lang="en-US" b="1"/>
              <a:t>Decision Making</a:t>
            </a:r>
          </a:p>
        </p:txBody>
      </p:sp>
      <p:pic>
        <p:nvPicPr>
          <p:cNvPr id="24" name="Picture 23">
            <a:extLst>
              <a:ext uri="{FF2B5EF4-FFF2-40B4-BE49-F238E27FC236}">
                <a16:creationId xmlns:a16="http://schemas.microsoft.com/office/drawing/2014/main" id="{916D1ACC-61F3-B8C4-B786-D4FC90520128}"/>
              </a:ext>
            </a:extLst>
          </p:cNvPr>
          <p:cNvPicPr>
            <a:picLocks noChangeAspect="1"/>
          </p:cNvPicPr>
          <p:nvPr/>
        </p:nvPicPr>
        <p:blipFill>
          <a:blip r:embed="rId3"/>
          <a:srcRect l="20407" r="20407"/>
          <a:stretch/>
        </p:blipFill>
        <p:spPr>
          <a:xfrm>
            <a:off x="8135860" y="10"/>
            <a:ext cx="4058949" cy="6857990"/>
          </a:xfrm>
          <a:prstGeom prst="rect">
            <a:avLst/>
          </a:prstGeom>
        </p:spPr>
      </p:pic>
      <p:sp>
        <p:nvSpPr>
          <p:cNvPr id="29" name="Rectangle 28">
            <a:extLst>
              <a:ext uri="{FF2B5EF4-FFF2-40B4-BE49-F238E27FC236}">
                <a16:creationId xmlns:a16="http://schemas.microsoft.com/office/drawing/2014/main" id="{14701A01-E306-48FB-A661-2335BB38BA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 name="Slide Number Placeholder 3">
            <a:extLst>
              <a:ext uri="{FF2B5EF4-FFF2-40B4-BE49-F238E27FC236}">
                <a16:creationId xmlns:a16="http://schemas.microsoft.com/office/drawing/2014/main" id="{6CE7CEAD-B4CF-9D9C-C34C-8DDC62EAB9B9}"/>
              </a:ext>
            </a:extLst>
          </p:cNvPr>
          <p:cNvSpPr>
            <a:spLocks noGrp="1"/>
          </p:cNvSpPr>
          <p:nvPr>
            <p:ph type="sldNum" sz="quarter" idx="12"/>
          </p:nvPr>
        </p:nvSpPr>
        <p:spPr>
          <a:xfrm>
            <a:off x="10352540" y="295729"/>
            <a:ext cx="838199" cy="76768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fld id="{F726F5A5-9172-A445-B9BD-F8F0698F3076}" type="slidenum">
              <a:rPr kumimoji="0" lang="en-US" sz="2800" b="0" i="0" u="none" strike="noStrike" kern="1200" cap="none" spc="0" normalizeH="0" baseline="0" noProof="0">
                <a:ln>
                  <a:noFill/>
                </a:ln>
                <a:solidFill>
                  <a:prstClr val="white">
                    <a:tint val="75000"/>
                  </a:prstClr>
                </a:solidFill>
                <a:effectLst/>
                <a:uLnTx/>
                <a:uFillTx/>
                <a:latin typeface="Century Gothic" panose="020B0502020202020204"/>
                <a:ea typeface="+mn-ea"/>
                <a:cs typeface="+mn-cs"/>
              </a:rPr>
              <a:pPr marL="0" marR="0" lvl="0" indent="0" algn="ctr" defTabSz="457200" rtl="0" eaLnBrk="1" fontAlgn="auto" latinLnBrk="0" hangingPunct="1">
                <a:lnSpc>
                  <a:spcPct val="100000"/>
                </a:lnSpc>
                <a:spcBef>
                  <a:spcPts val="0"/>
                </a:spcBef>
                <a:spcAft>
                  <a:spcPts val="600"/>
                </a:spcAft>
                <a:buClrTx/>
                <a:buSzTx/>
                <a:buFontTx/>
                <a:buNone/>
                <a:tabLst/>
                <a:defRPr/>
              </a:pPr>
              <a:t>14</a:t>
            </a:fld>
            <a:endParaRPr kumimoji="0" lang="en-US" sz="2800" b="0" i="0" u="none" strike="noStrike" kern="1200" cap="none" spc="0" normalizeH="0" baseline="0" noProof="0">
              <a:ln>
                <a:noFill/>
              </a:ln>
              <a:solidFill>
                <a:prstClr val="white">
                  <a:tint val="75000"/>
                </a:prstClr>
              </a:solidFill>
              <a:effectLst/>
              <a:uLnTx/>
              <a:uFillTx/>
              <a:latin typeface="Century Gothic" panose="020B0502020202020204"/>
              <a:ea typeface="+mn-ea"/>
              <a:cs typeface="+mn-cs"/>
            </a:endParaRPr>
          </a:p>
        </p:txBody>
      </p:sp>
      <p:sp>
        <p:nvSpPr>
          <p:cNvPr id="3" name="Content Placeholder 2">
            <a:extLst>
              <a:ext uri="{FF2B5EF4-FFF2-40B4-BE49-F238E27FC236}">
                <a16:creationId xmlns:a16="http://schemas.microsoft.com/office/drawing/2014/main" id="{93DC2432-99D0-B89A-5A6E-98E495637F9B}"/>
              </a:ext>
            </a:extLst>
          </p:cNvPr>
          <p:cNvSpPr>
            <a:spLocks noGrp="1"/>
          </p:cNvSpPr>
          <p:nvPr>
            <p:ph idx="1"/>
          </p:nvPr>
        </p:nvSpPr>
        <p:spPr>
          <a:xfrm>
            <a:off x="650668" y="2438400"/>
            <a:ext cx="6828512" cy="3809999"/>
          </a:xfrm>
        </p:spPr>
        <p:txBody>
          <a:bodyPr vert="horz" lIns="91440" tIns="45720" rIns="91440" bIns="45720" rtlCol="0">
            <a:normAutofit/>
          </a:bodyPr>
          <a:lstStyle/>
          <a:p>
            <a:r>
              <a:rPr lang="en-US" sz="3200">
                <a:ea typeface="+mj-lt"/>
                <a:cs typeface="+mj-lt"/>
              </a:rPr>
              <a:t>Automated Response:</a:t>
            </a:r>
          </a:p>
          <a:p>
            <a:pPr lvl="1"/>
            <a:r>
              <a:rPr lang="en-US" sz="2800">
                <a:ea typeface="+mj-lt"/>
                <a:cs typeface="+mj-lt"/>
              </a:rPr>
              <a:t>Determines the best suppression method </a:t>
            </a:r>
          </a:p>
          <a:p>
            <a:pPr lvl="2"/>
            <a:r>
              <a:rPr lang="en-US" sz="2400">
                <a:ea typeface="+mj-lt"/>
                <a:cs typeface="+mj-lt"/>
              </a:rPr>
              <a:t>Fire retardant vs. Emergency alert</a:t>
            </a:r>
            <a:endParaRPr lang="en-US" sz="2400"/>
          </a:p>
          <a:p>
            <a:pPr>
              <a:buClr>
                <a:srgbClr val="8AD0D6"/>
              </a:buClr>
            </a:pPr>
            <a:r>
              <a:rPr lang="en-US" sz="3200">
                <a:ea typeface="+mj-lt"/>
                <a:cs typeface="+mj-lt"/>
              </a:rPr>
              <a:t>Adaptive Learning: </a:t>
            </a:r>
          </a:p>
          <a:p>
            <a:pPr lvl="1">
              <a:buClr>
                <a:srgbClr val="8AD0D6"/>
              </a:buClr>
            </a:pPr>
            <a:r>
              <a:rPr lang="en-US" sz="2800">
                <a:ea typeface="+mj-lt"/>
                <a:cs typeface="+mj-lt"/>
              </a:rPr>
              <a:t>AI improves response strategies based on past incidents.</a:t>
            </a:r>
            <a:endParaRPr lang="en-US" sz="2800"/>
          </a:p>
          <a:p>
            <a:pPr>
              <a:buClr>
                <a:srgbClr val="8AD0D6"/>
              </a:buClr>
            </a:pPr>
            <a:endParaRPr lang="en-US"/>
          </a:p>
        </p:txBody>
      </p:sp>
    </p:spTree>
    <p:extLst>
      <p:ext uri="{BB962C8B-B14F-4D97-AF65-F5344CB8AC3E}">
        <p14:creationId xmlns:p14="http://schemas.microsoft.com/office/powerpoint/2010/main" val="17248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E1859ED-2F96-8C69-B4B1-80D5B43FD87D}"/>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85D94232-A8D3-397F-AFBC-4E1163791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8" name="Freeform 36">
            <a:extLst>
              <a:ext uri="{FF2B5EF4-FFF2-40B4-BE49-F238E27FC236}">
                <a16:creationId xmlns:a16="http://schemas.microsoft.com/office/drawing/2014/main" id="{28604819-DD10-9F3F-7FB7-7097793D6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2">
              <a:alpha val="20000"/>
            </a:scheme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29" name="Freeform: Shape 22">
            <a:extLst>
              <a:ext uri="{FF2B5EF4-FFF2-40B4-BE49-F238E27FC236}">
                <a16:creationId xmlns:a16="http://schemas.microsoft.com/office/drawing/2014/main" id="{554AD3C9-0B63-E9CA-7E69-784C70F7E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30" name="Rectangle 29">
            <a:extLst>
              <a:ext uri="{FF2B5EF4-FFF2-40B4-BE49-F238E27FC236}">
                <a16:creationId xmlns:a16="http://schemas.microsoft.com/office/drawing/2014/main" id="{07E31DD4-C62B-402C-217F-AF9566A626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E1C303BA-AFF2-021D-4362-829FC15A377C}"/>
              </a:ext>
            </a:extLst>
          </p:cNvPr>
          <p:cNvSpPr>
            <a:spLocks noGrp="1"/>
          </p:cNvSpPr>
          <p:nvPr>
            <p:ph type="title"/>
          </p:nvPr>
        </p:nvSpPr>
        <p:spPr>
          <a:xfrm>
            <a:off x="612841" y="2538043"/>
            <a:ext cx="3522879" cy="1781914"/>
          </a:xfrm>
        </p:spPr>
        <p:txBody>
          <a:bodyPr>
            <a:normAutofit/>
          </a:bodyPr>
          <a:lstStyle/>
          <a:p>
            <a:pPr algn="r"/>
            <a:r>
              <a:rPr kumimoji="0" lang="en-US" sz="3600" b="1" i="0" u="none" strike="noStrike" kern="1200" cap="none" spc="0" normalizeH="0" baseline="0" noProof="0">
                <a:ln>
                  <a:noFill/>
                </a:ln>
                <a:solidFill>
                  <a:srgbClr val="EBEBEB"/>
                </a:solidFill>
                <a:effectLst/>
                <a:uLnTx/>
                <a:uFillTx/>
                <a:latin typeface="Century Gothic" panose="020B0502020202020204"/>
                <a:ea typeface="+mj-ea"/>
                <a:cs typeface="+mj-cs"/>
              </a:rPr>
              <a:t>Real-World AI Application Potential</a:t>
            </a:r>
            <a:endParaRPr lang="en-US">
              <a:solidFill>
                <a:srgbClr val="FFFFFF"/>
              </a:solidFill>
            </a:endParaRPr>
          </a:p>
        </p:txBody>
      </p:sp>
      <p:graphicFrame>
        <p:nvGraphicFramePr>
          <p:cNvPr id="33" name="Content Placeholder 2">
            <a:extLst>
              <a:ext uri="{FF2B5EF4-FFF2-40B4-BE49-F238E27FC236}">
                <a16:creationId xmlns:a16="http://schemas.microsoft.com/office/drawing/2014/main" id="{6E60B133-EAF4-F9EE-DF30-A2459D49B993}"/>
              </a:ext>
            </a:extLst>
          </p:cNvPr>
          <p:cNvGraphicFramePr>
            <a:graphicFrameLocks noGrp="1"/>
          </p:cNvGraphicFramePr>
          <p:nvPr>
            <p:ph idx="1"/>
            <p:extLst>
              <p:ext uri="{D42A27DB-BD31-4B8C-83A1-F6EECF244321}">
                <p14:modId xmlns:p14="http://schemas.microsoft.com/office/powerpoint/2010/main" val="1830461370"/>
              </p:ext>
            </p:extLst>
          </p:nvPr>
        </p:nvGraphicFramePr>
        <p:xfrm>
          <a:off x="5204109" y="1359145"/>
          <a:ext cx="5919503" cy="44708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5D26FF56-1652-F8CB-0CB5-C1013BE7C0CF}"/>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F726F5A5-9172-A445-B9BD-F8F0698F3076}" type="slidenum">
              <a:rPr kumimoji="0" lang="en-US" sz="2800" b="0" i="0" u="none" strike="noStrike" kern="1200" cap="none" spc="0" normalizeH="0" baseline="0" noProof="0" smtClean="0">
                <a:ln>
                  <a:noFill/>
                </a:ln>
                <a:solidFill>
                  <a:prstClr val="white"/>
                </a:solidFill>
                <a:effectLst/>
                <a:uLnTx/>
                <a:uFillTx/>
                <a:latin typeface="Century Gothic" panose="020B0502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15</a:t>
            </a:fld>
            <a:endParaRPr kumimoji="0" lang="en-US" sz="2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819959570"/>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0FA8B-8BEF-60A1-BFEB-0E1A52B58DFF}"/>
              </a:ext>
            </a:extLst>
          </p:cNvPr>
          <p:cNvSpPr>
            <a:spLocks noGrp="1"/>
          </p:cNvSpPr>
          <p:nvPr>
            <p:ph type="title"/>
          </p:nvPr>
        </p:nvSpPr>
        <p:spPr>
          <a:xfrm>
            <a:off x="6742108" y="629266"/>
            <a:ext cx="3307744" cy="1641986"/>
          </a:xfrm>
        </p:spPr>
        <p:txBody>
          <a:bodyPr>
            <a:normAutofit/>
          </a:bodyPr>
          <a:lstStyle/>
          <a:p>
            <a:pPr>
              <a:lnSpc>
                <a:spcPct val="90000"/>
              </a:lnSpc>
            </a:pPr>
            <a:r>
              <a:rPr lang="en-US" sz="2900" b="1">
                <a:ea typeface="+mj-lt"/>
                <a:cs typeface="+mj-lt"/>
              </a:rPr>
              <a:t>Drone Hardware &amp; Sensor Integration</a:t>
            </a:r>
            <a:r>
              <a:rPr lang="en-US" sz="2900"/>
              <a:t> </a:t>
            </a:r>
          </a:p>
        </p:txBody>
      </p:sp>
      <p:pic>
        <p:nvPicPr>
          <p:cNvPr id="6" name="Picture 5" descr="A drone flying in the air&#10;&#10;AI-generated content may be incorrect.">
            <a:extLst>
              <a:ext uri="{FF2B5EF4-FFF2-40B4-BE49-F238E27FC236}">
                <a16:creationId xmlns:a16="http://schemas.microsoft.com/office/drawing/2014/main" id="{A17127ED-A41E-1D04-42B8-F7F1C19DAAD8}"/>
              </a:ext>
            </a:extLst>
          </p:cNvPr>
          <p:cNvPicPr>
            <a:picLocks noChangeAspect="1"/>
          </p:cNvPicPr>
          <p:nvPr/>
        </p:nvPicPr>
        <p:blipFill>
          <a:blip r:embed="rId3"/>
          <a:srcRect l="19662" r="21019" b="-1"/>
          <a:stretch/>
        </p:blipFill>
        <p:spPr>
          <a:xfrm>
            <a:off x="-2" y="10"/>
            <a:ext cx="6094407" cy="6857990"/>
          </a:xfrm>
          <a:prstGeom prst="rect">
            <a:avLst/>
          </a:prstGeom>
        </p:spPr>
      </p:pic>
      <p:sp>
        <p:nvSpPr>
          <p:cNvPr id="4" name="Slide Number Placeholder 3">
            <a:extLst>
              <a:ext uri="{FF2B5EF4-FFF2-40B4-BE49-F238E27FC236}">
                <a16:creationId xmlns:a16="http://schemas.microsoft.com/office/drawing/2014/main" id="{F8B16C7E-5749-0CA5-DFFA-CC7D02D6211C}"/>
              </a:ext>
            </a:extLst>
          </p:cNvPr>
          <p:cNvSpPr>
            <a:spLocks noGrp="1"/>
          </p:cNvSpPr>
          <p:nvPr>
            <p:ph type="sldNum" sz="quarter" idx="12"/>
          </p:nvPr>
        </p:nvSpPr>
        <p:spPr>
          <a:xfrm>
            <a:off x="10352540" y="295729"/>
            <a:ext cx="838199" cy="767687"/>
          </a:xfrm>
        </p:spPr>
        <p:txBody>
          <a:bodyPr>
            <a:normAutofit/>
          </a:bodyPr>
          <a:lstStyle/>
          <a:p>
            <a:pPr>
              <a:spcAft>
                <a:spcPts val="600"/>
              </a:spcAft>
            </a:pPr>
            <a:r>
              <a:rPr lang="en-US"/>
              <a:t>16</a:t>
            </a:r>
          </a:p>
        </p:txBody>
      </p:sp>
      <p:sp>
        <p:nvSpPr>
          <p:cNvPr id="3" name="Content Placeholder 2">
            <a:extLst>
              <a:ext uri="{FF2B5EF4-FFF2-40B4-BE49-F238E27FC236}">
                <a16:creationId xmlns:a16="http://schemas.microsoft.com/office/drawing/2014/main" id="{F878147A-7BE4-B281-54A0-B5B7300520AD}"/>
              </a:ext>
            </a:extLst>
          </p:cNvPr>
          <p:cNvSpPr>
            <a:spLocks noGrp="1"/>
          </p:cNvSpPr>
          <p:nvPr>
            <p:ph idx="1"/>
          </p:nvPr>
        </p:nvSpPr>
        <p:spPr>
          <a:xfrm>
            <a:off x="6742108" y="2438400"/>
            <a:ext cx="3307744" cy="3809999"/>
          </a:xfrm>
        </p:spPr>
        <p:txBody>
          <a:bodyPr vert="horz" lIns="91440" tIns="45720" rIns="91440" bIns="45720" rtlCol="0">
            <a:normAutofit/>
          </a:bodyPr>
          <a:lstStyle/>
          <a:p>
            <a:pPr>
              <a:buClr>
                <a:srgbClr val="8AD0D6"/>
              </a:buClr>
            </a:pPr>
            <a:r>
              <a:rPr lang="en-US">
                <a:ea typeface="+mj-lt"/>
                <a:cs typeface="+mj-lt"/>
              </a:rPr>
              <a:t>Our drones feature high-resolution thermal cameras, LiDAR sensors, and autonomous navigation modules.</a:t>
            </a:r>
          </a:p>
        </p:txBody>
      </p:sp>
      <p:sp>
        <p:nvSpPr>
          <p:cNvPr id="10" name="TextBox 9">
            <a:extLst>
              <a:ext uri="{FF2B5EF4-FFF2-40B4-BE49-F238E27FC236}">
                <a16:creationId xmlns:a16="http://schemas.microsoft.com/office/drawing/2014/main" id="{AEDF6164-3881-2F9F-965B-A3413FE8A5F1}"/>
              </a:ext>
            </a:extLst>
          </p:cNvPr>
          <p:cNvSpPr txBox="1"/>
          <p:nvPr/>
        </p:nvSpPr>
        <p:spPr>
          <a:xfrm>
            <a:off x="6737597" y="6247079"/>
            <a:ext cx="411381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1000">
                <a:ea typeface="+mn-lt"/>
                <a:cs typeface="+mn-lt"/>
                <a:hlinkClick r:id="rId4"/>
              </a:rPr>
              <a:t>These Smart Cameras Spot Wildfires Before They Spread - WSJ</a:t>
            </a:r>
            <a:endParaRPr lang="en-US" sz="1000"/>
          </a:p>
        </p:txBody>
      </p:sp>
    </p:spTree>
    <p:extLst>
      <p:ext uri="{BB962C8B-B14F-4D97-AF65-F5344CB8AC3E}">
        <p14:creationId xmlns:p14="http://schemas.microsoft.com/office/powerpoint/2010/main" val="3170239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98F020-78F1-6E83-25CC-B4B31F10D896}"/>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7C2BB6-F597-B4BF-1C6C-420813EE1634}"/>
              </a:ext>
            </a:extLst>
          </p:cNvPr>
          <p:cNvSpPr>
            <a:spLocks noGrp="1"/>
          </p:cNvSpPr>
          <p:nvPr>
            <p:ph type="title"/>
          </p:nvPr>
        </p:nvSpPr>
        <p:spPr>
          <a:xfrm>
            <a:off x="643855" y="1447799"/>
            <a:ext cx="3108626" cy="1444752"/>
          </a:xfrm>
        </p:spPr>
        <p:txBody>
          <a:bodyPr anchor="b">
            <a:normAutofit/>
          </a:bodyPr>
          <a:lstStyle/>
          <a:p>
            <a:pPr>
              <a:lnSpc>
                <a:spcPct val="90000"/>
              </a:lnSpc>
            </a:pPr>
            <a:r>
              <a:rPr lang="en-US" sz="3200" b="1">
                <a:solidFill>
                  <a:srgbClr val="EBEBEB"/>
                </a:solidFill>
                <a:ea typeface="+mj-lt"/>
                <a:cs typeface="+mj-lt"/>
              </a:rPr>
              <a:t>Fire Retardant Deployment System</a:t>
            </a:r>
            <a:r>
              <a:rPr lang="en-US" sz="3200">
                <a:solidFill>
                  <a:srgbClr val="EBEBEB"/>
                </a:solidFill>
              </a:rPr>
              <a:t> </a:t>
            </a:r>
          </a:p>
        </p:txBody>
      </p:sp>
      <p:sp>
        <p:nvSpPr>
          <p:cNvPr id="20"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2" name="Freeform: Shape 15">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a:p>
        </p:txBody>
      </p:sp>
      <p:sp>
        <p:nvSpPr>
          <p:cNvPr id="24" name="Rectangle 23">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25404EF5-3D96-43B8-674A-AC32CAC44B84}"/>
              </a:ext>
            </a:extLst>
          </p:cNvPr>
          <p:cNvSpPr>
            <a:spLocks noGrp="1"/>
          </p:cNvSpPr>
          <p:nvPr>
            <p:ph type="sldNum" sz="quarter" idx="12"/>
          </p:nvPr>
        </p:nvSpPr>
        <p:spPr>
          <a:xfrm>
            <a:off x="10352540" y="295729"/>
            <a:ext cx="838199" cy="767687"/>
          </a:xfrm>
        </p:spPr>
        <p:txBody>
          <a:bodyPr>
            <a:normAutofit/>
          </a:bodyPr>
          <a:lstStyle/>
          <a:p>
            <a:pPr>
              <a:spcAft>
                <a:spcPts val="600"/>
              </a:spcAft>
            </a:pPr>
            <a:r>
              <a:rPr lang="en-US">
                <a:solidFill>
                  <a:srgbClr val="FFFFFF"/>
                </a:solidFill>
              </a:rPr>
              <a:t>17</a:t>
            </a:r>
          </a:p>
        </p:txBody>
      </p:sp>
      <p:sp>
        <p:nvSpPr>
          <p:cNvPr id="3" name="Content Placeholder 2">
            <a:extLst>
              <a:ext uri="{FF2B5EF4-FFF2-40B4-BE49-F238E27FC236}">
                <a16:creationId xmlns:a16="http://schemas.microsoft.com/office/drawing/2014/main" id="{0E4EFB46-74D0-6D10-CA33-2CBAB17DF1C0}"/>
              </a:ext>
            </a:extLst>
          </p:cNvPr>
          <p:cNvSpPr>
            <a:spLocks noGrp="1"/>
          </p:cNvSpPr>
          <p:nvPr>
            <p:ph idx="1"/>
          </p:nvPr>
        </p:nvSpPr>
        <p:spPr>
          <a:xfrm>
            <a:off x="643855" y="3072385"/>
            <a:ext cx="3108057" cy="2947415"/>
          </a:xfrm>
        </p:spPr>
        <p:txBody>
          <a:bodyPr vert="horz" lIns="91440" tIns="45720" rIns="91440" bIns="45720" rtlCol="0">
            <a:normAutofit/>
          </a:bodyPr>
          <a:lstStyle/>
          <a:p>
            <a:r>
              <a:rPr lang="en-US" sz="1400">
                <a:solidFill>
                  <a:srgbClr val="FFFFFF"/>
                </a:solidFill>
                <a:ea typeface="+mj-lt"/>
                <a:cs typeface="+mj-lt"/>
              </a:rPr>
              <a:t>Drones carry and release fire retardants at the source, preventing further spread. AI determines optimal drop locations.</a:t>
            </a:r>
          </a:p>
        </p:txBody>
      </p:sp>
      <p:sp>
        <p:nvSpPr>
          <p:cNvPr id="5" name="TextBox 4">
            <a:extLst>
              <a:ext uri="{FF2B5EF4-FFF2-40B4-BE49-F238E27FC236}">
                <a16:creationId xmlns:a16="http://schemas.microsoft.com/office/drawing/2014/main" id="{F91AF9AD-D413-5A9E-40A9-766F64B0E025}"/>
              </a:ext>
            </a:extLst>
          </p:cNvPr>
          <p:cNvSpPr txBox="1"/>
          <p:nvPr/>
        </p:nvSpPr>
        <p:spPr>
          <a:xfrm>
            <a:off x="504701" y="6046519"/>
            <a:ext cx="423553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1200">
                <a:ea typeface="+mn-lt"/>
                <a:cs typeface="+mn-lt"/>
                <a:hlinkClick r:id="rId2"/>
              </a:rPr>
              <a:t>PowerPoint Presentation (nasa.gov)</a:t>
            </a:r>
            <a:endParaRPr lang="en-US" sz="1200"/>
          </a:p>
        </p:txBody>
      </p:sp>
    </p:spTree>
    <p:extLst>
      <p:ext uri="{BB962C8B-B14F-4D97-AF65-F5344CB8AC3E}">
        <p14:creationId xmlns:p14="http://schemas.microsoft.com/office/powerpoint/2010/main" val="2044864182"/>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6D3F0-8A66-7AB5-538B-E84153467D91}"/>
              </a:ext>
            </a:extLst>
          </p:cNvPr>
          <p:cNvSpPr>
            <a:spLocks noGrp="1"/>
          </p:cNvSpPr>
          <p:nvPr>
            <p:ph type="title"/>
          </p:nvPr>
        </p:nvSpPr>
        <p:spPr>
          <a:xfrm>
            <a:off x="650669" y="629266"/>
            <a:ext cx="3330328" cy="1641986"/>
          </a:xfrm>
        </p:spPr>
        <p:txBody>
          <a:bodyPr>
            <a:normAutofit/>
          </a:bodyPr>
          <a:lstStyle/>
          <a:p>
            <a:pPr>
              <a:lnSpc>
                <a:spcPct val="90000"/>
              </a:lnSpc>
            </a:pPr>
            <a:r>
              <a:rPr lang="en-US" sz="3600" b="1">
                <a:ea typeface="+mj-lt"/>
                <a:cs typeface="+mj-lt"/>
              </a:rPr>
              <a:t>Autonomous Flight &amp; Route Optimization</a:t>
            </a:r>
            <a:endParaRPr lang="en-US" sz="3600">
              <a:ea typeface="+mj-lt"/>
              <a:cs typeface="+mj-lt"/>
            </a:endParaRPr>
          </a:p>
        </p:txBody>
      </p:sp>
      <p:pic>
        <p:nvPicPr>
          <p:cNvPr id="33" name="Picture 32" descr="A drone flying over a green field&#10;&#10;AI-generated content may be incorrect.">
            <a:extLst>
              <a:ext uri="{FF2B5EF4-FFF2-40B4-BE49-F238E27FC236}">
                <a16:creationId xmlns:a16="http://schemas.microsoft.com/office/drawing/2014/main" id="{809CA323-EE60-2CFF-3038-B125973A8B49}"/>
              </a:ext>
            </a:extLst>
          </p:cNvPr>
          <p:cNvPicPr>
            <a:picLocks noChangeAspect="1"/>
          </p:cNvPicPr>
          <p:nvPr/>
        </p:nvPicPr>
        <p:blipFill>
          <a:blip r:embed="rId3"/>
          <a:srcRect l="26416" r="-1" b="-1"/>
          <a:stretch/>
        </p:blipFill>
        <p:spPr>
          <a:xfrm>
            <a:off x="4634680" y="10"/>
            <a:ext cx="7560130" cy="6857990"/>
          </a:xfrm>
          <a:prstGeom prst="rect">
            <a:avLst/>
          </a:prstGeom>
        </p:spPr>
      </p:pic>
      <p:sp>
        <p:nvSpPr>
          <p:cNvPr id="53" name="Rectangle 52">
            <a:extLst>
              <a:ext uri="{FF2B5EF4-FFF2-40B4-BE49-F238E27FC236}">
                <a16:creationId xmlns:a16="http://schemas.microsoft.com/office/drawing/2014/main" id="{A26E2FAE-FA60-497B-B2CB-7702C6FF3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43C2975E-930B-F7A1-91A8-DA5A55690A9B}"/>
              </a:ext>
            </a:extLst>
          </p:cNvPr>
          <p:cNvSpPr>
            <a:spLocks noGrp="1"/>
          </p:cNvSpPr>
          <p:nvPr>
            <p:ph type="sldNum" sz="quarter" idx="12"/>
          </p:nvPr>
        </p:nvSpPr>
        <p:spPr>
          <a:xfrm>
            <a:off x="10352540" y="295729"/>
            <a:ext cx="838199" cy="767687"/>
          </a:xfrm>
        </p:spPr>
        <p:txBody>
          <a:bodyPr>
            <a:normAutofit/>
          </a:bodyPr>
          <a:lstStyle/>
          <a:p>
            <a:pPr>
              <a:spcAft>
                <a:spcPts val="600"/>
              </a:spcAft>
            </a:pPr>
            <a:r>
              <a:rPr lang="en-US"/>
              <a:t>18</a:t>
            </a:r>
          </a:p>
        </p:txBody>
      </p:sp>
      <p:sp>
        <p:nvSpPr>
          <p:cNvPr id="35" name="Content Placeholder 2">
            <a:extLst>
              <a:ext uri="{FF2B5EF4-FFF2-40B4-BE49-F238E27FC236}">
                <a16:creationId xmlns:a16="http://schemas.microsoft.com/office/drawing/2014/main" id="{2186B4D9-BA31-817F-E4B1-A8D90F4F4789}"/>
              </a:ext>
            </a:extLst>
          </p:cNvPr>
          <p:cNvSpPr>
            <a:spLocks noGrp="1"/>
          </p:cNvSpPr>
          <p:nvPr>
            <p:ph idx="1"/>
          </p:nvPr>
        </p:nvSpPr>
        <p:spPr>
          <a:xfrm>
            <a:off x="650669" y="2438400"/>
            <a:ext cx="3330328" cy="3809999"/>
          </a:xfrm>
        </p:spPr>
        <p:txBody>
          <a:bodyPr vert="horz" lIns="91440" tIns="45720" rIns="91440" bIns="45720" rtlCol="0">
            <a:normAutofit/>
          </a:bodyPr>
          <a:lstStyle/>
          <a:p>
            <a:r>
              <a:rPr lang="en-US">
                <a:ea typeface="+mj-lt"/>
                <a:cs typeface="+mj-lt"/>
              </a:rPr>
              <a:t>Drones autonomously patrol pre-defined routes but can adjust based on AI risk assessments.</a:t>
            </a:r>
          </a:p>
          <a:p>
            <a:pPr>
              <a:buClr>
                <a:srgbClr val="8AD0D6"/>
              </a:buClr>
            </a:pPr>
            <a:endParaRPr lang="en-US"/>
          </a:p>
        </p:txBody>
      </p:sp>
    </p:spTree>
    <p:extLst>
      <p:ext uri="{BB962C8B-B14F-4D97-AF65-F5344CB8AC3E}">
        <p14:creationId xmlns:p14="http://schemas.microsoft.com/office/powerpoint/2010/main" val="3270848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C183B0-4BD6-E993-415F-266E9E645CFF}"/>
              </a:ext>
            </a:extLst>
          </p:cNvPr>
          <p:cNvSpPr>
            <a:spLocks noGrp="1"/>
          </p:cNvSpPr>
          <p:nvPr>
            <p:ph type="title"/>
          </p:nvPr>
        </p:nvSpPr>
        <p:spPr>
          <a:xfrm>
            <a:off x="5411931" y="452718"/>
            <a:ext cx="4638903" cy="1400530"/>
          </a:xfrm>
        </p:spPr>
        <p:txBody>
          <a:bodyPr>
            <a:normAutofit/>
          </a:bodyPr>
          <a:lstStyle/>
          <a:p>
            <a:r>
              <a:rPr lang="en-US" b="1">
                <a:ea typeface="+mj-lt"/>
                <a:cs typeface="+mj-lt"/>
              </a:rPr>
              <a:t>Swarm Drone Coordination</a:t>
            </a:r>
            <a:endParaRPr lang="en-US">
              <a:ea typeface="+mj-lt"/>
              <a:cs typeface="+mj-lt"/>
            </a:endParaRPr>
          </a:p>
        </p:txBody>
      </p:sp>
      <p:sp>
        <p:nvSpPr>
          <p:cNvPr id="2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14" name="Picture 13" descr="A group of drones flying in the sky&#10;&#10;AI-generated content may be incorrect.">
            <a:extLst>
              <a:ext uri="{FF2B5EF4-FFF2-40B4-BE49-F238E27FC236}">
                <a16:creationId xmlns:a16="http://schemas.microsoft.com/office/drawing/2014/main" id="{965B51BF-231D-918B-0910-79890F768F7B}"/>
              </a:ext>
            </a:extLst>
          </p:cNvPr>
          <p:cNvPicPr>
            <a:picLocks noChangeAspect="1"/>
          </p:cNvPicPr>
          <p:nvPr/>
        </p:nvPicPr>
        <p:blipFill>
          <a:blip r:embed="rId3"/>
          <a:srcRect l="25828" r="25828"/>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23" name="Rectangle 22">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5F3A64E7-83C6-9F10-4351-502CFCDDD041}"/>
              </a:ext>
            </a:extLst>
          </p:cNvPr>
          <p:cNvSpPr>
            <a:spLocks noGrp="1"/>
          </p:cNvSpPr>
          <p:nvPr>
            <p:ph type="sldNum" sz="quarter" idx="12"/>
          </p:nvPr>
        </p:nvSpPr>
        <p:spPr>
          <a:xfrm>
            <a:off x="10352540" y="295729"/>
            <a:ext cx="838199" cy="767687"/>
          </a:xfrm>
        </p:spPr>
        <p:txBody>
          <a:bodyPr>
            <a:normAutofit/>
          </a:bodyPr>
          <a:lstStyle/>
          <a:p>
            <a:pPr>
              <a:spcAft>
                <a:spcPts val="600"/>
              </a:spcAft>
            </a:pPr>
            <a:r>
              <a:rPr lang="en-US"/>
              <a:t>19</a:t>
            </a:r>
          </a:p>
        </p:txBody>
      </p:sp>
      <p:sp>
        <p:nvSpPr>
          <p:cNvPr id="3" name="Content Placeholder 2">
            <a:extLst>
              <a:ext uri="{FF2B5EF4-FFF2-40B4-BE49-F238E27FC236}">
                <a16:creationId xmlns:a16="http://schemas.microsoft.com/office/drawing/2014/main" id="{CB2A5701-3DF4-39FB-9742-39078A7B318F}"/>
              </a:ext>
            </a:extLst>
          </p:cNvPr>
          <p:cNvSpPr>
            <a:spLocks noGrp="1"/>
          </p:cNvSpPr>
          <p:nvPr>
            <p:ph idx="1"/>
          </p:nvPr>
        </p:nvSpPr>
        <p:spPr>
          <a:xfrm>
            <a:off x="5410950" y="2052918"/>
            <a:ext cx="4638903" cy="4195481"/>
          </a:xfrm>
        </p:spPr>
        <p:txBody>
          <a:bodyPr vert="horz" lIns="91440" tIns="45720" rIns="91440" bIns="45720" rtlCol="0">
            <a:normAutofit/>
          </a:bodyPr>
          <a:lstStyle/>
          <a:p>
            <a:r>
              <a:rPr lang="en-US">
                <a:ea typeface="+mj-lt"/>
                <a:cs typeface="+mj-lt"/>
              </a:rPr>
              <a:t>Multiple drones work together, covering large forest areas efficiently through AI-controlled formations.</a:t>
            </a:r>
          </a:p>
          <a:p>
            <a:pPr>
              <a:buClr>
                <a:srgbClr val="8AD0D6"/>
              </a:buClr>
            </a:pPr>
            <a:endParaRPr lang="en-US"/>
          </a:p>
        </p:txBody>
      </p:sp>
    </p:spTree>
    <p:extLst>
      <p:ext uri="{BB962C8B-B14F-4D97-AF65-F5344CB8AC3E}">
        <p14:creationId xmlns:p14="http://schemas.microsoft.com/office/powerpoint/2010/main" val="24832971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2AB8FF-8DE8-9D23-3FF1-D47970FC3267}"/>
              </a:ext>
            </a:extLst>
          </p:cNvPr>
          <p:cNvSpPr>
            <a:spLocks noGrp="1"/>
          </p:cNvSpPr>
          <p:nvPr>
            <p:ph type="title"/>
          </p:nvPr>
        </p:nvSpPr>
        <p:spPr>
          <a:xfrm>
            <a:off x="5411931" y="452718"/>
            <a:ext cx="4638903" cy="1400530"/>
          </a:xfrm>
        </p:spPr>
        <p:txBody>
          <a:bodyPr>
            <a:normAutofit/>
          </a:bodyPr>
          <a:lstStyle/>
          <a:p>
            <a:r>
              <a:rPr lang="en-US" b="1">
                <a:ea typeface="+mj-lt"/>
                <a:cs typeface="+mj-lt"/>
              </a:rPr>
              <a:t>Starlink-Powered Connectivity</a:t>
            </a:r>
            <a:endParaRPr lang="en-US">
              <a:ea typeface="+mj-lt"/>
              <a:cs typeface="+mj-lt"/>
            </a:endParaRPr>
          </a:p>
        </p:txBody>
      </p:sp>
      <p:sp>
        <p:nvSpPr>
          <p:cNvPr id="2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Picture 7" descr="A satellite dish on a pole&#10;&#10;AI-generated content may be incorrect.">
            <a:extLst>
              <a:ext uri="{FF2B5EF4-FFF2-40B4-BE49-F238E27FC236}">
                <a16:creationId xmlns:a16="http://schemas.microsoft.com/office/drawing/2014/main" id="{13C1AB8A-25FB-F69E-CFB2-7C22552375C2}"/>
              </a:ext>
            </a:extLst>
          </p:cNvPr>
          <p:cNvPicPr>
            <a:picLocks noChangeAspect="1"/>
          </p:cNvPicPr>
          <p:nvPr/>
        </p:nvPicPr>
        <p:blipFill>
          <a:blip r:embed="rId3"/>
          <a:srcRect t="4033" b="4033"/>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23" name="Rectangle 22">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43B6BA38-E2E7-DFF1-1F8B-AF5D39C67B2D}"/>
              </a:ext>
            </a:extLst>
          </p:cNvPr>
          <p:cNvSpPr>
            <a:spLocks noGrp="1"/>
          </p:cNvSpPr>
          <p:nvPr>
            <p:ph type="sldNum" sz="quarter" idx="12"/>
          </p:nvPr>
        </p:nvSpPr>
        <p:spPr>
          <a:xfrm>
            <a:off x="10352540" y="295729"/>
            <a:ext cx="838199" cy="767687"/>
          </a:xfrm>
        </p:spPr>
        <p:txBody>
          <a:bodyPr>
            <a:normAutofit/>
          </a:bodyPr>
          <a:lstStyle/>
          <a:p>
            <a:pPr>
              <a:spcAft>
                <a:spcPts val="600"/>
              </a:spcAft>
            </a:pPr>
            <a:r>
              <a:rPr lang="en-US"/>
              <a:t>20</a:t>
            </a:r>
          </a:p>
        </p:txBody>
      </p:sp>
      <p:sp>
        <p:nvSpPr>
          <p:cNvPr id="3" name="Content Placeholder 2">
            <a:extLst>
              <a:ext uri="{FF2B5EF4-FFF2-40B4-BE49-F238E27FC236}">
                <a16:creationId xmlns:a16="http://schemas.microsoft.com/office/drawing/2014/main" id="{F656D928-DE9B-B2A6-18F1-B3A6D3858519}"/>
              </a:ext>
            </a:extLst>
          </p:cNvPr>
          <p:cNvSpPr>
            <a:spLocks noGrp="1"/>
          </p:cNvSpPr>
          <p:nvPr>
            <p:ph idx="1"/>
          </p:nvPr>
        </p:nvSpPr>
        <p:spPr>
          <a:xfrm>
            <a:off x="5410950" y="2052918"/>
            <a:ext cx="4638903" cy="4195481"/>
          </a:xfrm>
        </p:spPr>
        <p:txBody>
          <a:bodyPr vert="horz" lIns="91440" tIns="45720" rIns="91440" bIns="45720" rtlCol="0">
            <a:normAutofit/>
          </a:bodyPr>
          <a:lstStyle/>
          <a:p>
            <a:r>
              <a:rPr lang="en-US">
                <a:latin typeface="+mn-lt"/>
                <a:cs typeface="Times New Roman"/>
              </a:rPr>
              <a:t>Drones remain connected even in remote areas through Starlink, ensuring real-time fire monitoring and response.</a:t>
            </a:r>
            <a:endParaRPr lang="en-US">
              <a:latin typeface="+mn-lt"/>
            </a:endParaRPr>
          </a:p>
          <a:p>
            <a:pPr>
              <a:buClr>
                <a:srgbClr val="8AD0D6"/>
              </a:buClr>
            </a:pPr>
            <a:endParaRPr lang="en-US"/>
          </a:p>
        </p:txBody>
      </p:sp>
    </p:spTree>
    <p:extLst>
      <p:ext uri="{BB962C8B-B14F-4D97-AF65-F5344CB8AC3E}">
        <p14:creationId xmlns:p14="http://schemas.microsoft.com/office/powerpoint/2010/main" val="1278689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F80BD9-8569-BCC7-DF19-82582055E08C}"/>
              </a:ext>
            </a:extLst>
          </p:cNvPr>
          <p:cNvSpPr>
            <a:spLocks noGrp="1"/>
          </p:cNvSpPr>
          <p:nvPr>
            <p:ph type="title"/>
          </p:nvPr>
        </p:nvSpPr>
        <p:spPr>
          <a:xfrm>
            <a:off x="5411931" y="452718"/>
            <a:ext cx="4638903" cy="1400530"/>
          </a:xfrm>
        </p:spPr>
        <p:txBody>
          <a:bodyPr>
            <a:normAutofit/>
          </a:bodyPr>
          <a:lstStyle/>
          <a:p>
            <a:pPr>
              <a:lnSpc>
                <a:spcPct val="90000"/>
              </a:lnSpc>
            </a:pPr>
            <a:r>
              <a:rPr lang="en-US" sz="3600" b="1">
                <a:ea typeface="+mj-lt"/>
                <a:cs typeface="+mj-lt"/>
              </a:rPr>
              <a:t>Secure Drone Storage &amp; Charging</a:t>
            </a:r>
            <a:endParaRPr lang="en-US" sz="3600">
              <a:ea typeface="+mj-lt"/>
              <a:cs typeface="+mj-lt"/>
            </a:endParaRPr>
          </a:p>
        </p:txBody>
      </p:sp>
      <p:sp>
        <p:nvSpPr>
          <p:cNvPr id="12"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33" name="Picture 32" descr="A drone flying over a building&#10;&#10;AI-generated content may be incorrect.">
            <a:extLst>
              <a:ext uri="{FF2B5EF4-FFF2-40B4-BE49-F238E27FC236}">
                <a16:creationId xmlns:a16="http://schemas.microsoft.com/office/drawing/2014/main" id="{85710AE9-278E-CFD3-8B05-F055B200C3E0}"/>
              </a:ext>
            </a:extLst>
          </p:cNvPr>
          <p:cNvPicPr>
            <a:picLocks noChangeAspect="1"/>
          </p:cNvPicPr>
          <p:nvPr/>
        </p:nvPicPr>
        <p:blipFill>
          <a:blip r:embed="rId3"/>
          <a:srcRect l="24194" r="24194"/>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14" name="Rectangle 13">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C9C01589-819C-EF96-0C8E-CAFFD4493B11}"/>
              </a:ext>
            </a:extLst>
          </p:cNvPr>
          <p:cNvSpPr>
            <a:spLocks noGrp="1"/>
          </p:cNvSpPr>
          <p:nvPr>
            <p:ph type="sldNum" sz="quarter" idx="12"/>
          </p:nvPr>
        </p:nvSpPr>
        <p:spPr>
          <a:xfrm>
            <a:off x="10352540" y="295729"/>
            <a:ext cx="838199" cy="767687"/>
          </a:xfrm>
        </p:spPr>
        <p:txBody>
          <a:bodyPr>
            <a:normAutofit/>
          </a:bodyPr>
          <a:lstStyle/>
          <a:p>
            <a:pPr>
              <a:spcAft>
                <a:spcPts val="600"/>
              </a:spcAft>
            </a:pPr>
            <a:r>
              <a:rPr lang="en-US"/>
              <a:t>21</a:t>
            </a:r>
          </a:p>
        </p:txBody>
      </p:sp>
      <p:sp>
        <p:nvSpPr>
          <p:cNvPr id="34" name="Content Placeholder 2">
            <a:extLst>
              <a:ext uri="{FF2B5EF4-FFF2-40B4-BE49-F238E27FC236}">
                <a16:creationId xmlns:a16="http://schemas.microsoft.com/office/drawing/2014/main" id="{C392101D-3A83-EA25-4155-D8D2249D92EA}"/>
              </a:ext>
            </a:extLst>
          </p:cNvPr>
          <p:cNvSpPr>
            <a:spLocks noGrp="1"/>
          </p:cNvSpPr>
          <p:nvPr>
            <p:ph idx="1"/>
          </p:nvPr>
        </p:nvSpPr>
        <p:spPr>
          <a:xfrm>
            <a:off x="5410950" y="2052918"/>
            <a:ext cx="4638903" cy="4195481"/>
          </a:xfrm>
        </p:spPr>
        <p:txBody>
          <a:bodyPr vert="horz" lIns="91440" tIns="45720" rIns="91440" bIns="45720" rtlCol="0" anchor="t">
            <a:normAutofit/>
          </a:bodyPr>
          <a:lstStyle/>
          <a:p>
            <a:r>
              <a:rPr lang="en-US">
                <a:ea typeface="+mj-lt"/>
                <a:cs typeface="+mj-lt"/>
              </a:rPr>
              <a:t>Weatherproof storage stations house drones, equipped with solar panels and backup batteries for continuous operation.</a:t>
            </a:r>
          </a:p>
          <a:p>
            <a:pPr>
              <a:buClr>
                <a:srgbClr val="8AD0D6"/>
              </a:buClr>
            </a:pPr>
            <a:endParaRPr lang="en-US"/>
          </a:p>
        </p:txBody>
      </p:sp>
    </p:spTree>
    <p:extLst>
      <p:ext uri="{BB962C8B-B14F-4D97-AF65-F5344CB8AC3E}">
        <p14:creationId xmlns:p14="http://schemas.microsoft.com/office/powerpoint/2010/main" val="1502197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95482-9155-4D9D-9F75-F60A37F90612}"/>
              </a:ext>
            </a:extLst>
          </p:cNvPr>
          <p:cNvSpPr>
            <a:spLocks noGrp="1"/>
          </p:cNvSpPr>
          <p:nvPr>
            <p:ph type="title"/>
          </p:nvPr>
        </p:nvSpPr>
        <p:spPr>
          <a:xfrm>
            <a:off x="650669" y="629266"/>
            <a:ext cx="3330328" cy="1641986"/>
          </a:xfrm>
        </p:spPr>
        <p:txBody>
          <a:bodyPr>
            <a:normAutofit/>
          </a:bodyPr>
          <a:lstStyle/>
          <a:p>
            <a:pPr>
              <a:lnSpc>
                <a:spcPct val="90000"/>
              </a:lnSpc>
            </a:pPr>
            <a:r>
              <a:rPr lang="en-US" sz="3300" b="1">
                <a:ea typeface="+mj-lt"/>
                <a:cs typeface="+mj-lt"/>
              </a:rPr>
              <a:t>Future Drone Enhancements</a:t>
            </a:r>
            <a:endParaRPr lang="en-US" sz="3300">
              <a:ea typeface="+mj-lt"/>
              <a:cs typeface="+mj-lt"/>
            </a:endParaRPr>
          </a:p>
        </p:txBody>
      </p:sp>
      <p:pic>
        <p:nvPicPr>
          <p:cNvPr id="6" name="Picture 5" descr="A person holding a computer chip&#10;&#10;AI-generated content may be incorrect.">
            <a:extLst>
              <a:ext uri="{FF2B5EF4-FFF2-40B4-BE49-F238E27FC236}">
                <a16:creationId xmlns:a16="http://schemas.microsoft.com/office/drawing/2014/main" id="{7E5E90EE-DC1B-2FC0-448B-EF7809705A66}"/>
              </a:ext>
            </a:extLst>
          </p:cNvPr>
          <p:cNvPicPr>
            <a:picLocks noChangeAspect="1"/>
          </p:cNvPicPr>
          <p:nvPr/>
        </p:nvPicPr>
        <p:blipFill>
          <a:blip r:embed="rId3"/>
          <a:srcRect l="21200" r="21199" b="-1"/>
          <a:stretch/>
        </p:blipFill>
        <p:spPr>
          <a:xfrm>
            <a:off x="4634680" y="10"/>
            <a:ext cx="7560130" cy="6857990"/>
          </a:xfrm>
          <a:prstGeom prst="rect">
            <a:avLst/>
          </a:prstGeom>
        </p:spPr>
      </p:pic>
      <p:sp>
        <p:nvSpPr>
          <p:cNvPr id="19" name="Rectangle 18">
            <a:extLst>
              <a:ext uri="{FF2B5EF4-FFF2-40B4-BE49-F238E27FC236}">
                <a16:creationId xmlns:a16="http://schemas.microsoft.com/office/drawing/2014/main" id="{A26E2FAE-FA60-497B-B2CB-7702C6FF3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194C20AD-F11A-DDEA-B958-AD3CF799E772}"/>
              </a:ext>
            </a:extLst>
          </p:cNvPr>
          <p:cNvSpPr>
            <a:spLocks noGrp="1"/>
          </p:cNvSpPr>
          <p:nvPr>
            <p:ph type="sldNum" sz="quarter" idx="12"/>
          </p:nvPr>
        </p:nvSpPr>
        <p:spPr>
          <a:xfrm>
            <a:off x="10352540" y="295729"/>
            <a:ext cx="838199" cy="767687"/>
          </a:xfrm>
        </p:spPr>
        <p:txBody>
          <a:bodyPr>
            <a:normAutofit/>
          </a:bodyPr>
          <a:lstStyle/>
          <a:p>
            <a:pPr>
              <a:spcAft>
                <a:spcPts val="600"/>
              </a:spcAft>
            </a:pPr>
            <a:r>
              <a:rPr lang="en-US"/>
              <a:t>22</a:t>
            </a:r>
          </a:p>
        </p:txBody>
      </p:sp>
      <p:sp>
        <p:nvSpPr>
          <p:cNvPr id="3" name="Content Placeholder 2">
            <a:extLst>
              <a:ext uri="{FF2B5EF4-FFF2-40B4-BE49-F238E27FC236}">
                <a16:creationId xmlns:a16="http://schemas.microsoft.com/office/drawing/2014/main" id="{4F8A6272-D545-8FBA-ACE4-31050CD2A4D3}"/>
              </a:ext>
            </a:extLst>
          </p:cNvPr>
          <p:cNvSpPr>
            <a:spLocks noGrp="1"/>
          </p:cNvSpPr>
          <p:nvPr>
            <p:ph idx="1"/>
          </p:nvPr>
        </p:nvSpPr>
        <p:spPr>
          <a:xfrm>
            <a:off x="650669" y="2438400"/>
            <a:ext cx="3330328" cy="3809999"/>
          </a:xfrm>
        </p:spPr>
        <p:txBody>
          <a:bodyPr vert="horz" lIns="91440" tIns="45720" rIns="91440" bIns="45720" rtlCol="0">
            <a:normAutofit/>
          </a:bodyPr>
          <a:lstStyle/>
          <a:p>
            <a:r>
              <a:rPr lang="en-US">
                <a:ea typeface="+mj-lt"/>
                <a:cs typeface="+mj-lt"/>
              </a:rPr>
              <a:t>We plan to integrate heavier payloads, AI-driven wind pattern analysis, and advanced fire suppression chemicals.</a:t>
            </a:r>
          </a:p>
        </p:txBody>
      </p:sp>
    </p:spTree>
    <p:extLst>
      <p:ext uri="{BB962C8B-B14F-4D97-AF65-F5344CB8AC3E}">
        <p14:creationId xmlns:p14="http://schemas.microsoft.com/office/powerpoint/2010/main" val="1433155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5F400-E9FC-C485-2689-3063C22E23CC}"/>
              </a:ext>
            </a:extLst>
          </p:cNvPr>
          <p:cNvSpPr>
            <a:spLocks noGrp="1"/>
          </p:cNvSpPr>
          <p:nvPr>
            <p:ph type="title"/>
          </p:nvPr>
        </p:nvSpPr>
        <p:spPr>
          <a:xfrm>
            <a:off x="648930" y="629266"/>
            <a:ext cx="9252154" cy="1223983"/>
          </a:xfrm>
        </p:spPr>
        <p:txBody>
          <a:bodyPr>
            <a:normAutofit/>
          </a:bodyPr>
          <a:lstStyle/>
          <a:p>
            <a:r>
              <a:rPr lang="en-US" b="1">
                <a:ea typeface="+mj-lt"/>
                <a:cs typeface="+mj-lt"/>
              </a:rPr>
              <a:t>ExtinguishAI Mobile App</a:t>
            </a:r>
            <a:endParaRPr lang="en-US">
              <a:ea typeface="+mj-lt"/>
              <a:cs typeface="+mj-lt"/>
            </a:endParaRPr>
          </a:p>
        </p:txBody>
      </p:sp>
      <p:sp>
        <p:nvSpPr>
          <p:cNvPr id="4" name="Slide Number Placeholder 3">
            <a:extLst>
              <a:ext uri="{FF2B5EF4-FFF2-40B4-BE49-F238E27FC236}">
                <a16:creationId xmlns:a16="http://schemas.microsoft.com/office/drawing/2014/main" id="{D41C856B-0E64-632F-C631-0530654AC50A}"/>
              </a:ext>
            </a:extLst>
          </p:cNvPr>
          <p:cNvSpPr>
            <a:spLocks noGrp="1"/>
          </p:cNvSpPr>
          <p:nvPr>
            <p:ph type="sldNum" sz="quarter" idx="12"/>
          </p:nvPr>
        </p:nvSpPr>
        <p:spPr>
          <a:xfrm>
            <a:off x="10352540" y="295729"/>
            <a:ext cx="838199" cy="767687"/>
          </a:xfrm>
        </p:spPr>
        <p:txBody>
          <a:bodyPr>
            <a:normAutofit/>
          </a:bodyPr>
          <a:lstStyle/>
          <a:p>
            <a:pPr>
              <a:spcAft>
                <a:spcPts val="600"/>
              </a:spcAft>
            </a:pPr>
            <a:r>
              <a:rPr lang="en-US"/>
              <a:t>23</a:t>
            </a:r>
          </a:p>
        </p:txBody>
      </p:sp>
      <p:sp>
        <p:nvSpPr>
          <p:cNvPr id="3" name="Content Placeholder 2">
            <a:extLst>
              <a:ext uri="{FF2B5EF4-FFF2-40B4-BE49-F238E27FC236}">
                <a16:creationId xmlns:a16="http://schemas.microsoft.com/office/drawing/2014/main" id="{E82FBF30-D117-6427-982B-E41B205BC900}"/>
              </a:ext>
            </a:extLst>
          </p:cNvPr>
          <p:cNvSpPr>
            <a:spLocks noGrp="1"/>
          </p:cNvSpPr>
          <p:nvPr>
            <p:ph idx="1"/>
          </p:nvPr>
        </p:nvSpPr>
        <p:spPr>
          <a:xfrm>
            <a:off x="1103311" y="2052214"/>
            <a:ext cx="4338409" cy="4196185"/>
          </a:xfrm>
        </p:spPr>
        <p:txBody>
          <a:bodyPr vert="horz" lIns="91440" tIns="45720" rIns="91440" bIns="45720" rtlCol="0">
            <a:normAutofit/>
          </a:bodyPr>
          <a:lstStyle/>
          <a:p>
            <a:pPr>
              <a:lnSpc>
                <a:spcPct val="90000"/>
              </a:lnSpc>
            </a:pPr>
            <a:r>
              <a:rPr lang="en-US" sz="1700">
                <a:ea typeface="+mj-lt"/>
                <a:cs typeface="+mj-lt"/>
              </a:rPr>
              <a:t>Instant Alerts: </a:t>
            </a:r>
          </a:p>
          <a:p>
            <a:pPr lvl="1">
              <a:lnSpc>
                <a:spcPct val="90000"/>
              </a:lnSpc>
              <a:buClr>
                <a:srgbClr val="8AD0D6"/>
              </a:buClr>
              <a:buFont typeface="Courier New" charset="2"/>
              <a:buChar char="o"/>
            </a:pPr>
            <a:r>
              <a:rPr lang="en-US" sz="1700">
                <a:ea typeface="+mj-lt"/>
                <a:cs typeface="+mj-lt"/>
              </a:rPr>
              <a:t>Users would  receive immediate notifications about critical events.</a:t>
            </a:r>
          </a:p>
          <a:p>
            <a:pPr marL="0" indent="0">
              <a:lnSpc>
                <a:spcPct val="90000"/>
              </a:lnSpc>
              <a:buClr>
                <a:srgbClr val="8AD0D6"/>
              </a:buClr>
              <a:buNone/>
            </a:pPr>
            <a:endParaRPr lang="en-US" sz="1700">
              <a:ea typeface="+mj-lt"/>
              <a:cs typeface="+mj-lt"/>
            </a:endParaRPr>
          </a:p>
          <a:p>
            <a:pPr>
              <a:lnSpc>
                <a:spcPct val="90000"/>
              </a:lnSpc>
              <a:buClr>
                <a:srgbClr val="8AD0D6"/>
              </a:buClr>
            </a:pPr>
            <a:r>
              <a:rPr lang="en-US" sz="1700">
                <a:ea typeface="+mj-lt"/>
                <a:cs typeface="+mj-lt"/>
              </a:rPr>
              <a:t>Real-Time Monitoring: </a:t>
            </a:r>
          </a:p>
          <a:p>
            <a:pPr lvl="1">
              <a:lnSpc>
                <a:spcPct val="90000"/>
              </a:lnSpc>
              <a:buClr>
                <a:srgbClr val="8AD0D6"/>
              </a:buClr>
              <a:buFont typeface="Courier New" charset="2"/>
              <a:buChar char="o"/>
            </a:pPr>
            <a:r>
              <a:rPr lang="en-US" sz="1700">
                <a:ea typeface="+mj-lt"/>
                <a:cs typeface="+mj-lt"/>
              </a:rPr>
              <a:t>This would enable users to oversee drone operations in real-time.</a:t>
            </a:r>
            <a:endParaRPr lang="en-US" sz="1700"/>
          </a:p>
          <a:p>
            <a:pPr marL="0" indent="0">
              <a:lnSpc>
                <a:spcPct val="90000"/>
              </a:lnSpc>
              <a:buClr>
                <a:srgbClr val="8AD0D6"/>
              </a:buClr>
              <a:buNone/>
            </a:pPr>
            <a:endParaRPr lang="en-US" sz="1700">
              <a:ea typeface="+mj-lt"/>
              <a:cs typeface="+mj-lt"/>
            </a:endParaRPr>
          </a:p>
          <a:p>
            <a:pPr>
              <a:lnSpc>
                <a:spcPct val="90000"/>
              </a:lnSpc>
              <a:buClr>
                <a:srgbClr val="8AD0D6"/>
              </a:buClr>
              <a:buFont typeface="Wingdings 3"/>
              <a:buChar char=""/>
            </a:pPr>
            <a:r>
              <a:rPr lang="en-US" sz="1700">
                <a:ea typeface="+mj-lt"/>
                <a:cs typeface="+mj-lt"/>
              </a:rPr>
              <a:t>Manual Control: </a:t>
            </a:r>
          </a:p>
          <a:p>
            <a:pPr lvl="1">
              <a:lnSpc>
                <a:spcPct val="90000"/>
              </a:lnSpc>
              <a:buClr>
                <a:srgbClr val="8AD0D6"/>
              </a:buClr>
              <a:buFont typeface="Courier New"/>
              <a:buChar char="o"/>
            </a:pPr>
            <a:r>
              <a:rPr lang="en-US" sz="1700">
                <a:ea typeface="+mj-lt"/>
                <a:cs typeface="+mj-lt"/>
              </a:rPr>
              <a:t>An app would allow for direct drone control.</a:t>
            </a:r>
            <a:endParaRPr lang="en-US" sz="1700"/>
          </a:p>
          <a:p>
            <a:pPr marL="0" indent="0">
              <a:lnSpc>
                <a:spcPct val="90000"/>
              </a:lnSpc>
              <a:buClr>
                <a:srgbClr val="1E5155">
                  <a:lumMod val="40000"/>
                  <a:lumOff val="60000"/>
                </a:srgbClr>
              </a:buClr>
              <a:buNone/>
            </a:pPr>
            <a:endParaRPr lang="en-US" sz="1700">
              <a:ea typeface="+mj-lt"/>
              <a:cs typeface="+mj-lt"/>
            </a:endParaRPr>
          </a:p>
          <a:p>
            <a:pPr>
              <a:lnSpc>
                <a:spcPct val="90000"/>
              </a:lnSpc>
              <a:buClr>
                <a:srgbClr val="8AD0D6"/>
              </a:buClr>
            </a:pPr>
            <a:endParaRPr lang="en-US" sz="1700">
              <a:ea typeface="+mj-lt"/>
              <a:cs typeface="+mj-lt"/>
            </a:endParaRPr>
          </a:p>
          <a:p>
            <a:pPr marL="0" indent="0">
              <a:lnSpc>
                <a:spcPct val="90000"/>
              </a:lnSpc>
              <a:buClr>
                <a:srgbClr val="8AD0D6"/>
              </a:buClr>
              <a:buNone/>
            </a:pPr>
            <a:endParaRPr lang="en-US" sz="1700"/>
          </a:p>
          <a:p>
            <a:pPr>
              <a:lnSpc>
                <a:spcPct val="90000"/>
              </a:lnSpc>
              <a:buClr>
                <a:srgbClr val="8AD0D6"/>
              </a:buClr>
            </a:pPr>
            <a:endParaRPr lang="en-US" sz="1700">
              <a:ea typeface="+mj-lt"/>
              <a:cs typeface="+mj-lt"/>
            </a:endParaRPr>
          </a:p>
        </p:txBody>
      </p:sp>
      <p:pic>
        <p:nvPicPr>
          <p:cNvPr id="6" name="Picture 5" descr="A screenshot of a computer&#10;&#10;AI-generated content may be incorrect.">
            <a:extLst>
              <a:ext uri="{FF2B5EF4-FFF2-40B4-BE49-F238E27FC236}">
                <a16:creationId xmlns:a16="http://schemas.microsoft.com/office/drawing/2014/main" id="{FEB5AC88-C191-52D9-3AD6-59C9BB354C6A}"/>
              </a:ext>
            </a:extLst>
          </p:cNvPr>
          <p:cNvPicPr>
            <a:picLocks noChangeAspect="1"/>
          </p:cNvPicPr>
          <p:nvPr/>
        </p:nvPicPr>
        <p:blipFill>
          <a:blip r:embed="rId4"/>
          <a:srcRect t="2258" b="11980"/>
          <a:stretch/>
        </p:blipFill>
        <p:spPr>
          <a:xfrm>
            <a:off x="6091916" y="1716416"/>
            <a:ext cx="5722847" cy="4402829"/>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2014830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77A70-C0F4-2BA9-212B-7A58F2315A2A}"/>
              </a:ext>
            </a:extLst>
          </p:cNvPr>
          <p:cNvSpPr>
            <a:spLocks noGrp="1"/>
          </p:cNvSpPr>
          <p:nvPr>
            <p:ph type="title"/>
          </p:nvPr>
        </p:nvSpPr>
        <p:spPr>
          <a:xfrm>
            <a:off x="5411931" y="452718"/>
            <a:ext cx="4638903" cy="1400530"/>
          </a:xfrm>
        </p:spPr>
        <p:txBody>
          <a:bodyPr>
            <a:normAutofit/>
          </a:bodyPr>
          <a:lstStyle/>
          <a:p>
            <a:pPr>
              <a:lnSpc>
                <a:spcPct val="90000"/>
              </a:lnSpc>
            </a:pPr>
            <a:r>
              <a:rPr lang="en-US" sz="3300" b="1">
                <a:ea typeface="+mj-lt"/>
                <a:cs typeface="+mj-lt"/>
              </a:rPr>
              <a:t>Real-Time Emergency Notifications</a:t>
            </a:r>
            <a:endParaRPr lang="en-US" sz="3300">
              <a:ea typeface="+mj-lt"/>
              <a:cs typeface="+mj-lt"/>
            </a:endParaRPr>
          </a:p>
        </p:txBody>
      </p:sp>
      <p:sp>
        <p:nvSpPr>
          <p:cNvPr id="12"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6" name="Picture 5" descr="A person wearing a helmet and looking at a computer screen&#10;&#10;AI-generated content may be incorrect.">
            <a:extLst>
              <a:ext uri="{FF2B5EF4-FFF2-40B4-BE49-F238E27FC236}">
                <a16:creationId xmlns:a16="http://schemas.microsoft.com/office/drawing/2014/main" id="{B51C14C8-FF5F-760D-3ABF-C0BBE1DF69CB}"/>
              </a:ext>
            </a:extLst>
          </p:cNvPr>
          <p:cNvPicPr>
            <a:picLocks noChangeAspect="1"/>
          </p:cNvPicPr>
          <p:nvPr/>
        </p:nvPicPr>
        <p:blipFill>
          <a:blip r:embed="rId4"/>
          <a:srcRect l="5460" t="-4246" r="49679" b="3614"/>
          <a:stretch/>
        </p:blipFill>
        <p:spPr>
          <a:xfrm>
            <a:off x="3" y="-267474"/>
            <a:ext cx="5406912" cy="7134530"/>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14" name="Rectangle 13">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DD5BDFB3-DA82-2C7D-BE90-2A0AA48E9DDF}"/>
              </a:ext>
            </a:extLst>
          </p:cNvPr>
          <p:cNvSpPr>
            <a:spLocks noGrp="1"/>
          </p:cNvSpPr>
          <p:nvPr>
            <p:ph type="sldNum" sz="quarter" idx="12"/>
          </p:nvPr>
        </p:nvSpPr>
        <p:spPr>
          <a:xfrm>
            <a:off x="10352540" y="295729"/>
            <a:ext cx="838199" cy="767687"/>
          </a:xfrm>
        </p:spPr>
        <p:txBody>
          <a:bodyPr>
            <a:normAutofit/>
          </a:bodyPr>
          <a:lstStyle/>
          <a:p>
            <a:pPr>
              <a:spcAft>
                <a:spcPts val="600"/>
              </a:spcAft>
            </a:pPr>
            <a:r>
              <a:rPr lang="en-US"/>
              <a:t>24</a:t>
            </a:r>
          </a:p>
        </p:txBody>
      </p:sp>
      <p:graphicFrame>
        <p:nvGraphicFramePr>
          <p:cNvPr id="22" name="Content Placeholder 2">
            <a:extLst>
              <a:ext uri="{FF2B5EF4-FFF2-40B4-BE49-F238E27FC236}">
                <a16:creationId xmlns:a16="http://schemas.microsoft.com/office/drawing/2014/main" id="{2FE26F8A-DBD8-7B20-4EE6-932D912E6D1E}"/>
              </a:ext>
            </a:extLst>
          </p:cNvPr>
          <p:cNvGraphicFramePr>
            <a:graphicFrameLocks noGrp="1"/>
          </p:cNvGraphicFramePr>
          <p:nvPr>
            <p:ph idx="1"/>
            <p:extLst>
              <p:ext uri="{D42A27DB-BD31-4B8C-83A1-F6EECF244321}">
                <p14:modId xmlns:p14="http://schemas.microsoft.com/office/powerpoint/2010/main" val="4122052919"/>
              </p:ext>
            </p:extLst>
          </p:nvPr>
        </p:nvGraphicFramePr>
        <p:xfrm>
          <a:off x="5578848" y="2104579"/>
          <a:ext cx="5982089" cy="330856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5" name="TextBox 4">
            <a:extLst>
              <a:ext uri="{FF2B5EF4-FFF2-40B4-BE49-F238E27FC236}">
                <a16:creationId xmlns:a16="http://schemas.microsoft.com/office/drawing/2014/main" id="{DA4CB6A3-17FD-DB7F-F208-D4D1C42B761B}"/>
              </a:ext>
            </a:extLst>
          </p:cNvPr>
          <p:cNvSpPr txBox="1"/>
          <p:nvPr/>
        </p:nvSpPr>
        <p:spPr>
          <a:xfrm>
            <a:off x="6391967" y="6380922"/>
            <a:ext cx="58022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hlinkClick r:id="rId10"/>
              </a:rPr>
              <a:t>https://www.theguardian.com/world/article/2024/aug/15/how-ai-is-revolutionising-how-firefighters-tackle-blazes-and-saving-lives?utm_source=chatgpt.com</a:t>
            </a:r>
            <a:r>
              <a:rPr lang="en-US" sz="900"/>
              <a:t> </a:t>
            </a:r>
          </a:p>
        </p:txBody>
      </p:sp>
      <p:sp>
        <p:nvSpPr>
          <p:cNvPr id="24" name="TextBox 23">
            <a:extLst>
              <a:ext uri="{FF2B5EF4-FFF2-40B4-BE49-F238E27FC236}">
                <a16:creationId xmlns:a16="http://schemas.microsoft.com/office/drawing/2014/main" id="{EE62EF7A-81DF-B167-E430-6F8D1988D0B7}"/>
              </a:ext>
            </a:extLst>
          </p:cNvPr>
          <p:cNvSpPr txBox="1"/>
          <p:nvPr/>
        </p:nvSpPr>
        <p:spPr>
          <a:xfrm>
            <a:off x="0" y="6792913"/>
            <a:ext cx="4649788" cy="317500"/>
          </a:xfrm>
          <a:prstGeom prst="rect">
            <a:avLst/>
          </a:prstGeom>
        </p:spPr>
        <p:txBody>
          <a:bodyPr>
            <a:normAutofit fontScale="70000" lnSpcReduction="20000"/>
          </a:bodyPr>
          <a:lstStyle/>
          <a:p>
            <a:r>
              <a:rPr lang="en-US"/>
              <a:t>ThePhoto by PhotoAuthor is licensed under CCYYSA.</a:t>
            </a:r>
          </a:p>
        </p:txBody>
      </p:sp>
    </p:spTree>
    <p:extLst>
      <p:ext uri="{BB962C8B-B14F-4D97-AF65-F5344CB8AC3E}">
        <p14:creationId xmlns:p14="http://schemas.microsoft.com/office/powerpoint/2010/main" val="14642117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215856-18BB-8991-98B6-086AF158972D}"/>
              </a:ext>
            </a:extLst>
          </p:cNvPr>
          <p:cNvSpPr>
            <a:spLocks noGrp="1"/>
          </p:cNvSpPr>
          <p:nvPr>
            <p:ph type="title"/>
          </p:nvPr>
        </p:nvSpPr>
        <p:spPr>
          <a:xfrm>
            <a:off x="1387619" y="297937"/>
            <a:ext cx="4638903" cy="1400530"/>
          </a:xfrm>
        </p:spPr>
        <p:txBody>
          <a:bodyPr>
            <a:normAutofit/>
          </a:bodyPr>
          <a:lstStyle/>
          <a:p>
            <a:pPr>
              <a:lnSpc>
                <a:spcPct val="90000"/>
              </a:lnSpc>
            </a:pPr>
            <a:r>
              <a:rPr lang="en-US" sz="3600" b="1">
                <a:ea typeface="+mj-lt"/>
                <a:cs typeface="+mj-lt"/>
              </a:rPr>
              <a:t>Predictive Analytics Dashboard</a:t>
            </a:r>
            <a:endParaRPr lang="en-US" sz="3600">
              <a:ea typeface="+mj-lt"/>
              <a:cs typeface="+mj-lt"/>
            </a:endParaRPr>
          </a:p>
        </p:txBody>
      </p:sp>
      <p:sp>
        <p:nvSpPr>
          <p:cNvPr id="13"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6" name="Picture 5" descr="Financial graphs on a dark display">
            <a:extLst>
              <a:ext uri="{FF2B5EF4-FFF2-40B4-BE49-F238E27FC236}">
                <a16:creationId xmlns:a16="http://schemas.microsoft.com/office/drawing/2014/main" id="{8BCE2DD6-0838-DD06-A5E1-76B0A8E8CDC1}"/>
              </a:ext>
            </a:extLst>
          </p:cNvPr>
          <p:cNvPicPr>
            <a:picLocks noChangeAspect="1"/>
          </p:cNvPicPr>
          <p:nvPr/>
        </p:nvPicPr>
        <p:blipFill>
          <a:blip r:embed="rId4"/>
          <a:srcRect l="24632" r="30046"/>
          <a:stretch/>
        </p:blipFill>
        <p:spPr>
          <a:xfrm>
            <a:off x="7222455" y="3192"/>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15" name="Rectangle 14">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4CBF196D-0D1E-A37B-0A13-19627B81381A}"/>
              </a:ext>
            </a:extLst>
          </p:cNvPr>
          <p:cNvSpPr>
            <a:spLocks noGrp="1"/>
          </p:cNvSpPr>
          <p:nvPr>
            <p:ph type="sldNum" sz="quarter" idx="12"/>
          </p:nvPr>
        </p:nvSpPr>
        <p:spPr>
          <a:xfrm>
            <a:off x="10352540" y="295729"/>
            <a:ext cx="838199" cy="767687"/>
          </a:xfrm>
        </p:spPr>
        <p:txBody>
          <a:bodyPr>
            <a:normAutofit/>
          </a:bodyPr>
          <a:lstStyle/>
          <a:p>
            <a:pPr>
              <a:spcAft>
                <a:spcPts val="600"/>
              </a:spcAft>
            </a:pPr>
            <a:fld id="{F726F5A5-9172-A445-B9BD-F8F0698F3076}" type="slidenum">
              <a:rPr lang="en-US" smtClean="0"/>
              <a:pPr>
                <a:spcAft>
                  <a:spcPts val="600"/>
                </a:spcAft>
              </a:pPr>
              <a:t>25</a:t>
            </a:fld>
            <a:endParaRPr lang="en-US"/>
          </a:p>
        </p:txBody>
      </p:sp>
      <p:graphicFrame>
        <p:nvGraphicFramePr>
          <p:cNvPr id="21" name="Content Placeholder 2">
            <a:extLst>
              <a:ext uri="{FF2B5EF4-FFF2-40B4-BE49-F238E27FC236}">
                <a16:creationId xmlns:a16="http://schemas.microsoft.com/office/drawing/2014/main" id="{B10B0D6E-7923-4487-38F9-F3A25ABEC671}"/>
              </a:ext>
            </a:extLst>
          </p:cNvPr>
          <p:cNvGraphicFramePr>
            <a:graphicFrameLocks noGrp="1"/>
          </p:cNvGraphicFramePr>
          <p:nvPr>
            <p:ph idx="1"/>
            <p:extLst>
              <p:ext uri="{D42A27DB-BD31-4B8C-83A1-F6EECF244321}">
                <p14:modId xmlns:p14="http://schemas.microsoft.com/office/powerpoint/2010/main" val="1912575213"/>
              </p:ext>
            </p:extLst>
          </p:nvPr>
        </p:nvGraphicFramePr>
        <p:xfrm>
          <a:off x="635680" y="1850945"/>
          <a:ext cx="6148525" cy="415234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5" name="TextBox 4">
            <a:extLst>
              <a:ext uri="{FF2B5EF4-FFF2-40B4-BE49-F238E27FC236}">
                <a16:creationId xmlns:a16="http://schemas.microsoft.com/office/drawing/2014/main" id="{028BC173-8CFB-C661-B9BB-4CFD2F36AF5D}"/>
              </a:ext>
            </a:extLst>
          </p:cNvPr>
          <p:cNvSpPr txBox="1"/>
          <p:nvPr/>
        </p:nvSpPr>
        <p:spPr>
          <a:xfrm>
            <a:off x="422426" y="6132258"/>
            <a:ext cx="65531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hlinkClick r:id="rId10"/>
              </a:rPr>
              <a:t>https://today.usc.edu/using-ai-to-predict-wildfires/</a:t>
            </a:r>
            <a:endParaRPr lang="en-US">
              <a:ea typeface="+mn-lt"/>
              <a:cs typeface="+mn-lt"/>
            </a:endParaRPr>
          </a:p>
          <a:p>
            <a:endParaRPr lang="en-US" sz="1400">
              <a:ea typeface="+mn-lt"/>
              <a:cs typeface="+mn-lt"/>
            </a:endParaRPr>
          </a:p>
        </p:txBody>
      </p:sp>
    </p:spTree>
    <p:extLst>
      <p:ext uri="{BB962C8B-B14F-4D97-AF65-F5344CB8AC3E}">
        <p14:creationId xmlns:p14="http://schemas.microsoft.com/office/powerpoint/2010/main" val="4060809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EA1080-5D69-BEB5-F9F5-EA9CA406B618}"/>
              </a:ext>
            </a:extLst>
          </p:cNvPr>
          <p:cNvSpPr>
            <a:spLocks noGrp="1"/>
          </p:cNvSpPr>
          <p:nvPr>
            <p:ph type="title"/>
          </p:nvPr>
        </p:nvSpPr>
        <p:spPr>
          <a:xfrm>
            <a:off x="648930" y="629266"/>
            <a:ext cx="6188190" cy="1622321"/>
          </a:xfrm>
        </p:spPr>
        <p:txBody>
          <a:bodyPr>
            <a:normAutofit/>
          </a:bodyPr>
          <a:lstStyle/>
          <a:p>
            <a:r>
              <a:rPr lang="en-US" b="1">
                <a:solidFill>
                  <a:srgbClr val="EBEBEB"/>
                </a:solidFill>
                <a:ea typeface="+mj-lt"/>
                <a:cs typeface="+mj-lt"/>
              </a:rPr>
              <a:t>Cloud-Based AI Data Processing</a:t>
            </a:r>
            <a:endParaRPr lang="en-US">
              <a:solidFill>
                <a:srgbClr val="EBEBEB"/>
              </a:solidFill>
              <a:ea typeface="+mj-lt"/>
              <a:cs typeface="+mj-lt"/>
            </a:endParaRPr>
          </a:p>
        </p:txBody>
      </p:sp>
      <p:sp>
        <p:nvSpPr>
          <p:cNvPr id="3" name="Content Placeholder 2">
            <a:extLst>
              <a:ext uri="{FF2B5EF4-FFF2-40B4-BE49-F238E27FC236}">
                <a16:creationId xmlns:a16="http://schemas.microsoft.com/office/drawing/2014/main" id="{7F6683A4-5893-AFCA-FE0D-A39365E85A31}"/>
              </a:ext>
            </a:extLst>
          </p:cNvPr>
          <p:cNvSpPr>
            <a:spLocks noGrp="1"/>
          </p:cNvSpPr>
          <p:nvPr>
            <p:ph idx="1"/>
          </p:nvPr>
        </p:nvSpPr>
        <p:spPr>
          <a:xfrm>
            <a:off x="648930" y="2438400"/>
            <a:ext cx="6188189" cy="3785419"/>
          </a:xfrm>
        </p:spPr>
        <p:txBody>
          <a:bodyPr vert="horz" lIns="91440" tIns="45720" rIns="91440" bIns="45720" rtlCol="0" anchor="t">
            <a:normAutofit/>
          </a:bodyPr>
          <a:lstStyle/>
          <a:p>
            <a:pPr>
              <a:buClr>
                <a:srgbClr val="8AD0D6"/>
              </a:buClr>
              <a:buFont typeface="Wingdings 3"/>
              <a:buChar char=""/>
            </a:pPr>
            <a:r>
              <a:rPr lang="en-US">
                <a:solidFill>
                  <a:srgbClr val="FFFFFF"/>
                </a:solidFill>
                <a:ea typeface="+mj-lt"/>
                <a:cs typeface="+mj-lt"/>
              </a:rPr>
              <a:t>Real-Time Processing:</a:t>
            </a:r>
          </a:p>
          <a:p>
            <a:pPr lvl="1">
              <a:buClr>
                <a:srgbClr val="8AD0D6"/>
              </a:buClr>
              <a:buFont typeface="Courier New"/>
              <a:buChar char="o"/>
            </a:pPr>
            <a:r>
              <a:rPr lang="en-US">
                <a:solidFill>
                  <a:srgbClr val="FFFFFF"/>
                </a:solidFill>
                <a:ea typeface="+mj-lt"/>
                <a:cs typeface="+mj-lt"/>
              </a:rPr>
              <a:t>Cloud computing allows immediate analysis of incoming data.</a:t>
            </a:r>
            <a:endParaRPr lang="en-US">
              <a:solidFill>
                <a:srgbClr val="FFFFFF"/>
              </a:solidFill>
            </a:endParaRPr>
          </a:p>
          <a:p>
            <a:pPr>
              <a:buClr>
                <a:srgbClr val="8AD0D6"/>
              </a:buClr>
              <a:buFont typeface="Wingdings 3"/>
              <a:buChar char=""/>
            </a:pPr>
            <a:r>
              <a:rPr lang="en-US">
                <a:solidFill>
                  <a:srgbClr val="FFFFFF"/>
                </a:solidFill>
                <a:ea typeface="+mj-lt"/>
                <a:cs typeface="+mj-lt"/>
              </a:rPr>
              <a:t>Scalability: </a:t>
            </a:r>
          </a:p>
          <a:p>
            <a:pPr lvl="1">
              <a:buClr>
                <a:srgbClr val="8AD0D6"/>
              </a:buClr>
              <a:buFont typeface="Courier New"/>
              <a:buChar char="o"/>
            </a:pPr>
            <a:r>
              <a:rPr lang="en-US">
                <a:solidFill>
                  <a:srgbClr val="FFFFFF"/>
                </a:solidFill>
                <a:ea typeface="+mj-lt"/>
                <a:cs typeface="+mj-lt"/>
              </a:rPr>
              <a:t>Cloud infrastructure can handle large datasets, accommodating extensive monitoring systems.</a:t>
            </a:r>
            <a:endParaRPr lang="en-US">
              <a:solidFill>
                <a:srgbClr val="FFFFFF"/>
              </a:solidFill>
            </a:endParaRPr>
          </a:p>
          <a:p>
            <a:pPr>
              <a:buClr>
                <a:srgbClr val="8AD0D6"/>
              </a:buClr>
              <a:buFont typeface="Wingdings 3"/>
              <a:buChar char=""/>
            </a:pPr>
            <a:r>
              <a:rPr lang="en-US">
                <a:solidFill>
                  <a:srgbClr val="FFFFFF"/>
                </a:solidFill>
                <a:ea typeface="+mj-lt"/>
                <a:cs typeface="+mj-lt"/>
              </a:rPr>
              <a:t>Accessibility:</a:t>
            </a:r>
          </a:p>
          <a:p>
            <a:pPr lvl="1">
              <a:buClr>
                <a:srgbClr val="8AD0D6"/>
              </a:buClr>
              <a:buFont typeface="Courier New"/>
              <a:buChar char="o"/>
            </a:pPr>
            <a:r>
              <a:rPr lang="en-US">
                <a:solidFill>
                  <a:srgbClr val="FFFFFF"/>
                </a:solidFill>
                <a:ea typeface="+mj-lt"/>
                <a:cs typeface="+mj-lt"/>
              </a:rPr>
              <a:t> Authorized personnel can access data from any location.</a:t>
            </a:r>
            <a:endParaRPr lang="en-US">
              <a:solidFill>
                <a:srgbClr val="FFFFFF"/>
              </a:solidFill>
            </a:endParaRPr>
          </a:p>
          <a:p>
            <a:pPr marL="0" indent="0">
              <a:buNone/>
            </a:pPr>
            <a:endParaRPr lang="en-US" i="1">
              <a:solidFill>
                <a:srgbClr val="FFFFFF"/>
              </a:solidFill>
            </a:endParaRPr>
          </a:p>
        </p:txBody>
      </p:sp>
      <p:sp>
        <p:nvSpPr>
          <p:cNvPr id="18"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6" name="Picture 5">
            <a:extLst>
              <a:ext uri="{FF2B5EF4-FFF2-40B4-BE49-F238E27FC236}">
                <a16:creationId xmlns:a16="http://schemas.microsoft.com/office/drawing/2014/main" id="{C4828D59-AE23-3911-2E30-4DBED38095AC}"/>
              </a:ext>
            </a:extLst>
          </p:cNvPr>
          <p:cNvPicPr>
            <a:picLocks noChangeAspect="1"/>
          </p:cNvPicPr>
          <p:nvPr/>
        </p:nvPicPr>
        <p:blipFill>
          <a:blip r:embed="rId3"/>
          <a:srcRect l="21314" r="27303"/>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
        <p:nvSpPr>
          <p:cNvPr id="4" name="Slide Number Placeholder 3">
            <a:extLst>
              <a:ext uri="{FF2B5EF4-FFF2-40B4-BE49-F238E27FC236}">
                <a16:creationId xmlns:a16="http://schemas.microsoft.com/office/drawing/2014/main" id="{97CCAB11-64D5-E0CC-A1D9-12D021A636FB}"/>
              </a:ext>
            </a:extLst>
          </p:cNvPr>
          <p:cNvSpPr>
            <a:spLocks noGrp="1"/>
          </p:cNvSpPr>
          <p:nvPr>
            <p:ph type="sldNum" sz="quarter" idx="12"/>
          </p:nvPr>
        </p:nvSpPr>
        <p:spPr>
          <a:xfrm>
            <a:off x="10352540" y="295729"/>
            <a:ext cx="838199" cy="767687"/>
          </a:xfrm>
        </p:spPr>
        <p:txBody>
          <a:bodyPr>
            <a:normAutofit/>
          </a:bodyPr>
          <a:lstStyle/>
          <a:p>
            <a:pPr>
              <a:spcAft>
                <a:spcPts val="600"/>
              </a:spcAft>
            </a:pPr>
            <a:fld id="{F726F5A5-9172-A445-B9BD-F8F0698F3076}" type="slidenum">
              <a:rPr lang="en-US">
                <a:solidFill>
                  <a:srgbClr val="FFFFFF"/>
                </a:solidFill>
              </a:rPr>
              <a:pPr>
                <a:spcAft>
                  <a:spcPts val="600"/>
                </a:spcAft>
              </a:pPr>
              <a:t>26</a:t>
            </a:fld>
            <a:endParaRPr lang="en-US">
              <a:solidFill>
                <a:srgbClr val="FFFFFF"/>
              </a:solidFill>
            </a:endParaRPr>
          </a:p>
        </p:txBody>
      </p:sp>
      <p:sp>
        <p:nvSpPr>
          <p:cNvPr id="7" name="Rectangle 6">
            <a:extLst>
              <a:ext uri="{FF2B5EF4-FFF2-40B4-BE49-F238E27FC236}">
                <a16:creationId xmlns:a16="http://schemas.microsoft.com/office/drawing/2014/main" id="{17F54354-2DC2-B224-33C3-83C605538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extBox 7">
            <a:extLst>
              <a:ext uri="{FF2B5EF4-FFF2-40B4-BE49-F238E27FC236}">
                <a16:creationId xmlns:a16="http://schemas.microsoft.com/office/drawing/2014/main" id="{E715D343-D262-6C22-DD40-33BD5F6969B3}"/>
              </a:ext>
            </a:extLst>
          </p:cNvPr>
          <p:cNvSpPr txBox="1"/>
          <p:nvPr/>
        </p:nvSpPr>
        <p:spPr>
          <a:xfrm>
            <a:off x="10489096" y="572052"/>
            <a:ext cx="64494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26</a:t>
            </a:r>
            <a:endParaRPr lang="en-US"/>
          </a:p>
        </p:txBody>
      </p:sp>
    </p:spTree>
    <p:extLst>
      <p:ext uri="{BB962C8B-B14F-4D97-AF65-F5344CB8AC3E}">
        <p14:creationId xmlns:p14="http://schemas.microsoft.com/office/powerpoint/2010/main" val="2736031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8CEE6C-3BCC-D742-296C-8986A0D27AA0}"/>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172DB809-9D67-E93B-942B-311BAA502E5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63A969E5-4E48-FA00-0BB9-3880733D38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5C841CAC-D35D-8283-8962-F6E866689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a:extLst>
              <a:ext uri="{FF2B5EF4-FFF2-40B4-BE49-F238E27FC236}">
                <a16:creationId xmlns:a16="http://schemas.microsoft.com/office/drawing/2014/main" id="{AF563D87-962F-74AB-06FA-3419CA23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4E228649-9C61-D936-629A-4174389C3FC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A8698061-8489-1BB1-4857-38DC1A4B5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98478A46-89AD-0FC5-9BE4-34F8F4B72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56AB5A-8D8C-23C8-6005-CF01A5E8E1DB}"/>
              </a:ext>
            </a:extLst>
          </p:cNvPr>
          <p:cNvSpPr>
            <a:spLocks noGrp="1"/>
          </p:cNvSpPr>
          <p:nvPr>
            <p:ph type="title"/>
          </p:nvPr>
        </p:nvSpPr>
        <p:spPr>
          <a:xfrm>
            <a:off x="6182827" y="-87686"/>
            <a:ext cx="4172520" cy="1944753"/>
          </a:xfrm>
        </p:spPr>
        <p:txBody>
          <a:bodyPr vert="horz" lIns="91440" tIns="45720" rIns="91440" bIns="45720" rtlCol="0" anchor="b">
            <a:noAutofit/>
          </a:bodyPr>
          <a:lstStyle/>
          <a:p>
            <a:r>
              <a:rPr lang="en-US" sz="3600" b="0" i="0" kern="1200">
                <a:solidFill>
                  <a:srgbClr val="EBEBEB"/>
                </a:solidFill>
                <a:latin typeface="+mj-lt"/>
                <a:ea typeface="+mj-ea"/>
                <a:cs typeface="+mj-cs"/>
              </a:rPr>
              <a:t>AI-Optimized System Maintenance</a:t>
            </a:r>
            <a:endParaRPr lang="en-US" sz="3600" b="0" i="0" kern="1200">
              <a:solidFill>
                <a:srgbClr val="EBEBEB"/>
              </a:solidFill>
              <a:latin typeface="+mj-lt"/>
            </a:endParaRPr>
          </a:p>
        </p:txBody>
      </p:sp>
      <p:sp>
        <p:nvSpPr>
          <p:cNvPr id="3" name="Content Placeholder 2">
            <a:extLst>
              <a:ext uri="{FF2B5EF4-FFF2-40B4-BE49-F238E27FC236}">
                <a16:creationId xmlns:a16="http://schemas.microsoft.com/office/drawing/2014/main" id="{B307AD0A-92AD-52BE-8EA8-403E8DB12A97}"/>
              </a:ext>
            </a:extLst>
          </p:cNvPr>
          <p:cNvSpPr>
            <a:spLocks noGrp="1"/>
          </p:cNvSpPr>
          <p:nvPr>
            <p:ph idx="1"/>
          </p:nvPr>
        </p:nvSpPr>
        <p:spPr>
          <a:xfrm>
            <a:off x="6182828" y="5847285"/>
            <a:ext cx="5604429" cy="1621508"/>
          </a:xfrm>
        </p:spPr>
        <p:txBody>
          <a:bodyPr vert="horz" lIns="91440" tIns="45720" rIns="91440" bIns="45720" rtlCol="0" anchor="t">
            <a:normAutofit/>
          </a:bodyPr>
          <a:lstStyle/>
          <a:p>
            <a:pPr marL="0" indent="0">
              <a:buNone/>
            </a:pPr>
            <a:r>
              <a:rPr lang="en-US" sz="1800" cap="all">
                <a:solidFill>
                  <a:schemeClr val="tx2">
                    <a:lumMod val="40000"/>
                    <a:lumOff val="60000"/>
                  </a:schemeClr>
                </a:solidFill>
              </a:rPr>
              <a:t>Drones perform self-diagnostics and alert operators when repairs are needed.</a:t>
            </a:r>
          </a:p>
        </p:txBody>
      </p:sp>
      <p:sp>
        <p:nvSpPr>
          <p:cNvPr id="25" name="Freeform 36">
            <a:extLst>
              <a:ext uri="{FF2B5EF4-FFF2-40B4-BE49-F238E27FC236}">
                <a16:creationId xmlns:a16="http://schemas.microsoft.com/office/drawing/2014/main" id="{3B157150-1DB0-277A-9873-75E2E4D8A6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20355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0B844742-DAED-7FB4-8077-9F017380B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549823" cy="6858000"/>
          </a:xfrm>
          <a:custGeom>
            <a:avLst/>
            <a:gdLst>
              <a:gd name="connsiteX0" fmla="*/ 4205108 w 5549823"/>
              <a:gd name="connsiteY0" fmla="*/ 0 h 6858000"/>
              <a:gd name="connsiteX1" fmla="*/ 5548646 w 5549823"/>
              <a:gd name="connsiteY1" fmla="*/ 0 h 6858000"/>
              <a:gd name="connsiteX2" fmla="*/ 5523601 w 5549823"/>
              <a:gd name="connsiteY2" fmla="*/ 155676 h 6858000"/>
              <a:gd name="connsiteX3" fmla="*/ 5499732 w 5549823"/>
              <a:gd name="connsiteY3" fmla="*/ 310667 h 6858000"/>
              <a:gd name="connsiteX4" fmla="*/ 5476368 w 5549823"/>
              <a:gd name="connsiteY4" fmla="*/ 466344 h 6858000"/>
              <a:gd name="connsiteX5" fmla="*/ 5456365 w 5549823"/>
              <a:gd name="connsiteY5" fmla="*/ 622706 h 6858000"/>
              <a:gd name="connsiteX6" fmla="*/ 5436194 w 5549823"/>
              <a:gd name="connsiteY6" fmla="*/ 778383 h 6858000"/>
              <a:gd name="connsiteX7" fmla="*/ 5417368 w 5549823"/>
              <a:gd name="connsiteY7" fmla="*/ 934745 h 6858000"/>
              <a:gd name="connsiteX8" fmla="*/ 5401232 w 5549823"/>
              <a:gd name="connsiteY8" fmla="*/ 1089050 h 6858000"/>
              <a:gd name="connsiteX9" fmla="*/ 5385936 w 5549823"/>
              <a:gd name="connsiteY9" fmla="*/ 1245413 h 6858000"/>
              <a:gd name="connsiteX10" fmla="*/ 5371984 w 5549823"/>
              <a:gd name="connsiteY10" fmla="*/ 1401089 h 6858000"/>
              <a:gd name="connsiteX11" fmla="*/ 5359882 w 5549823"/>
              <a:gd name="connsiteY11" fmla="*/ 1554023 h 6858000"/>
              <a:gd name="connsiteX12" fmla="*/ 5347779 w 5549823"/>
              <a:gd name="connsiteY12" fmla="*/ 1709013 h 6858000"/>
              <a:gd name="connsiteX13" fmla="*/ 5337694 w 5549823"/>
              <a:gd name="connsiteY13" fmla="*/ 1861947 h 6858000"/>
              <a:gd name="connsiteX14" fmla="*/ 5329794 w 5549823"/>
              <a:gd name="connsiteY14" fmla="*/ 2014880 h 6858000"/>
              <a:gd name="connsiteX15" fmla="*/ 5321557 w 5549823"/>
              <a:gd name="connsiteY15" fmla="*/ 2167128 h 6858000"/>
              <a:gd name="connsiteX16" fmla="*/ 5314666 w 5549823"/>
              <a:gd name="connsiteY16" fmla="*/ 2318004 h 6858000"/>
              <a:gd name="connsiteX17" fmla="*/ 5309791 w 5549823"/>
              <a:gd name="connsiteY17" fmla="*/ 2467508 h 6858000"/>
              <a:gd name="connsiteX18" fmla="*/ 5305589 w 5549823"/>
              <a:gd name="connsiteY18" fmla="*/ 2617013 h 6858000"/>
              <a:gd name="connsiteX19" fmla="*/ 5301555 w 5549823"/>
              <a:gd name="connsiteY19" fmla="*/ 2765145 h 6858000"/>
              <a:gd name="connsiteX20" fmla="*/ 5299706 w 5549823"/>
              <a:gd name="connsiteY20" fmla="*/ 2911221 h 6858000"/>
              <a:gd name="connsiteX21" fmla="*/ 5297689 w 5549823"/>
              <a:gd name="connsiteY21" fmla="*/ 3057296 h 6858000"/>
              <a:gd name="connsiteX22" fmla="*/ 5296680 w 5549823"/>
              <a:gd name="connsiteY22" fmla="*/ 3201314 h 6858000"/>
              <a:gd name="connsiteX23" fmla="*/ 5297689 w 5549823"/>
              <a:gd name="connsiteY23" fmla="*/ 3343960 h 6858000"/>
              <a:gd name="connsiteX24" fmla="*/ 5297689 w 5549823"/>
              <a:gd name="connsiteY24" fmla="*/ 3485235 h 6858000"/>
              <a:gd name="connsiteX25" fmla="*/ 5299706 w 5549823"/>
              <a:gd name="connsiteY25" fmla="*/ 3625138 h 6858000"/>
              <a:gd name="connsiteX26" fmla="*/ 5302731 w 5549823"/>
              <a:gd name="connsiteY26" fmla="*/ 3762298 h 6858000"/>
              <a:gd name="connsiteX27" fmla="*/ 5305589 w 5549823"/>
              <a:gd name="connsiteY27" fmla="*/ 3898087 h 6858000"/>
              <a:gd name="connsiteX28" fmla="*/ 5308783 w 5549823"/>
              <a:gd name="connsiteY28" fmla="*/ 4031132 h 6858000"/>
              <a:gd name="connsiteX29" fmla="*/ 5313657 w 5549823"/>
              <a:gd name="connsiteY29" fmla="*/ 4163491 h 6858000"/>
              <a:gd name="connsiteX30" fmla="*/ 5318868 w 5549823"/>
              <a:gd name="connsiteY30" fmla="*/ 4293793 h 6858000"/>
              <a:gd name="connsiteX31" fmla="*/ 5323574 w 5549823"/>
              <a:gd name="connsiteY31" fmla="*/ 4421352 h 6858000"/>
              <a:gd name="connsiteX32" fmla="*/ 5336854 w 5549823"/>
              <a:gd name="connsiteY32" fmla="*/ 4670298 h 6858000"/>
              <a:gd name="connsiteX33" fmla="*/ 5350973 w 5549823"/>
              <a:gd name="connsiteY33" fmla="*/ 4908956 h 6858000"/>
              <a:gd name="connsiteX34" fmla="*/ 5365765 w 5549823"/>
              <a:gd name="connsiteY34" fmla="*/ 5138013 h 6858000"/>
              <a:gd name="connsiteX35" fmla="*/ 5382070 w 5549823"/>
              <a:gd name="connsiteY35" fmla="*/ 5354726 h 6858000"/>
              <a:gd name="connsiteX36" fmla="*/ 5399047 w 5549823"/>
              <a:gd name="connsiteY36" fmla="*/ 5561838 h 6858000"/>
              <a:gd name="connsiteX37" fmla="*/ 5417368 w 5549823"/>
              <a:gd name="connsiteY37" fmla="*/ 5753862 h 6858000"/>
              <a:gd name="connsiteX38" fmla="*/ 5435354 w 5549823"/>
              <a:gd name="connsiteY38" fmla="*/ 5934227 h 6858000"/>
              <a:gd name="connsiteX39" fmla="*/ 5453339 w 5549823"/>
              <a:gd name="connsiteY39" fmla="*/ 6100191 h 6858000"/>
              <a:gd name="connsiteX40" fmla="*/ 5470316 w 5549823"/>
              <a:gd name="connsiteY40" fmla="*/ 6252438 h 6858000"/>
              <a:gd name="connsiteX41" fmla="*/ 5486453 w 5549823"/>
              <a:gd name="connsiteY41" fmla="*/ 6387541 h 6858000"/>
              <a:gd name="connsiteX42" fmla="*/ 5501749 w 5549823"/>
              <a:gd name="connsiteY42" fmla="*/ 6509613 h 6858000"/>
              <a:gd name="connsiteX43" fmla="*/ 5514524 w 5549823"/>
              <a:gd name="connsiteY43" fmla="*/ 6612483 h 6858000"/>
              <a:gd name="connsiteX44" fmla="*/ 5526626 w 5549823"/>
              <a:gd name="connsiteY44" fmla="*/ 6698894 h 6858000"/>
              <a:gd name="connsiteX45" fmla="*/ 5543940 w 5549823"/>
              <a:gd name="connsiteY45" fmla="*/ 6817538 h 6858000"/>
              <a:gd name="connsiteX46" fmla="*/ 5549823 w 5549823"/>
              <a:gd name="connsiteY46" fmla="*/ 6858000 h 6858000"/>
              <a:gd name="connsiteX47" fmla="*/ 4644470 w 5549823"/>
              <a:gd name="connsiteY47" fmla="*/ 6858000 h 6858000"/>
              <a:gd name="connsiteX48" fmla="*/ 4644470 w 5549823"/>
              <a:gd name="connsiteY48" fmla="*/ 6858000 h 6858000"/>
              <a:gd name="connsiteX49" fmla="*/ 0 w 5549823"/>
              <a:gd name="connsiteY49" fmla="*/ 6858000 h 6858000"/>
              <a:gd name="connsiteX50" fmla="*/ 0 w 5549823"/>
              <a:gd name="connsiteY50" fmla="*/ 0 h 6858000"/>
              <a:gd name="connsiteX51" fmla="*/ 4205108 w 5549823"/>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549823" h="6858000">
                <a:moveTo>
                  <a:pt x="4205108" y="0"/>
                </a:moveTo>
                <a:lnTo>
                  <a:pt x="5548646" y="0"/>
                </a:lnTo>
                <a:lnTo>
                  <a:pt x="5523601" y="155676"/>
                </a:lnTo>
                <a:lnTo>
                  <a:pt x="5499732" y="310667"/>
                </a:lnTo>
                <a:lnTo>
                  <a:pt x="5476368" y="466344"/>
                </a:lnTo>
                <a:lnTo>
                  <a:pt x="5456365" y="622706"/>
                </a:lnTo>
                <a:lnTo>
                  <a:pt x="5436194" y="778383"/>
                </a:lnTo>
                <a:lnTo>
                  <a:pt x="5417368" y="934745"/>
                </a:lnTo>
                <a:lnTo>
                  <a:pt x="5401232" y="1089050"/>
                </a:lnTo>
                <a:lnTo>
                  <a:pt x="5385936" y="1245413"/>
                </a:lnTo>
                <a:lnTo>
                  <a:pt x="5371984" y="1401089"/>
                </a:lnTo>
                <a:lnTo>
                  <a:pt x="5359882" y="1554023"/>
                </a:lnTo>
                <a:lnTo>
                  <a:pt x="5347779" y="1709013"/>
                </a:lnTo>
                <a:lnTo>
                  <a:pt x="5337694" y="1861947"/>
                </a:lnTo>
                <a:lnTo>
                  <a:pt x="5329794" y="2014880"/>
                </a:lnTo>
                <a:lnTo>
                  <a:pt x="5321557" y="2167128"/>
                </a:lnTo>
                <a:lnTo>
                  <a:pt x="5314666" y="2318004"/>
                </a:lnTo>
                <a:lnTo>
                  <a:pt x="5309791" y="2467508"/>
                </a:lnTo>
                <a:lnTo>
                  <a:pt x="5305589" y="2617013"/>
                </a:lnTo>
                <a:lnTo>
                  <a:pt x="5301555" y="2765145"/>
                </a:lnTo>
                <a:lnTo>
                  <a:pt x="5299706" y="2911221"/>
                </a:lnTo>
                <a:lnTo>
                  <a:pt x="5297689" y="3057296"/>
                </a:lnTo>
                <a:lnTo>
                  <a:pt x="5296680" y="3201314"/>
                </a:lnTo>
                <a:lnTo>
                  <a:pt x="5297689" y="3343960"/>
                </a:lnTo>
                <a:lnTo>
                  <a:pt x="5297689" y="3485235"/>
                </a:lnTo>
                <a:lnTo>
                  <a:pt x="5299706" y="3625138"/>
                </a:lnTo>
                <a:lnTo>
                  <a:pt x="5302731" y="3762298"/>
                </a:lnTo>
                <a:lnTo>
                  <a:pt x="5305589" y="3898087"/>
                </a:lnTo>
                <a:lnTo>
                  <a:pt x="5308783" y="4031132"/>
                </a:lnTo>
                <a:lnTo>
                  <a:pt x="5313657" y="4163491"/>
                </a:lnTo>
                <a:lnTo>
                  <a:pt x="5318868" y="4293793"/>
                </a:lnTo>
                <a:lnTo>
                  <a:pt x="5323574" y="4421352"/>
                </a:lnTo>
                <a:lnTo>
                  <a:pt x="5336854" y="4670298"/>
                </a:lnTo>
                <a:lnTo>
                  <a:pt x="5350973" y="4908956"/>
                </a:lnTo>
                <a:lnTo>
                  <a:pt x="5365765" y="5138013"/>
                </a:lnTo>
                <a:lnTo>
                  <a:pt x="5382070" y="5354726"/>
                </a:lnTo>
                <a:lnTo>
                  <a:pt x="5399047" y="5561838"/>
                </a:lnTo>
                <a:lnTo>
                  <a:pt x="5417368" y="5753862"/>
                </a:lnTo>
                <a:lnTo>
                  <a:pt x="5435354" y="5934227"/>
                </a:lnTo>
                <a:lnTo>
                  <a:pt x="5453339" y="6100191"/>
                </a:lnTo>
                <a:lnTo>
                  <a:pt x="5470316" y="6252438"/>
                </a:lnTo>
                <a:lnTo>
                  <a:pt x="5486453" y="6387541"/>
                </a:lnTo>
                <a:lnTo>
                  <a:pt x="5501749" y="6509613"/>
                </a:lnTo>
                <a:lnTo>
                  <a:pt x="5514524" y="6612483"/>
                </a:lnTo>
                <a:lnTo>
                  <a:pt x="5526626" y="6698894"/>
                </a:lnTo>
                <a:lnTo>
                  <a:pt x="5543940" y="6817538"/>
                </a:lnTo>
                <a:lnTo>
                  <a:pt x="5549823" y="6858000"/>
                </a:lnTo>
                <a:lnTo>
                  <a:pt x="4644470" y="6858000"/>
                </a:lnTo>
                <a:lnTo>
                  <a:pt x="4644470" y="6858000"/>
                </a:lnTo>
                <a:lnTo>
                  <a:pt x="0" y="6858000"/>
                </a:lnTo>
                <a:lnTo>
                  <a:pt x="0" y="0"/>
                </a:lnTo>
                <a:lnTo>
                  <a:pt x="4205108"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Rectangle 28">
            <a:extLst>
              <a:ext uri="{FF2B5EF4-FFF2-40B4-BE49-F238E27FC236}">
                <a16:creationId xmlns:a16="http://schemas.microsoft.com/office/drawing/2014/main" id="{9C593AE5-6810-7D5A-5DAF-14B71D11D1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BFF7ADF5-E087-F770-AD96-46DEAF2C86F3}"/>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F726F5A5-9172-A445-B9BD-F8F0698F3076}" type="slidenum">
              <a:rPr lang="en-US">
                <a:solidFill>
                  <a:srgbClr val="FFFFFF"/>
                </a:solidFill>
              </a:rPr>
              <a:pPr defTabSz="914400">
                <a:spcAft>
                  <a:spcPts val="600"/>
                </a:spcAft>
              </a:pPr>
              <a:t>27</a:t>
            </a:fld>
            <a:endParaRPr lang="en-US">
              <a:solidFill>
                <a:srgbClr val="FFFFFF"/>
              </a:solidFill>
            </a:endParaRPr>
          </a:p>
        </p:txBody>
      </p:sp>
      <p:sp>
        <p:nvSpPr>
          <p:cNvPr id="5" name="TextBox 4">
            <a:extLst>
              <a:ext uri="{FF2B5EF4-FFF2-40B4-BE49-F238E27FC236}">
                <a16:creationId xmlns:a16="http://schemas.microsoft.com/office/drawing/2014/main" id="{45CD7C94-CDBE-8359-79D5-DD9C2DA2F781}"/>
              </a:ext>
            </a:extLst>
          </p:cNvPr>
          <p:cNvSpPr txBox="1"/>
          <p:nvPr/>
        </p:nvSpPr>
        <p:spPr>
          <a:xfrm>
            <a:off x="126999" y="1143000"/>
            <a:ext cx="4422912"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ea typeface="+mn-lt"/>
                <a:cs typeface="+mn-lt"/>
              </a:rPr>
              <a:t>Self-Diagnostics:</a:t>
            </a:r>
            <a:r>
              <a:rPr lang="en-US">
                <a:ea typeface="+mn-lt"/>
                <a:cs typeface="+mn-lt"/>
              </a:rPr>
              <a:t> Drones equipped with AI can assess their operational status.</a:t>
            </a:r>
          </a:p>
          <a:p>
            <a:pPr marL="285750" indent="-285750">
              <a:buFont typeface="Arial"/>
              <a:buChar char="•"/>
            </a:pPr>
            <a:endParaRPr lang="en-US">
              <a:ea typeface="+mn-lt"/>
              <a:cs typeface="+mn-lt"/>
            </a:endParaRPr>
          </a:p>
          <a:p>
            <a:pPr marL="285750" indent="-285750">
              <a:buFont typeface="Arial"/>
              <a:buChar char="•"/>
            </a:pPr>
            <a:r>
              <a:rPr lang="en-US" b="1">
                <a:ea typeface="+mn-lt"/>
                <a:cs typeface="+mn-lt"/>
              </a:rPr>
              <a:t>Predictive Maintenance:</a:t>
            </a:r>
            <a:r>
              <a:rPr lang="en-US">
                <a:ea typeface="+mn-lt"/>
                <a:cs typeface="+mn-lt"/>
              </a:rPr>
              <a:t> Anticipating maintenance needs prevents unexpected breakdowns.</a:t>
            </a:r>
          </a:p>
          <a:p>
            <a:pPr marL="285750" indent="-285750">
              <a:buFont typeface="Arial"/>
              <a:buChar char="•"/>
            </a:pPr>
            <a:endParaRPr lang="en-US">
              <a:ea typeface="+mn-lt"/>
              <a:cs typeface="+mn-lt"/>
            </a:endParaRPr>
          </a:p>
          <a:p>
            <a:pPr marL="285750" indent="-285750">
              <a:buFont typeface="Arial"/>
              <a:buChar char="•"/>
            </a:pPr>
            <a:endParaRPr lang="en-US">
              <a:ea typeface="+mn-lt"/>
              <a:cs typeface="+mn-lt"/>
            </a:endParaRPr>
          </a:p>
          <a:p>
            <a:pPr marL="285750" indent="-285750">
              <a:buFont typeface="Arial"/>
              <a:buChar char="•"/>
            </a:pPr>
            <a:r>
              <a:rPr lang="en-US" b="1">
                <a:ea typeface="+mn-lt"/>
                <a:cs typeface="+mn-lt"/>
              </a:rPr>
              <a:t>Operational Efficiency:</a:t>
            </a:r>
            <a:r>
              <a:rPr lang="en-US">
                <a:ea typeface="+mn-lt"/>
                <a:cs typeface="+mn-lt"/>
              </a:rPr>
              <a:t> Automated maintenance processes reduce downtime and manual inspection requirements.</a:t>
            </a:r>
            <a:endParaRPr lang="en-US"/>
          </a:p>
          <a:p>
            <a:pPr algn="l"/>
            <a:endParaRPr lang="en-US"/>
          </a:p>
        </p:txBody>
      </p:sp>
      <p:pic>
        <p:nvPicPr>
          <p:cNvPr id="6" name="Picture 5">
            <a:extLst>
              <a:ext uri="{FF2B5EF4-FFF2-40B4-BE49-F238E27FC236}">
                <a16:creationId xmlns:a16="http://schemas.microsoft.com/office/drawing/2014/main" id="{77BE06E6-2D68-4155-F313-D59405082A24}"/>
              </a:ext>
            </a:extLst>
          </p:cNvPr>
          <p:cNvPicPr>
            <a:picLocks noChangeAspect="1"/>
          </p:cNvPicPr>
          <p:nvPr/>
        </p:nvPicPr>
        <p:blipFill>
          <a:blip r:embed="rId6"/>
          <a:srcRect l="8546" t="15649" r="16255" b="1241"/>
          <a:stretch/>
        </p:blipFill>
        <p:spPr>
          <a:xfrm>
            <a:off x="6180300" y="2190689"/>
            <a:ext cx="5500942" cy="3419824"/>
          </a:xfrm>
          <a:prstGeom prst="rect">
            <a:avLst/>
          </a:prstGeom>
        </p:spPr>
      </p:pic>
    </p:spTree>
    <p:extLst>
      <p:ext uri="{BB962C8B-B14F-4D97-AF65-F5344CB8AC3E}">
        <p14:creationId xmlns:p14="http://schemas.microsoft.com/office/powerpoint/2010/main" val="3412654092"/>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2" name="Picture 3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3" name="Oval 3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4" name="Picture 33">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5" name="Picture 34">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6" name="Rectangle 35">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56D54AC-08A1-DD8C-E534-5672B5EE58CC}"/>
              </a:ext>
            </a:extLst>
          </p:cNvPr>
          <p:cNvSpPr>
            <a:spLocks noGrp="1"/>
          </p:cNvSpPr>
          <p:nvPr>
            <p:ph type="title"/>
          </p:nvPr>
        </p:nvSpPr>
        <p:spPr>
          <a:xfrm>
            <a:off x="4474737" y="-2775"/>
            <a:ext cx="5655998" cy="1806927"/>
          </a:xfrm>
        </p:spPr>
        <p:txBody>
          <a:bodyPr vert="horz" lIns="91440" tIns="45720" rIns="91440" bIns="45720" rtlCol="0" anchor="b">
            <a:normAutofit/>
          </a:bodyPr>
          <a:lstStyle/>
          <a:p>
            <a:pPr>
              <a:lnSpc>
                <a:spcPct val="90000"/>
              </a:lnSpc>
            </a:pPr>
            <a:r>
              <a:rPr lang="en-US" sz="5400"/>
              <a:t>Cybersecurity &amp; Data Protection</a:t>
            </a:r>
          </a:p>
        </p:txBody>
      </p:sp>
      <p:sp>
        <p:nvSpPr>
          <p:cNvPr id="3" name="Content Placeholder 2">
            <a:extLst>
              <a:ext uri="{FF2B5EF4-FFF2-40B4-BE49-F238E27FC236}">
                <a16:creationId xmlns:a16="http://schemas.microsoft.com/office/drawing/2014/main" id="{1361E298-95E2-002F-F1F0-AB75BEB8576D}"/>
              </a:ext>
            </a:extLst>
          </p:cNvPr>
          <p:cNvSpPr>
            <a:spLocks noGrp="1"/>
          </p:cNvSpPr>
          <p:nvPr>
            <p:ph idx="1"/>
          </p:nvPr>
        </p:nvSpPr>
        <p:spPr>
          <a:xfrm>
            <a:off x="4579650" y="5011888"/>
            <a:ext cx="6837650" cy="1464378"/>
          </a:xfrm>
        </p:spPr>
        <p:txBody>
          <a:bodyPr vert="horz" lIns="91440" tIns="45720" rIns="91440" bIns="45720" rtlCol="0" anchor="t">
            <a:normAutofit/>
          </a:bodyPr>
          <a:lstStyle/>
          <a:p>
            <a:pPr marL="0" indent="0">
              <a:buNone/>
            </a:pPr>
            <a:r>
              <a:rPr lang="en-US" cap="all">
                <a:solidFill>
                  <a:schemeClr val="bg2">
                    <a:lumMod val="40000"/>
                    <a:lumOff val="60000"/>
                  </a:schemeClr>
                </a:solidFill>
              </a:rPr>
              <a:t>Our encrypted system ensures data security, preventing unauthorized access.</a:t>
            </a:r>
          </a:p>
        </p:txBody>
      </p:sp>
      <p:pic>
        <p:nvPicPr>
          <p:cNvPr id="37" name="Picture 36">
            <a:extLst>
              <a:ext uri="{FF2B5EF4-FFF2-40B4-BE49-F238E27FC236}">
                <a16:creationId xmlns:a16="http://schemas.microsoft.com/office/drawing/2014/main" id="{E94825B4-F40A-6E74-D0AE-9975246A8BB1}"/>
              </a:ext>
            </a:extLst>
          </p:cNvPr>
          <p:cNvPicPr>
            <a:picLocks noChangeAspect="1"/>
          </p:cNvPicPr>
          <p:nvPr/>
        </p:nvPicPr>
        <p:blipFill>
          <a:blip r:embed="rId7"/>
          <a:srcRect l="15023" t="41" r="50621" b="-42"/>
          <a:stretch/>
        </p:blipFill>
        <p:spPr>
          <a:xfrm>
            <a:off x="-7356" y="10"/>
            <a:ext cx="4502118" cy="6857997"/>
          </a:xfrm>
          <a:prstGeom prst="rect">
            <a:avLst/>
          </a:prstGeom>
        </p:spPr>
      </p:pic>
      <p:sp>
        <p:nvSpPr>
          <p:cNvPr id="4" name="Slide Number Placeholder 3">
            <a:extLst>
              <a:ext uri="{FF2B5EF4-FFF2-40B4-BE49-F238E27FC236}">
                <a16:creationId xmlns:a16="http://schemas.microsoft.com/office/drawing/2014/main" id="{28089892-8F1F-3257-6333-876E5E8781B6}"/>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F726F5A5-9172-A445-B9BD-F8F0698F3076}" type="slidenum">
              <a:rPr lang="en-US" smtClean="0"/>
              <a:pPr defTabSz="914400">
                <a:spcAft>
                  <a:spcPts val="600"/>
                </a:spcAft>
              </a:pPr>
              <a:t>28</a:t>
            </a:fld>
            <a:endParaRPr lang="en-US"/>
          </a:p>
        </p:txBody>
      </p:sp>
      <p:graphicFrame>
        <p:nvGraphicFramePr>
          <p:cNvPr id="39" name="TextBox 4">
            <a:extLst>
              <a:ext uri="{FF2B5EF4-FFF2-40B4-BE49-F238E27FC236}">
                <a16:creationId xmlns:a16="http://schemas.microsoft.com/office/drawing/2014/main" id="{0465B09E-CEA1-87A1-E80F-B3BC9E2BE7F6}"/>
              </a:ext>
            </a:extLst>
          </p:cNvPr>
          <p:cNvGraphicFramePr/>
          <p:nvPr/>
        </p:nvGraphicFramePr>
        <p:xfrm>
          <a:off x="4713357" y="2460487"/>
          <a:ext cx="7050155" cy="26161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5603892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8C8BD-0A6C-CD3A-8680-CAC8599FCCB3}"/>
              </a:ext>
            </a:extLst>
          </p:cNvPr>
          <p:cNvSpPr>
            <a:spLocks noGrp="1"/>
          </p:cNvSpPr>
          <p:nvPr>
            <p:ph type="title"/>
          </p:nvPr>
        </p:nvSpPr>
        <p:spPr>
          <a:xfrm>
            <a:off x="5282381" y="629266"/>
            <a:ext cx="4767471" cy="1641986"/>
          </a:xfrm>
        </p:spPr>
        <p:txBody>
          <a:bodyPr>
            <a:normAutofit/>
          </a:bodyPr>
          <a:lstStyle/>
          <a:p>
            <a:r>
              <a:rPr lang="en-US" b="1">
                <a:ea typeface="+mj-lt"/>
                <a:cs typeface="+mj-lt"/>
              </a:rPr>
              <a:t>Future System Expansion</a:t>
            </a:r>
            <a:endParaRPr lang="en-US">
              <a:ea typeface="+mj-lt"/>
              <a:cs typeface="+mj-lt"/>
            </a:endParaRPr>
          </a:p>
        </p:txBody>
      </p:sp>
      <p:pic>
        <p:nvPicPr>
          <p:cNvPr id="6" name="Picture 5" descr="Blue blocks and networks technology background">
            <a:extLst>
              <a:ext uri="{FF2B5EF4-FFF2-40B4-BE49-F238E27FC236}">
                <a16:creationId xmlns:a16="http://schemas.microsoft.com/office/drawing/2014/main" id="{A1F51E6A-D6DE-49F0-EFA7-8611B88531B6}"/>
              </a:ext>
            </a:extLst>
          </p:cNvPr>
          <p:cNvPicPr>
            <a:picLocks noChangeAspect="1"/>
          </p:cNvPicPr>
          <p:nvPr/>
        </p:nvPicPr>
        <p:blipFill>
          <a:blip r:embed="rId3"/>
          <a:srcRect l="14896" r="47089" b="-438"/>
          <a:stretch/>
        </p:blipFill>
        <p:spPr>
          <a:xfrm>
            <a:off x="-1" y="10"/>
            <a:ext cx="4634680" cy="6857990"/>
          </a:xfrm>
          <a:prstGeom prst="rect">
            <a:avLst/>
          </a:prstGeom>
        </p:spPr>
      </p:pic>
      <p:sp>
        <p:nvSpPr>
          <p:cNvPr id="4" name="Slide Number Placeholder 3">
            <a:extLst>
              <a:ext uri="{FF2B5EF4-FFF2-40B4-BE49-F238E27FC236}">
                <a16:creationId xmlns:a16="http://schemas.microsoft.com/office/drawing/2014/main" id="{A25DE5FD-D5C5-B075-2838-EC352C573E03}"/>
              </a:ext>
            </a:extLst>
          </p:cNvPr>
          <p:cNvSpPr>
            <a:spLocks noGrp="1"/>
          </p:cNvSpPr>
          <p:nvPr>
            <p:ph type="sldNum" sz="quarter" idx="12"/>
          </p:nvPr>
        </p:nvSpPr>
        <p:spPr>
          <a:xfrm>
            <a:off x="10352540" y="295729"/>
            <a:ext cx="838199" cy="767687"/>
          </a:xfrm>
        </p:spPr>
        <p:txBody>
          <a:bodyPr>
            <a:normAutofit/>
          </a:bodyPr>
          <a:lstStyle/>
          <a:p>
            <a:pPr>
              <a:spcAft>
                <a:spcPts val="600"/>
              </a:spcAft>
            </a:pPr>
            <a:fld id="{F726F5A5-9172-A445-B9BD-F8F0698F3076}" type="slidenum">
              <a:rPr lang="en-US" smtClean="0"/>
              <a:pPr>
                <a:spcAft>
                  <a:spcPts val="600"/>
                </a:spcAft>
              </a:pPr>
              <a:t>29</a:t>
            </a:fld>
            <a:endParaRPr lang="en-US"/>
          </a:p>
        </p:txBody>
      </p:sp>
      <p:graphicFrame>
        <p:nvGraphicFramePr>
          <p:cNvPr id="17" name="Content Placeholder 2">
            <a:extLst>
              <a:ext uri="{FF2B5EF4-FFF2-40B4-BE49-F238E27FC236}">
                <a16:creationId xmlns:a16="http://schemas.microsoft.com/office/drawing/2014/main" id="{C456F633-7CAF-6433-3F2D-9D6953692D10}"/>
              </a:ext>
            </a:extLst>
          </p:cNvPr>
          <p:cNvGraphicFramePr>
            <a:graphicFrameLocks noGrp="1"/>
          </p:cNvGraphicFramePr>
          <p:nvPr>
            <p:ph idx="1"/>
            <p:extLst>
              <p:ext uri="{D42A27DB-BD31-4B8C-83A1-F6EECF244321}">
                <p14:modId xmlns:p14="http://schemas.microsoft.com/office/powerpoint/2010/main" val="108629539"/>
              </p:ext>
            </p:extLst>
          </p:nvPr>
        </p:nvGraphicFramePr>
        <p:xfrm>
          <a:off x="5282381" y="2438400"/>
          <a:ext cx="5927036" cy="38099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588466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2" name="Rectangle 21">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824735A5-8957-2F21-1819-728A6B39AAE6}"/>
              </a:ext>
            </a:extLst>
          </p:cNvPr>
          <p:cNvSpPr>
            <a:spLocks noGrp="1"/>
          </p:cNvSpPr>
          <p:nvPr>
            <p:ph type="sldNum" sz="quarter" idx="12"/>
          </p:nvPr>
        </p:nvSpPr>
        <p:spPr>
          <a:xfrm>
            <a:off x="10352540" y="295729"/>
            <a:ext cx="838199" cy="767687"/>
          </a:xfrm>
        </p:spPr>
        <p:txBody>
          <a:bodyPr>
            <a:normAutofit/>
          </a:bodyPr>
          <a:lstStyle/>
          <a:p>
            <a:pPr>
              <a:spcAft>
                <a:spcPts val="600"/>
              </a:spcAft>
            </a:pPr>
            <a:fld id="{F726F5A5-9172-A445-B9BD-F8F0698F3076}" type="slidenum">
              <a:rPr lang="en-US">
                <a:solidFill>
                  <a:srgbClr val="FFFFFF"/>
                </a:solidFill>
              </a:rPr>
              <a:pPr>
                <a:spcAft>
                  <a:spcPts val="600"/>
                </a:spcAft>
              </a:pPr>
              <a:t>30</a:t>
            </a:fld>
            <a:endParaRPr lang="en-US">
              <a:solidFill>
                <a:srgbClr val="FFFFFF"/>
              </a:solidFill>
            </a:endParaRPr>
          </a:p>
        </p:txBody>
      </p:sp>
      <p:sp>
        <p:nvSpPr>
          <p:cNvPr id="24"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6" name="Freeform: Shape 25">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DF83C448-0681-8474-3715-010B4F287486}"/>
              </a:ext>
            </a:extLst>
          </p:cNvPr>
          <p:cNvSpPr>
            <a:spLocks noGrp="1"/>
          </p:cNvSpPr>
          <p:nvPr>
            <p:ph type="title"/>
          </p:nvPr>
        </p:nvSpPr>
        <p:spPr>
          <a:xfrm>
            <a:off x="1103312" y="452718"/>
            <a:ext cx="8947522" cy="1400530"/>
          </a:xfrm>
        </p:spPr>
        <p:txBody>
          <a:bodyPr anchor="ctr">
            <a:normAutofit/>
          </a:bodyPr>
          <a:lstStyle/>
          <a:p>
            <a:r>
              <a:rPr lang="en-US" b="1">
                <a:solidFill>
                  <a:srgbClr val="FFFFFF"/>
                </a:solidFill>
                <a:ea typeface="+mj-lt"/>
                <a:cs typeface="+mj-lt"/>
              </a:rPr>
              <a:t>Summary &amp; Call to Action</a:t>
            </a:r>
            <a:endParaRPr lang="en-US">
              <a:solidFill>
                <a:srgbClr val="FFFFFF"/>
              </a:solidFill>
              <a:ea typeface="+mj-lt"/>
              <a:cs typeface="+mj-lt"/>
            </a:endParaRPr>
          </a:p>
        </p:txBody>
      </p:sp>
      <p:sp>
        <p:nvSpPr>
          <p:cNvPr id="29" name="Content Placeholder 2">
            <a:extLst>
              <a:ext uri="{FF2B5EF4-FFF2-40B4-BE49-F238E27FC236}">
                <a16:creationId xmlns:a16="http://schemas.microsoft.com/office/drawing/2014/main" id="{5DE3273E-3B6C-CB8B-0181-48DCAE42E1E2}"/>
              </a:ext>
            </a:extLst>
          </p:cNvPr>
          <p:cNvSpPr>
            <a:spLocks noGrp="1"/>
          </p:cNvSpPr>
          <p:nvPr>
            <p:ph idx="1"/>
          </p:nvPr>
        </p:nvSpPr>
        <p:spPr>
          <a:xfrm>
            <a:off x="1103312" y="2763520"/>
            <a:ext cx="8946541" cy="3484879"/>
          </a:xfrm>
        </p:spPr>
        <p:txBody>
          <a:bodyPr vert="horz" lIns="91440" tIns="45720" rIns="91440" bIns="45720" rtlCol="0">
            <a:normAutofit/>
          </a:bodyPr>
          <a:lstStyle/>
          <a:p>
            <a:r>
              <a:rPr lang="en-US" b="1" i="1" err="1">
                <a:ea typeface="+mj-lt"/>
                <a:cs typeface="+mj-lt"/>
              </a:rPr>
              <a:t>ExtinguishAI</a:t>
            </a:r>
            <a:r>
              <a:rPr lang="en-US" b="1" i="1">
                <a:ea typeface="+mj-lt"/>
                <a:cs typeface="+mj-lt"/>
              </a:rPr>
              <a:t> is more than just a fire detection system; it’s a complete AI-powered prevention and suppression solution. </a:t>
            </a:r>
            <a:endParaRPr lang="en-US" b="1">
              <a:ea typeface="+mj-lt"/>
              <a:cs typeface="+mj-lt"/>
            </a:endParaRPr>
          </a:p>
          <a:p>
            <a:pPr>
              <a:buClr>
                <a:srgbClr val="F7F7F7"/>
              </a:buClr>
            </a:pPr>
            <a:endParaRPr lang="en-US" i="1">
              <a:ea typeface="+mj-lt"/>
              <a:cs typeface="+mj-lt"/>
            </a:endParaRPr>
          </a:p>
          <a:p>
            <a:pPr>
              <a:buClr>
                <a:srgbClr val="F7F7F7"/>
              </a:buClr>
            </a:pPr>
            <a:endParaRPr lang="en-US" i="1">
              <a:ea typeface="+mj-lt"/>
              <a:cs typeface="+mj-lt"/>
            </a:endParaRPr>
          </a:p>
          <a:p>
            <a:pPr>
              <a:buClr>
                <a:srgbClr val="F7F7F7"/>
              </a:buClr>
            </a:pPr>
            <a:r>
              <a:rPr lang="en-US" b="1" i="1">
                <a:ea typeface="+mj-lt"/>
                <a:cs typeface="+mj-lt"/>
              </a:rPr>
              <a:t>Our technology-driven approach ensures early intervention, rapid response, and sustainable operations, setting a new standard for wildfire prevention.</a:t>
            </a:r>
            <a:endParaRPr lang="en-US" b="1">
              <a:ea typeface="+mj-lt"/>
              <a:cs typeface="+mj-lt"/>
            </a:endParaRPr>
          </a:p>
        </p:txBody>
      </p:sp>
    </p:spTree>
    <p:extLst>
      <p:ext uri="{BB962C8B-B14F-4D97-AF65-F5344CB8AC3E}">
        <p14:creationId xmlns:p14="http://schemas.microsoft.com/office/powerpoint/2010/main" val="1878537792"/>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Rectangle 10">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02F410CF-6E4C-D72C-057B-EF8FDF616642}"/>
              </a:ext>
            </a:extLst>
          </p:cNvPr>
          <p:cNvSpPr>
            <a:spLocks noGrp="1"/>
          </p:cNvSpPr>
          <p:nvPr>
            <p:ph type="sldNum" sz="quarter" idx="12"/>
          </p:nvPr>
        </p:nvSpPr>
        <p:spPr>
          <a:xfrm>
            <a:off x="10352540" y="295729"/>
            <a:ext cx="838199" cy="767687"/>
          </a:xfrm>
        </p:spPr>
        <p:txBody>
          <a:bodyPr>
            <a:normAutofit/>
          </a:bodyPr>
          <a:lstStyle/>
          <a:p>
            <a:pPr>
              <a:spcAft>
                <a:spcPts val="600"/>
              </a:spcAft>
            </a:pPr>
            <a:fld id="{F726F5A5-9172-A445-B9BD-F8F0698F3076}" type="slidenum">
              <a:rPr lang="en-US">
                <a:solidFill>
                  <a:srgbClr val="FFFFFF"/>
                </a:solidFill>
              </a:rPr>
              <a:pPr>
                <a:spcAft>
                  <a:spcPts val="600"/>
                </a:spcAft>
              </a:pPr>
              <a:t>31</a:t>
            </a:fld>
            <a:endParaRPr lang="en-US">
              <a:solidFill>
                <a:srgbClr val="FFFFFF"/>
              </a:solidFill>
            </a:endParaRPr>
          </a:p>
        </p:txBody>
      </p:sp>
      <p:sp>
        <p:nvSpPr>
          <p:cNvPr id="13"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5" name="Freeform: Shape 14">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D5E83635-2EC2-2CBF-B601-A5C5B6747A7F}"/>
              </a:ext>
            </a:extLst>
          </p:cNvPr>
          <p:cNvSpPr>
            <a:spLocks noGrp="1"/>
          </p:cNvSpPr>
          <p:nvPr>
            <p:ph type="title"/>
          </p:nvPr>
        </p:nvSpPr>
        <p:spPr>
          <a:xfrm>
            <a:off x="1103312" y="452718"/>
            <a:ext cx="8947522" cy="1400530"/>
          </a:xfrm>
        </p:spPr>
        <p:txBody>
          <a:bodyPr anchor="ctr">
            <a:normAutofit/>
          </a:bodyPr>
          <a:lstStyle/>
          <a:p>
            <a:pPr algn="ctr"/>
            <a:r>
              <a:rPr lang="en-US">
                <a:solidFill>
                  <a:srgbClr val="FFFFFF"/>
                </a:solidFill>
                <a:ea typeface="+mj-lt"/>
                <a:cs typeface="+mj-lt"/>
              </a:rPr>
              <a:t>Thank You!</a:t>
            </a:r>
            <a:endParaRPr lang="en-US"/>
          </a:p>
        </p:txBody>
      </p:sp>
      <p:sp>
        <p:nvSpPr>
          <p:cNvPr id="3" name="Content Placeholder 2">
            <a:extLst>
              <a:ext uri="{FF2B5EF4-FFF2-40B4-BE49-F238E27FC236}">
                <a16:creationId xmlns:a16="http://schemas.microsoft.com/office/drawing/2014/main" id="{B2AE97C3-6B0C-6856-84F7-CD8E4C08A2AA}"/>
              </a:ext>
            </a:extLst>
          </p:cNvPr>
          <p:cNvSpPr>
            <a:spLocks noGrp="1"/>
          </p:cNvSpPr>
          <p:nvPr>
            <p:ph idx="1"/>
          </p:nvPr>
        </p:nvSpPr>
        <p:spPr>
          <a:xfrm>
            <a:off x="1103312" y="2763520"/>
            <a:ext cx="8946541" cy="3484879"/>
          </a:xfrm>
        </p:spPr>
        <p:txBody>
          <a:bodyPr vert="horz" lIns="91440" tIns="45720" rIns="91440" bIns="45720" rtlCol="0" anchor="t">
            <a:normAutofit/>
          </a:bodyPr>
          <a:lstStyle/>
          <a:p>
            <a:pPr algn="ctr">
              <a:buNone/>
            </a:pPr>
            <a:r>
              <a:rPr lang="en-US">
                <a:ea typeface="+mj-lt"/>
                <a:cs typeface="+mj-lt"/>
              </a:rPr>
              <a:t>We appreciate your time and interest in </a:t>
            </a:r>
            <a:r>
              <a:rPr lang="en-US" err="1">
                <a:ea typeface="+mj-lt"/>
                <a:cs typeface="+mj-lt"/>
              </a:rPr>
              <a:t>ExtinguishAI</a:t>
            </a:r>
            <a:r>
              <a:rPr lang="en-US">
                <a:ea typeface="+mj-lt"/>
                <a:cs typeface="+mj-lt"/>
              </a:rPr>
              <a:t>.</a:t>
            </a:r>
            <a:endParaRPr lang="en-US" err="1"/>
          </a:p>
          <a:p>
            <a:pPr algn="ctr">
              <a:buNone/>
            </a:pPr>
            <a:r>
              <a:rPr lang="en-US">
                <a:ea typeface="+mj-lt"/>
                <a:cs typeface="+mj-lt"/>
              </a:rPr>
              <a:t>Together, we can make a difference in wildfire prevention.</a:t>
            </a:r>
            <a:endParaRPr lang="en-US"/>
          </a:p>
          <a:p>
            <a:pPr algn="ctr">
              <a:buNone/>
            </a:pPr>
            <a:r>
              <a:rPr lang="en-US">
                <a:ea typeface="+mj-lt"/>
                <a:cs typeface="+mj-lt"/>
              </a:rPr>
              <a:t>Innovating for a safer and more sustainable future!</a:t>
            </a:r>
          </a:p>
          <a:p>
            <a:pPr>
              <a:buNone/>
            </a:pPr>
            <a:endParaRPr lang="en-US"/>
          </a:p>
          <a:p>
            <a:pPr algn="ctr">
              <a:buNone/>
            </a:pPr>
            <a:r>
              <a:rPr lang="en-US">
                <a:ea typeface="+mj-lt"/>
                <a:cs typeface="+mj-lt"/>
              </a:rPr>
              <a:t>Questions?</a:t>
            </a:r>
          </a:p>
          <a:p>
            <a:pPr algn="ctr">
              <a:buNone/>
            </a:pPr>
            <a:r>
              <a:rPr lang="en-US">
                <a:ea typeface="+mj-lt"/>
                <a:cs typeface="+mj-lt"/>
              </a:rPr>
              <a:t>We’d love to hear your thoughts!</a:t>
            </a:r>
            <a:endParaRPr lang="en-US"/>
          </a:p>
        </p:txBody>
      </p:sp>
    </p:spTree>
    <p:extLst>
      <p:ext uri="{BB962C8B-B14F-4D97-AF65-F5344CB8AC3E}">
        <p14:creationId xmlns:p14="http://schemas.microsoft.com/office/powerpoint/2010/main" val="3534760463"/>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32"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DE2EFF8D-A2D4-B18C-8690-C6DF10689022}"/>
              </a:ext>
            </a:extLst>
          </p:cNvPr>
          <p:cNvSpPr>
            <a:spLocks noGrp="1"/>
          </p:cNvSpPr>
          <p:nvPr>
            <p:ph type="title"/>
          </p:nvPr>
        </p:nvSpPr>
        <p:spPr>
          <a:xfrm>
            <a:off x="806195" y="804672"/>
            <a:ext cx="3521359" cy="5248656"/>
          </a:xfrm>
        </p:spPr>
        <p:txBody>
          <a:bodyPr anchor="ctr">
            <a:normAutofit/>
          </a:bodyPr>
          <a:lstStyle/>
          <a:p>
            <a:pPr algn="ctr"/>
            <a:r>
              <a:rPr lang="en-US">
                <a:ea typeface="+mj-lt"/>
                <a:cs typeface="+mj-lt"/>
              </a:rPr>
              <a:t>Q&amp;A Discussion</a:t>
            </a:r>
          </a:p>
        </p:txBody>
      </p:sp>
      <p:sp>
        <p:nvSpPr>
          <p:cNvPr id="3" name="Content Placeholder 2">
            <a:extLst>
              <a:ext uri="{FF2B5EF4-FFF2-40B4-BE49-F238E27FC236}">
                <a16:creationId xmlns:a16="http://schemas.microsoft.com/office/drawing/2014/main" id="{BE9A9B02-90AC-1A21-6A86-77E6CE36E9A2}"/>
              </a:ext>
            </a:extLst>
          </p:cNvPr>
          <p:cNvSpPr>
            <a:spLocks noGrp="1"/>
          </p:cNvSpPr>
          <p:nvPr>
            <p:ph idx="1"/>
          </p:nvPr>
        </p:nvSpPr>
        <p:spPr>
          <a:xfrm>
            <a:off x="4975861" y="804671"/>
            <a:ext cx="6399930" cy="5248657"/>
          </a:xfrm>
        </p:spPr>
        <p:txBody>
          <a:bodyPr vert="horz" lIns="91440" tIns="45720" rIns="91440" bIns="45720" rtlCol="0" anchor="ctr">
            <a:normAutofit/>
          </a:bodyPr>
          <a:lstStyle/>
          <a:p>
            <a:pPr>
              <a:buFont typeface="Arial" charset="2"/>
              <a:buChar char="•"/>
            </a:pPr>
            <a:r>
              <a:rPr lang="en-US" dirty="0">
                <a:hlinkClick r:id="rId4" action="ppaction://hlinksldjump"/>
              </a:rPr>
              <a:t>Cost Analysis</a:t>
            </a:r>
            <a:endParaRPr lang="en-US" dirty="0"/>
          </a:p>
          <a:p>
            <a:pPr>
              <a:buClr>
                <a:srgbClr val="8AD0D6"/>
              </a:buClr>
              <a:buFont typeface="Arial" charset="2"/>
              <a:buChar char="•"/>
            </a:pPr>
            <a:r>
              <a:rPr lang="en-US" dirty="0">
                <a:hlinkClick r:id="rId5" action="ppaction://hlinksldjump"/>
              </a:rPr>
              <a:t>LA Fire Damage Cost</a:t>
            </a:r>
          </a:p>
          <a:p>
            <a:pPr>
              <a:buClr>
                <a:srgbClr val="8AD0D6"/>
              </a:buClr>
              <a:buFont typeface="Arial" charset="2"/>
              <a:buChar char="•"/>
            </a:pPr>
            <a:r>
              <a:rPr lang="en-US" dirty="0">
                <a:hlinkClick r:id="rId6" action="ppaction://hlinksldjump"/>
              </a:rPr>
              <a:t>Existing Technology vs our Technology</a:t>
            </a:r>
          </a:p>
          <a:p>
            <a:pPr>
              <a:buClr>
                <a:srgbClr val="8AD0D6"/>
              </a:buClr>
              <a:buFont typeface="Arial" charset="2"/>
              <a:buChar char="•"/>
            </a:pPr>
            <a:r>
              <a:rPr lang="en-US" dirty="0">
                <a:hlinkClick r:id="rId7" action="ppaction://hlinksldjump"/>
              </a:rPr>
              <a:t>Fire Detection Process</a:t>
            </a:r>
          </a:p>
          <a:p>
            <a:pPr>
              <a:buClr>
                <a:srgbClr val="8AD0D6"/>
              </a:buClr>
              <a:buFont typeface="Arial" charset="2"/>
              <a:buChar char="•"/>
            </a:pPr>
            <a:endParaRPr lang="en-US"/>
          </a:p>
          <a:p>
            <a:pPr>
              <a:buClr>
                <a:srgbClr val="8AD0D6"/>
              </a:buClr>
              <a:buFont typeface="Arial" charset="2"/>
              <a:buChar char="•"/>
            </a:pPr>
            <a:endParaRPr lang="en-US"/>
          </a:p>
        </p:txBody>
      </p:sp>
      <p:sp>
        <p:nvSpPr>
          <p:cNvPr id="4" name="Slide Number Placeholder 3">
            <a:extLst>
              <a:ext uri="{FF2B5EF4-FFF2-40B4-BE49-F238E27FC236}">
                <a16:creationId xmlns:a16="http://schemas.microsoft.com/office/drawing/2014/main" id="{38319188-F72B-C84F-3F6D-5DB97AF8C849}"/>
              </a:ext>
            </a:extLst>
          </p:cNvPr>
          <p:cNvSpPr>
            <a:spLocks noGrp="1"/>
          </p:cNvSpPr>
          <p:nvPr>
            <p:ph type="sldNum" sz="quarter" idx="12"/>
          </p:nvPr>
        </p:nvSpPr>
        <p:spPr>
          <a:xfrm>
            <a:off x="11082612" y="6400005"/>
            <a:ext cx="633127" cy="301752"/>
          </a:xfrm>
        </p:spPr>
        <p:txBody>
          <a:bodyPr anchor="ctr">
            <a:normAutofit/>
          </a:bodyPr>
          <a:lstStyle/>
          <a:p>
            <a:pPr algn="r">
              <a:spcAft>
                <a:spcPts val="600"/>
              </a:spcAft>
            </a:pPr>
            <a:fld id="{F726F5A5-9172-A445-B9BD-F8F0698F3076}" type="slidenum">
              <a:rPr lang="en-US" sz="1100">
                <a:solidFill>
                  <a:schemeClr val="accent1"/>
                </a:solidFill>
              </a:rPr>
              <a:pPr algn="r">
                <a:spcAft>
                  <a:spcPts val="600"/>
                </a:spcAft>
              </a:pPr>
              <a:t>32</a:t>
            </a:fld>
            <a:endParaRPr lang="en-US" sz="1100">
              <a:solidFill>
                <a:schemeClr val="accent1"/>
              </a:solidFill>
            </a:endParaRPr>
          </a:p>
        </p:txBody>
      </p:sp>
    </p:spTree>
    <p:extLst>
      <p:ext uri="{BB962C8B-B14F-4D97-AF65-F5344CB8AC3E}">
        <p14:creationId xmlns:p14="http://schemas.microsoft.com/office/powerpoint/2010/main" val="656786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3"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0AA941ED-2059-916C-EA42-4815303C6CC2}"/>
              </a:ext>
            </a:extLst>
          </p:cNvPr>
          <p:cNvSpPr>
            <a:spLocks noGrp="1"/>
          </p:cNvSpPr>
          <p:nvPr>
            <p:ph type="title"/>
          </p:nvPr>
        </p:nvSpPr>
        <p:spPr>
          <a:xfrm>
            <a:off x="191730" y="676892"/>
            <a:ext cx="10004629" cy="969029"/>
          </a:xfrm>
        </p:spPr>
        <p:txBody>
          <a:bodyPr>
            <a:normAutofit/>
          </a:bodyPr>
          <a:lstStyle/>
          <a:p>
            <a:pPr algn="ctr"/>
            <a:r>
              <a:rPr lang="en-US" sz="3200">
                <a:solidFill>
                  <a:srgbClr val="EBEBEB"/>
                </a:solidFill>
                <a:ea typeface="+mj-lt"/>
                <a:cs typeface="+mj-lt"/>
              </a:rPr>
              <a:t>Estimated Cost of </a:t>
            </a:r>
            <a:r>
              <a:rPr lang="en-US" sz="3200" err="1">
                <a:solidFill>
                  <a:srgbClr val="EBEBEB"/>
                </a:solidFill>
                <a:ea typeface="+mj-lt"/>
                <a:cs typeface="+mj-lt"/>
              </a:rPr>
              <a:t>ExtinguishAI</a:t>
            </a:r>
            <a:r>
              <a:rPr lang="en-US" sz="3200">
                <a:solidFill>
                  <a:srgbClr val="EBEBEB"/>
                </a:solidFill>
                <a:ea typeface="+mj-lt"/>
                <a:cs typeface="+mj-lt"/>
              </a:rPr>
              <a:t> 6-Drone System</a:t>
            </a:r>
            <a:endParaRPr lang="en-US" sz="3200"/>
          </a:p>
        </p:txBody>
      </p:sp>
      <p:sp>
        <p:nvSpPr>
          <p:cNvPr id="15" name="Rectangle 14">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63D2056E-D38F-A326-97D0-995CAC0560A7}"/>
              </a:ext>
            </a:extLst>
          </p:cNvPr>
          <p:cNvSpPr>
            <a:spLocks noGrp="1"/>
          </p:cNvSpPr>
          <p:nvPr>
            <p:ph type="sldNum" sz="quarter" idx="12"/>
          </p:nvPr>
        </p:nvSpPr>
        <p:spPr>
          <a:xfrm>
            <a:off x="10352540" y="295729"/>
            <a:ext cx="838199" cy="767687"/>
          </a:xfrm>
        </p:spPr>
        <p:txBody>
          <a:bodyPr>
            <a:normAutofit/>
          </a:bodyPr>
          <a:lstStyle/>
          <a:p>
            <a:pPr>
              <a:spcAft>
                <a:spcPts val="600"/>
              </a:spcAft>
            </a:pPr>
            <a:fld id="{F726F5A5-9172-A445-B9BD-F8F0698F3076}" type="slidenum">
              <a:rPr lang="en-US">
                <a:solidFill>
                  <a:srgbClr val="FFFFFF"/>
                </a:solidFill>
              </a:rPr>
              <a:pPr>
                <a:spcAft>
                  <a:spcPts val="600"/>
                </a:spcAft>
              </a:pPr>
              <a:t>33</a:t>
            </a:fld>
            <a:endParaRPr lang="en-US">
              <a:solidFill>
                <a:srgbClr val="FFFFFF"/>
              </a:solidFill>
            </a:endParaRPr>
          </a:p>
        </p:txBody>
      </p:sp>
      <p:sp>
        <p:nvSpPr>
          <p:cNvPr id="17" name="Freeform: Shape 16">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6" name="Content Placeholder 5">
            <a:extLst>
              <a:ext uri="{FF2B5EF4-FFF2-40B4-BE49-F238E27FC236}">
                <a16:creationId xmlns:a16="http://schemas.microsoft.com/office/drawing/2014/main" id="{A6B92C6B-BA6A-09B7-7CEA-10EC01EB93AA}"/>
              </a:ext>
            </a:extLst>
          </p:cNvPr>
          <p:cNvGraphicFramePr>
            <a:graphicFrameLocks noGrp="1"/>
          </p:cNvGraphicFramePr>
          <p:nvPr>
            <p:ph idx="1"/>
            <p:extLst>
              <p:ext uri="{D42A27DB-BD31-4B8C-83A1-F6EECF244321}">
                <p14:modId xmlns:p14="http://schemas.microsoft.com/office/powerpoint/2010/main" val="174929859"/>
              </p:ext>
            </p:extLst>
          </p:nvPr>
        </p:nvGraphicFramePr>
        <p:xfrm>
          <a:off x="648930" y="3082711"/>
          <a:ext cx="10895372" cy="2906976"/>
        </p:xfrm>
        <a:graphic>
          <a:graphicData uri="http://schemas.openxmlformats.org/drawingml/2006/table">
            <a:tbl>
              <a:tblPr firstRow="1" lastCol="1" bandRow="1">
                <a:tableStyleId>{D27102A9-8310-4765-A935-A1911B00CA55}</a:tableStyleId>
              </a:tblPr>
              <a:tblGrid>
                <a:gridCol w="4070354">
                  <a:extLst>
                    <a:ext uri="{9D8B030D-6E8A-4147-A177-3AD203B41FA5}">
                      <a16:colId xmlns:a16="http://schemas.microsoft.com/office/drawing/2014/main" val="912893239"/>
                    </a:ext>
                  </a:extLst>
                </a:gridCol>
                <a:gridCol w="2754664">
                  <a:extLst>
                    <a:ext uri="{9D8B030D-6E8A-4147-A177-3AD203B41FA5}">
                      <a16:colId xmlns:a16="http://schemas.microsoft.com/office/drawing/2014/main" val="2436841697"/>
                    </a:ext>
                  </a:extLst>
                </a:gridCol>
                <a:gridCol w="4070354">
                  <a:extLst>
                    <a:ext uri="{9D8B030D-6E8A-4147-A177-3AD203B41FA5}">
                      <a16:colId xmlns:a16="http://schemas.microsoft.com/office/drawing/2014/main" val="1112928171"/>
                    </a:ext>
                  </a:extLst>
                </a:gridCol>
              </a:tblGrid>
              <a:tr h="559771">
                <a:tc>
                  <a:txBody>
                    <a:bodyPr/>
                    <a:lstStyle/>
                    <a:p>
                      <a:pPr lvl="0" algn="ctr">
                        <a:buNone/>
                      </a:pPr>
                      <a:r>
                        <a:rPr lang="en-US" sz="1500" u="none" strike="noStrike" noProof="0"/>
                        <a:t>Component</a:t>
                      </a:r>
                      <a:endParaRPr lang="en-US" sz="1500"/>
                    </a:p>
                  </a:txBody>
                  <a:tcPr marL="75645" marR="75645" marT="37822" marB="37822"/>
                </a:tc>
                <a:tc>
                  <a:txBody>
                    <a:bodyPr/>
                    <a:lstStyle/>
                    <a:p>
                      <a:pPr lvl="0" algn="ctr">
                        <a:buNone/>
                      </a:pPr>
                      <a:r>
                        <a:rPr lang="en-US" sz="1500" u="none" strike="noStrike" noProof="0"/>
                        <a:t>Cost (USD)</a:t>
                      </a:r>
                      <a:endParaRPr lang="en-US" sz="1500"/>
                    </a:p>
                  </a:txBody>
                  <a:tcPr marL="75645" marR="75645" marT="37822" marB="37822"/>
                </a:tc>
                <a:tc>
                  <a:txBody>
                    <a:bodyPr/>
                    <a:lstStyle/>
                    <a:p>
                      <a:pPr lvl="0" algn="ctr">
                        <a:lnSpc>
                          <a:spcPct val="100000"/>
                        </a:lnSpc>
                        <a:spcBef>
                          <a:spcPts val="0"/>
                        </a:spcBef>
                        <a:spcAft>
                          <a:spcPts val="0"/>
                        </a:spcAft>
                        <a:buNone/>
                      </a:pPr>
                      <a:r>
                        <a:rPr lang="en-US" sz="1500"/>
                        <a:t>Details</a:t>
                      </a:r>
                    </a:p>
                    <a:p>
                      <a:pPr lvl="0" algn="ctr">
                        <a:buNone/>
                      </a:pPr>
                      <a:endParaRPr lang="en-US" sz="1500"/>
                    </a:p>
                  </a:txBody>
                  <a:tcPr marL="75645" marR="75645" marT="37822" marB="37822"/>
                </a:tc>
                <a:extLst>
                  <a:ext uri="{0D108BD9-81ED-4DB2-BD59-A6C34878D82A}">
                    <a16:rowId xmlns:a16="http://schemas.microsoft.com/office/drawing/2014/main" val="3160092961"/>
                  </a:ext>
                </a:extLst>
              </a:tr>
              <a:tr h="408481">
                <a:tc>
                  <a:txBody>
                    <a:bodyPr/>
                    <a:lstStyle/>
                    <a:p>
                      <a:pPr lvl="0">
                        <a:buNone/>
                      </a:pPr>
                      <a:r>
                        <a:rPr lang="en-US" sz="1500" u="none" strike="noStrike" noProof="0"/>
                        <a:t>High-Range Drone Unit (per drone)</a:t>
                      </a:r>
                      <a:endParaRPr lang="en-US" sz="1500"/>
                    </a:p>
                  </a:txBody>
                  <a:tcPr marL="75645" marR="75645" marT="37822" marB="37822"/>
                </a:tc>
                <a:tc>
                  <a:txBody>
                    <a:bodyPr/>
                    <a:lstStyle/>
                    <a:p>
                      <a:pPr lvl="0" algn="ctr">
                        <a:buNone/>
                      </a:pPr>
                      <a:r>
                        <a:rPr lang="en-US" sz="1500" u="none" strike="noStrike" noProof="0"/>
                        <a:t>$51,500</a:t>
                      </a:r>
                      <a:endParaRPr lang="en-US" sz="1500"/>
                    </a:p>
                  </a:txBody>
                  <a:tcPr marL="75645" marR="75645" marT="37822" marB="37822"/>
                </a:tc>
                <a:tc>
                  <a:txBody>
                    <a:bodyPr/>
                    <a:lstStyle/>
                    <a:p>
                      <a:pPr lvl="0">
                        <a:buNone/>
                      </a:pPr>
                      <a:r>
                        <a:rPr lang="en-US" sz="1000" u="none" strike="noStrike" noProof="0"/>
                        <a:t>Includes extended-range battery, high-resolution cameras, AI system, and fire-retardant system.</a:t>
                      </a:r>
                      <a:endParaRPr lang="en-US" sz="1000"/>
                    </a:p>
                  </a:txBody>
                  <a:tcPr marL="75645" marR="75645" marT="37822" marB="37822"/>
                </a:tc>
                <a:extLst>
                  <a:ext uri="{0D108BD9-81ED-4DB2-BD59-A6C34878D82A}">
                    <a16:rowId xmlns:a16="http://schemas.microsoft.com/office/drawing/2014/main" val="411432122"/>
                  </a:ext>
                </a:extLst>
              </a:tr>
              <a:tr h="408481">
                <a:tc>
                  <a:txBody>
                    <a:bodyPr/>
                    <a:lstStyle/>
                    <a:p>
                      <a:pPr lvl="0">
                        <a:buNone/>
                      </a:pPr>
                      <a:r>
                        <a:rPr lang="en-US" sz="1500" u="none" strike="noStrike" noProof="0"/>
                        <a:t>Drone Storage &amp; Charging System</a:t>
                      </a:r>
                      <a:endParaRPr lang="en-US" sz="1500"/>
                    </a:p>
                  </a:txBody>
                  <a:tcPr marL="75645" marR="75645" marT="37822" marB="37822"/>
                </a:tc>
                <a:tc>
                  <a:txBody>
                    <a:bodyPr/>
                    <a:lstStyle/>
                    <a:p>
                      <a:pPr lvl="0" algn="ctr">
                        <a:buNone/>
                      </a:pPr>
                      <a:r>
                        <a:rPr lang="en-US" sz="1500" u="none" strike="noStrike" noProof="0"/>
                        <a:t>$47,500</a:t>
                      </a:r>
                      <a:endParaRPr lang="en-US" sz="1500"/>
                    </a:p>
                  </a:txBody>
                  <a:tcPr marL="75645" marR="75645" marT="37822" marB="37822"/>
                </a:tc>
                <a:tc>
                  <a:txBody>
                    <a:bodyPr/>
                    <a:lstStyle/>
                    <a:p>
                      <a:pPr lvl="0">
                        <a:buNone/>
                      </a:pPr>
                      <a:r>
                        <a:rPr lang="en-US" sz="1000" u="none" strike="noStrike" noProof="0"/>
                        <a:t>Weatherproof storage unit, large-scale solar panels, automated charging docks.</a:t>
                      </a:r>
                      <a:endParaRPr lang="en-US" sz="1000"/>
                    </a:p>
                  </a:txBody>
                  <a:tcPr marL="75645" marR="75645" marT="37822" marB="37822"/>
                </a:tc>
                <a:extLst>
                  <a:ext uri="{0D108BD9-81ED-4DB2-BD59-A6C34878D82A}">
                    <a16:rowId xmlns:a16="http://schemas.microsoft.com/office/drawing/2014/main" val="2242161083"/>
                  </a:ext>
                </a:extLst>
              </a:tr>
              <a:tr h="408481">
                <a:tc>
                  <a:txBody>
                    <a:bodyPr/>
                    <a:lstStyle/>
                    <a:p>
                      <a:pPr lvl="0">
                        <a:buNone/>
                      </a:pPr>
                      <a:r>
                        <a:rPr lang="en-US" sz="1500" u="none" strike="noStrike" noProof="0"/>
                        <a:t>AI Software &amp; Monitoring System</a:t>
                      </a:r>
                      <a:endParaRPr lang="en-US" sz="1500"/>
                    </a:p>
                  </a:txBody>
                  <a:tcPr marL="75645" marR="75645" marT="37822" marB="37822"/>
                </a:tc>
                <a:tc>
                  <a:txBody>
                    <a:bodyPr/>
                    <a:lstStyle/>
                    <a:p>
                      <a:pPr lvl="0" algn="ctr">
                        <a:buNone/>
                      </a:pPr>
                      <a:r>
                        <a:rPr lang="en-US" sz="1500" u="none" strike="noStrike" noProof="0"/>
                        <a:t>$43,000</a:t>
                      </a:r>
                      <a:endParaRPr lang="en-US" sz="1500"/>
                    </a:p>
                  </a:txBody>
                  <a:tcPr marL="75645" marR="75645" marT="37822" marB="37822"/>
                </a:tc>
                <a:tc>
                  <a:txBody>
                    <a:bodyPr/>
                    <a:lstStyle/>
                    <a:p>
                      <a:pPr lvl="0">
                        <a:buNone/>
                      </a:pPr>
                      <a:r>
                        <a:rPr lang="en-US" sz="1000" u="none" strike="noStrike" noProof="0"/>
                        <a:t>Fire detection, navigation software, cloud processing, predictive analytics.</a:t>
                      </a:r>
                      <a:endParaRPr lang="en-US" sz="1000"/>
                    </a:p>
                  </a:txBody>
                  <a:tcPr marL="75645" marR="75645" marT="37822" marB="37822"/>
                </a:tc>
                <a:extLst>
                  <a:ext uri="{0D108BD9-81ED-4DB2-BD59-A6C34878D82A}">
                    <a16:rowId xmlns:a16="http://schemas.microsoft.com/office/drawing/2014/main" val="827848135"/>
                  </a:ext>
                </a:extLst>
              </a:tr>
              <a:tr h="332837">
                <a:tc>
                  <a:txBody>
                    <a:bodyPr/>
                    <a:lstStyle/>
                    <a:p>
                      <a:pPr lvl="0">
                        <a:buNone/>
                      </a:pPr>
                      <a:r>
                        <a:rPr lang="en-US" sz="1500" u="none" strike="noStrike" noProof="0"/>
                        <a:t>Connectivity &amp; Network Infrastructure</a:t>
                      </a:r>
                      <a:endParaRPr lang="en-US" sz="1500"/>
                    </a:p>
                  </a:txBody>
                  <a:tcPr marL="75645" marR="75645" marT="37822" marB="37822"/>
                </a:tc>
                <a:tc>
                  <a:txBody>
                    <a:bodyPr/>
                    <a:lstStyle/>
                    <a:p>
                      <a:pPr lvl="0" algn="ctr">
                        <a:buNone/>
                      </a:pPr>
                      <a:r>
                        <a:rPr lang="en-US" sz="1500" u="none" strike="noStrike" noProof="0"/>
                        <a:t>$17,500</a:t>
                      </a:r>
                      <a:endParaRPr lang="en-US" sz="1500"/>
                    </a:p>
                  </a:txBody>
                  <a:tcPr marL="75645" marR="75645" marT="37822" marB="37822"/>
                </a:tc>
                <a:tc>
                  <a:txBody>
                    <a:bodyPr/>
                    <a:lstStyle/>
                    <a:p>
                      <a:pPr lvl="0">
                        <a:buNone/>
                      </a:pPr>
                      <a:r>
                        <a:rPr lang="en-US" sz="1000" u="none" strike="noStrike" noProof="0"/>
                        <a:t>Starlink satellite connectivity, cloud storage, communication relays.</a:t>
                      </a:r>
                      <a:endParaRPr lang="en-US" sz="1000"/>
                    </a:p>
                  </a:txBody>
                  <a:tcPr marL="75645" marR="75645" marT="37822" marB="37822"/>
                </a:tc>
                <a:extLst>
                  <a:ext uri="{0D108BD9-81ED-4DB2-BD59-A6C34878D82A}">
                    <a16:rowId xmlns:a16="http://schemas.microsoft.com/office/drawing/2014/main" val="174444326"/>
                  </a:ext>
                </a:extLst>
              </a:tr>
              <a:tr h="332837">
                <a:tc>
                  <a:txBody>
                    <a:bodyPr/>
                    <a:lstStyle/>
                    <a:p>
                      <a:pPr lvl="0">
                        <a:buNone/>
                      </a:pPr>
                      <a:r>
                        <a:rPr lang="en-US" sz="1500" u="none" strike="noStrike" noProof="0"/>
                        <a:t>Deployment &amp; Maintenance (Year 1)</a:t>
                      </a:r>
                      <a:endParaRPr lang="en-US" sz="1500"/>
                    </a:p>
                  </a:txBody>
                  <a:tcPr marL="75645" marR="75645" marT="37822" marB="37822"/>
                </a:tc>
                <a:tc>
                  <a:txBody>
                    <a:bodyPr/>
                    <a:lstStyle/>
                    <a:p>
                      <a:pPr lvl="0" algn="ctr">
                        <a:buNone/>
                      </a:pPr>
                      <a:r>
                        <a:rPr lang="en-US" sz="1500" u="none" strike="noStrike" noProof="0"/>
                        <a:t>$31,000</a:t>
                      </a:r>
                      <a:endParaRPr lang="en-US" sz="1500"/>
                    </a:p>
                  </a:txBody>
                  <a:tcPr marL="75645" marR="75645" marT="37822" marB="37822"/>
                </a:tc>
                <a:tc>
                  <a:txBody>
                    <a:bodyPr/>
                    <a:lstStyle/>
                    <a:p>
                      <a:pPr lvl="0">
                        <a:buNone/>
                      </a:pPr>
                      <a:r>
                        <a:rPr lang="en-US" sz="1000" u="none" strike="noStrike" noProof="0"/>
                        <a:t>Setup, routine maintenance, software updates, spare parts.</a:t>
                      </a:r>
                      <a:endParaRPr lang="en-US" sz="1000"/>
                    </a:p>
                  </a:txBody>
                  <a:tcPr marL="75645" marR="75645" marT="37822" marB="37822"/>
                </a:tc>
                <a:extLst>
                  <a:ext uri="{0D108BD9-81ED-4DB2-BD59-A6C34878D82A}">
                    <a16:rowId xmlns:a16="http://schemas.microsoft.com/office/drawing/2014/main" val="4220787823"/>
                  </a:ext>
                </a:extLst>
              </a:tr>
              <a:tr h="408481">
                <a:tc>
                  <a:txBody>
                    <a:bodyPr/>
                    <a:lstStyle/>
                    <a:p>
                      <a:pPr lvl="0">
                        <a:buNone/>
                      </a:pPr>
                      <a:r>
                        <a:rPr lang="en-US" sz="1500" b="1" u="none" strike="noStrike" noProof="0"/>
                        <a:t>Total for Year 1</a:t>
                      </a:r>
                      <a:endParaRPr lang="en-US" sz="1500" b="1"/>
                    </a:p>
                  </a:txBody>
                  <a:tcPr marL="75645" marR="75645" marT="37822" marB="37822"/>
                </a:tc>
                <a:tc>
                  <a:txBody>
                    <a:bodyPr/>
                    <a:lstStyle/>
                    <a:p>
                      <a:pPr lvl="0" algn="ctr">
                        <a:buNone/>
                      </a:pPr>
                      <a:r>
                        <a:rPr lang="en-US" sz="1500" b="1" u="none" strike="noStrike" noProof="0"/>
                        <a:t>$448,000</a:t>
                      </a:r>
                      <a:endParaRPr lang="en-US" sz="1500" b="1"/>
                    </a:p>
                  </a:txBody>
                  <a:tcPr marL="75645" marR="75645" marT="37822" marB="37822"/>
                </a:tc>
                <a:tc>
                  <a:txBody>
                    <a:bodyPr/>
                    <a:lstStyle/>
                    <a:p>
                      <a:pPr lvl="0">
                        <a:buNone/>
                      </a:pPr>
                      <a:r>
                        <a:rPr lang="en-US" sz="1000" u="none" strike="noStrike" noProof="0"/>
                        <a:t>Total cost for the 6-Drone System covering 2.36 million square miles of area.</a:t>
                      </a:r>
                      <a:endParaRPr lang="en-US" sz="1000"/>
                    </a:p>
                  </a:txBody>
                  <a:tcPr marL="75645" marR="75645" marT="37822" marB="37822"/>
                </a:tc>
                <a:extLst>
                  <a:ext uri="{0D108BD9-81ED-4DB2-BD59-A6C34878D82A}">
                    <a16:rowId xmlns:a16="http://schemas.microsoft.com/office/drawing/2014/main" val="4090320651"/>
                  </a:ext>
                </a:extLst>
              </a:tr>
            </a:tbl>
          </a:graphicData>
        </a:graphic>
      </p:graphicFrame>
      <p:sp>
        <p:nvSpPr>
          <p:cNvPr id="7" name="TextBox 6">
            <a:extLst>
              <a:ext uri="{FF2B5EF4-FFF2-40B4-BE49-F238E27FC236}">
                <a16:creationId xmlns:a16="http://schemas.microsoft.com/office/drawing/2014/main" id="{F25A1075-3350-7C29-E9D8-E2BA4A20D6CC}"/>
              </a:ext>
            </a:extLst>
          </p:cNvPr>
          <p:cNvSpPr txBox="1"/>
          <p:nvPr/>
        </p:nvSpPr>
        <p:spPr>
          <a:xfrm>
            <a:off x="653142" y="6284026"/>
            <a:ext cx="10638311"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ea typeface="+mn-lt"/>
                <a:cs typeface="+mn-lt"/>
                <a:hlinkClick r:id="rId2"/>
              </a:rPr>
              <a:t>https://docs.google.com/document/d/1lfZhAYJBpwgjVOGEevkY_AxDA8sVltEH/edit?usp=sharing&amp;ouid=106539882794568680204&amp;rtpof=true&amp;sd=true</a:t>
            </a:r>
            <a:endParaRPr lang="en-US" sz="1000"/>
          </a:p>
        </p:txBody>
      </p:sp>
    </p:spTree>
    <p:extLst>
      <p:ext uri="{BB962C8B-B14F-4D97-AF65-F5344CB8AC3E}">
        <p14:creationId xmlns:p14="http://schemas.microsoft.com/office/powerpoint/2010/main" val="3335281533"/>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2"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A12115EE-05DF-9520-1B4D-F8F97800E661}"/>
              </a:ext>
            </a:extLst>
          </p:cNvPr>
          <p:cNvSpPr>
            <a:spLocks noGrp="1"/>
          </p:cNvSpPr>
          <p:nvPr>
            <p:ph type="title"/>
          </p:nvPr>
        </p:nvSpPr>
        <p:spPr>
          <a:xfrm>
            <a:off x="648930" y="629267"/>
            <a:ext cx="9252154" cy="1016654"/>
          </a:xfrm>
        </p:spPr>
        <p:txBody>
          <a:bodyPr>
            <a:normAutofit/>
          </a:bodyPr>
          <a:lstStyle/>
          <a:p>
            <a:pPr>
              <a:lnSpc>
                <a:spcPct val="90000"/>
              </a:lnSpc>
            </a:pPr>
            <a:r>
              <a:rPr lang="en-US" sz="3300">
                <a:solidFill>
                  <a:srgbClr val="EBEBEB"/>
                </a:solidFill>
                <a:ea typeface="+mj-lt"/>
                <a:cs typeface="+mj-lt"/>
              </a:rPr>
              <a:t>Comparison with UCSD ALERTCalifornia AI Cameras</a:t>
            </a:r>
            <a:endParaRPr lang="en-US" sz="3300">
              <a:solidFill>
                <a:srgbClr val="EBEBEB"/>
              </a:solidFill>
            </a:endParaRPr>
          </a:p>
        </p:txBody>
      </p:sp>
      <p:sp>
        <p:nvSpPr>
          <p:cNvPr id="14" name="Rectangle 13">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381B52AC-3533-F3AF-A011-373A5D7B4E53}"/>
              </a:ext>
            </a:extLst>
          </p:cNvPr>
          <p:cNvSpPr>
            <a:spLocks noGrp="1"/>
          </p:cNvSpPr>
          <p:nvPr>
            <p:ph type="sldNum" sz="quarter" idx="12"/>
          </p:nvPr>
        </p:nvSpPr>
        <p:spPr>
          <a:xfrm>
            <a:off x="10352540" y="295729"/>
            <a:ext cx="838199" cy="767687"/>
          </a:xfrm>
        </p:spPr>
        <p:txBody>
          <a:bodyPr>
            <a:normAutofit/>
          </a:bodyPr>
          <a:lstStyle/>
          <a:p>
            <a:pPr>
              <a:spcAft>
                <a:spcPts val="600"/>
              </a:spcAft>
            </a:pPr>
            <a:fld id="{F726F5A5-9172-A445-B9BD-F8F0698F3076}" type="slidenum">
              <a:rPr lang="en-US">
                <a:solidFill>
                  <a:srgbClr val="FFFFFF"/>
                </a:solidFill>
              </a:rPr>
              <a:pPr>
                <a:spcAft>
                  <a:spcPts val="600"/>
                </a:spcAft>
              </a:pPr>
              <a:t>34</a:t>
            </a:fld>
            <a:endParaRPr lang="en-US">
              <a:solidFill>
                <a:srgbClr val="FFFFFF"/>
              </a:solidFill>
            </a:endParaRPr>
          </a:p>
        </p:txBody>
      </p:sp>
      <p:sp>
        <p:nvSpPr>
          <p:cNvPr id="16" name="Freeform: Shape 15">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5" name="Content Placeholder 4">
            <a:extLst>
              <a:ext uri="{FF2B5EF4-FFF2-40B4-BE49-F238E27FC236}">
                <a16:creationId xmlns:a16="http://schemas.microsoft.com/office/drawing/2014/main" id="{5EA2A35B-B761-3112-20D8-D39B29B1F487}"/>
              </a:ext>
            </a:extLst>
          </p:cNvPr>
          <p:cNvGraphicFramePr>
            <a:graphicFrameLocks noGrp="1"/>
          </p:cNvGraphicFramePr>
          <p:nvPr>
            <p:ph idx="1"/>
            <p:extLst>
              <p:ext uri="{D42A27DB-BD31-4B8C-83A1-F6EECF244321}">
                <p14:modId xmlns:p14="http://schemas.microsoft.com/office/powerpoint/2010/main" val="2731664024"/>
              </p:ext>
            </p:extLst>
          </p:nvPr>
        </p:nvGraphicFramePr>
        <p:xfrm>
          <a:off x="851817" y="2810256"/>
          <a:ext cx="10489598" cy="3404280"/>
        </p:xfrm>
        <a:graphic>
          <a:graphicData uri="http://schemas.openxmlformats.org/drawingml/2006/table">
            <a:tbl>
              <a:tblPr firstRow="1" bandRow="1">
                <a:tableStyleId>{D27102A9-8310-4765-A935-A1911B00CA55}</a:tableStyleId>
              </a:tblPr>
              <a:tblGrid>
                <a:gridCol w="3457578">
                  <a:extLst>
                    <a:ext uri="{9D8B030D-6E8A-4147-A177-3AD203B41FA5}">
                      <a16:colId xmlns:a16="http://schemas.microsoft.com/office/drawing/2014/main" val="3701258614"/>
                    </a:ext>
                  </a:extLst>
                </a:gridCol>
                <a:gridCol w="3457578">
                  <a:extLst>
                    <a:ext uri="{9D8B030D-6E8A-4147-A177-3AD203B41FA5}">
                      <a16:colId xmlns:a16="http://schemas.microsoft.com/office/drawing/2014/main" val="3467909757"/>
                    </a:ext>
                  </a:extLst>
                </a:gridCol>
                <a:gridCol w="3574442">
                  <a:extLst>
                    <a:ext uri="{9D8B030D-6E8A-4147-A177-3AD203B41FA5}">
                      <a16:colId xmlns:a16="http://schemas.microsoft.com/office/drawing/2014/main" val="3461858478"/>
                    </a:ext>
                  </a:extLst>
                </a:gridCol>
              </a:tblGrid>
              <a:tr h="656033">
                <a:tc>
                  <a:txBody>
                    <a:bodyPr/>
                    <a:lstStyle/>
                    <a:p>
                      <a:pPr lvl="0" algn="ctr">
                        <a:buNone/>
                      </a:pPr>
                      <a:r>
                        <a:rPr lang="en-US" sz="1700" b="0" i="0" u="none" strike="noStrike" noProof="0">
                          <a:latin typeface="Century Gothic"/>
                        </a:rPr>
                        <a:t>Criteria</a:t>
                      </a:r>
                      <a:endParaRPr lang="en-US" sz="1700"/>
                    </a:p>
                  </a:txBody>
                  <a:tcPr marL="88653" marR="88653" marT="44327" marB="44327"/>
                </a:tc>
                <a:tc>
                  <a:txBody>
                    <a:bodyPr/>
                    <a:lstStyle/>
                    <a:p>
                      <a:pPr lvl="0" algn="ctr">
                        <a:buNone/>
                      </a:pPr>
                      <a:r>
                        <a:rPr lang="en-US" sz="1700" b="0" i="0" u="none" strike="noStrike" noProof="0" err="1">
                          <a:latin typeface="Century Gothic"/>
                        </a:rPr>
                        <a:t>ExtinguishAI</a:t>
                      </a:r>
                      <a:r>
                        <a:rPr lang="en-US" sz="1700" b="0" i="0" u="none" strike="noStrike" noProof="0">
                          <a:latin typeface="Century Gothic"/>
                        </a:rPr>
                        <a:t> (6-Drone System)</a:t>
                      </a:r>
                      <a:endParaRPr lang="en-US" sz="1700"/>
                    </a:p>
                  </a:txBody>
                  <a:tcPr marL="88653" marR="88653" marT="44327" marB="44327"/>
                </a:tc>
                <a:tc>
                  <a:txBody>
                    <a:bodyPr/>
                    <a:lstStyle/>
                    <a:p>
                      <a:pPr lvl="0" algn="ctr">
                        <a:buNone/>
                      </a:pPr>
                      <a:r>
                        <a:rPr lang="en-US" sz="1700" b="0" i="0" u="none" strike="noStrike" noProof="0">
                          <a:latin typeface="Century Gothic"/>
                        </a:rPr>
                        <a:t>UCSD </a:t>
                      </a:r>
                      <a:r>
                        <a:rPr lang="en-US" sz="1700" b="0" i="0" u="none" strike="noStrike" noProof="0" err="1">
                          <a:latin typeface="Century Gothic"/>
                        </a:rPr>
                        <a:t>ALERTCalifornia</a:t>
                      </a:r>
                      <a:r>
                        <a:rPr lang="en-US" sz="1700" b="0" i="0" u="none" strike="noStrike" noProof="0">
                          <a:latin typeface="Century Gothic"/>
                        </a:rPr>
                        <a:t> Camera Network</a:t>
                      </a:r>
                      <a:endParaRPr lang="en-US" sz="1700"/>
                    </a:p>
                  </a:txBody>
                  <a:tcPr marL="88653" marR="88653" marT="44327" marB="44327"/>
                </a:tc>
                <a:extLst>
                  <a:ext uri="{0D108BD9-81ED-4DB2-BD59-A6C34878D82A}">
                    <a16:rowId xmlns:a16="http://schemas.microsoft.com/office/drawing/2014/main" val="2365932276"/>
                  </a:ext>
                </a:extLst>
              </a:tr>
              <a:tr h="390074">
                <a:tc>
                  <a:txBody>
                    <a:bodyPr/>
                    <a:lstStyle/>
                    <a:p>
                      <a:pPr lvl="0">
                        <a:buNone/>
                      </a:pPr>
                      <a:r>
                        <a:rPr lang="en-US" sz="1700" b="0" i="0" u="none" strike="noStrike" noProof="0">
                          <a:latin typeface="Century Gothic"/>
                        </a:rPr>
                        <a:t>Cost (1st Year)</a:t>
                      </a:r>
                      <a:endParaRPr lang="en-US" sz="1700"/>
                    </a:p>
                  </a:txBody>
                  <a:tcPr marL="88653" marR="88653" marT="44327" marB="44327"/>
                </a:tc>
                <a:tc>
                  <a:txBody>
                    <a:bodyPr/>
                    <a:lstStyle/>
                    <a:p>
                      <a:pPr lvl="0">
                        <a:buNone/>
                      </a:pPr>
                      <a:r>
                        <a:rPr lang="en-US" sz="1700" b="0" i="0" u="none" strike="noStrike" noProof="0">
                          <a:latin typeface="Century Gothic"/>
                        </a:rPr>
                        <a:t>$448,000</a:t>
                      </a:r>
                      <a:endParaRPr lang="en-US" sz="1700"/>
                    </a:p>
                  </a:txBody>
                  <a:tcPr marL="88653" marR="88653" marT="44327" marB="44327"/>
                </a:tc>
                <a:tc>
                  <a:txBody>
                    <a:bodyPr/>
                    <a:lstStyle/>
                    <a:p>
                      <a:pPr lvl="0">
                        <a:buNone/>
                      </a:pPr>
                      <a:r>
                        <a:rPr lang="en-US" sz="1700" b="0" i="0" u="none" strike="noStrike" noProof="0">
                          <a:latin typeface="Century Gothic"/>
                        </a:rPr>
                        <a:t>$20 million - $50 million</a:t>
                      </a:r>
                      <a:endParaRPr lang="en-US" sz="1700"/>
                    </a:p>
                  </a:txBody>
                  <a:tcPr marL="88653" marR="88653" marT="44327" marB="44327"/>
                </a:tc>
                <a:extLst>
                  <a:ext uri="{0D108BD9-81ED-4DB2-BD59-A6C34878D82A}">
                    <a16:rowId xmlns:a16="http://schemas.microsoft.com/office/drawing/2014/main" val="3985012211"/>
                  </a:ext>
                </a:extLst>
              </a:tr>
              <a:tr h="656033">
                <a:tc>
                  <a:txBody>
                    <a:bodyPr/>
                    <a:lstStyle/>
                    <a:p>
                      <a:pPr lvl="0">
                        <a:buNone/>
                      </a:pPr>
                      <a:r>
                        <a:rPr lang="en-US" sz="1700" b="0" i="0" u="none" strike="noStrike" noProof="0">
                          <a:latin typeface="Century Gothic"/>
                        </a:rPr>
                        <a:t>Coverage Area</a:t>
                      </a:r>
                      <a:endParaRPr lang="en-US" sz="1700"/>
                    </a:p>
                  </a:txBody>
                  <a:tcPr marL="88653" marR="88653" marT="44327" marB="44327"/>
                </a:tc>
                <a:tc>
                  <a:txBody>
                    <a:bodyPr/>
                    <a:lstStyle/>
                    <a:p>
                      <a:pPr lvl="0">
                        <a:buNone/>
                      </a:pPr>
                      <a:r>
                        <a:rPr lang="en-US" sz="1700" b="0" i="0" u="none" strike="noStrike" noProof="0">
                          <a:latin typeface="Century Gothic"/>
                        </a:rPr>
                        <a:t>2.36 million square miles per day</a:t>
                      </a:r>
                      <a:endParaRPr lang="en-US" sz="1700"/>
                    </a:p>
                  </a:txBody>
                  <a:tcPr marL="88653" marR="88653" marT="44327" marB="44327"/>
                </a:tc>
                <a:tc>
                  <a:txBody>
                    <a:bodyPr/>
                    <a:lstStyle/>
                    <a:p>
                      <a:pPr lvl="0">
                        <a:buNone/>
                      </a:pPr>
                      <a:r>
                        <a:rPr lang="en-US" sz="1700" b="0" i="0" u="none" strike="noStrike" noProof="0">
                          <a:latin typeface="Century Gothic"/>
                        </a:rPr>
                        <a:t>Fixed camera locations, limited coverage</a:t>
                      </a:r>
                      <a:endParaRPr lang="en-US" sz="1700"/>
                    </a:p>
                  </a:txBody>
                  <a:tcPr marL="88653" marR="88653" marT="44327" marB="44327"/>
                </a:tc>
                <a:extLst>
                  <a:ext uri="{0D108BD9-81ED-4DB2-BD59-A6C34878D82A}">
                    <a16:rowId xmlns:a16="http://schemas.microsoft.com/office/drawing/2014/main" val="3270232456"/>
                  </a:ext>
                </a:extLst>
              </a:tr>
              <a:tr h="656033">
                <a:tc>
                  <a:txBody>
                    <a:bodyPr/>
                    <a:lstStyle/>
                    <a:p>
                      <a:pPr lvl="0">
                        <a:buNone/>
                      </a:pPr>
                      <a:r>
                        <a:rPr lang="en-US" sz="1700" b="0" i="0" u="none" strike="noStrike" noProof="0">
                          <a:latin typeface="Century Gothic"/>
                        </a:rPr>
                        <a:t>Deployment Time</a:t>
                      </a:r>
                      <a:endParaRPr lang="en-US" sz="1700"/>
                    </a:p>
                  </a:txBody>
                  <a:tcPr marL="88653" marR="88653" marT="44327" marB="44327"/>
                </a:tc>
                <a:tc>
                  <a:txBody>
                    <a:bodyPr/>
                    <a:lstStyle/>
                    <a:p>
                      <a:pPr lvl="0">
                        <a:buNone/>
                      </a:pPr>
                      <a:r>
                        <a:rPr lang="en-US" sz="1700" b="0" i="0" u="none" strike="noStrike" noProof="0">
                          <a:latin typeface="Century Gothic"/>
                        </a:rPr>
                        <a:t>Quick, deployable anywhere</a:t>
                      </a:r>
                      <a:endParaRPr lang="en-US" sz="1700"/>
                    </a:p>
                  </a:txBody>
                  <a:tcPr marL="88653" marR="88653" marT="44327" marB="44327"/>
                </a:tc>
                <a:tc>
                  <a:txBody>
                    <a:bodyPr/>
                    <a:lstStyle/>
                    <a:p>
                      <a:pPr lvl="0">
                        <a:buNone/>
                      </a:pPr>
                      <a:r>
                        <a:rPr lang="en-US" sz="1700" b="0" i="0" u="none" strike="noStrike" noProof="0">
                          <a:latin typeface="Century Gothic"/>
                        </a:rPr>
                        <a:t>Requires installation of infrastructure</a:t>
                      </a:r>
                      <a:endParaRPr lang="en-US" sz="1700"/>
                    </a:p>
                  </a:txBody>
                  <a:tcPr marL="88653" marR="88653" marT="44327" marB="44327"/>
                </a:tc>
                <a:extLst>
                  <a:ext uri="{0D108BD9-81ED-4DB2-BD59-A6C34878D82A}">
                    <a16:rowId xmlns:a16="http://schemas.microsoft.com/office/drawing/2014/main" val="570710024"/>
                  </a:ext>
                </a:extLst>
              </a:tr>
              <a:tr h="390074">
                <a:tc>
                  <a:txBody>
                    <a:bodyPr/>
                    <a:lstStyle/>
                    <a:p>
                      <a:pPr lvl="0">
                        <a:buNone/>
                      </a:pPr>
                      <a:r>
                        <a:rPr lang="en-US" sz="1700" b="0" i="0" u="none" strike="noStrike" noProof="0">
                          <a:latin typeface="Century Gothic"/>
                        </a:rPr>
                        <a:t>Maintenance Costs</a:t>
                      </a:r>
                      <a:endParaRPr lang="en-US" sz="1700"/>
                    </a:p>
                  </a:txBody>
                  <a:tcPr marL="88653" marR="88653" marT="44327" marB="44327"/>
                </a:tc>
                <a:tc>
                  <a:txBody>
                    <a:bodyPr/>
                    <a:lstStyle/>
                    <a:p>
                      <a:pPr lvl="0">
                        <a:buNone/>
                      </a:pPr>
                      <a:r>
                        <a:rPr lang="en-US" sz="1700" b="0" i="0" u="none" strike="noStrike" noProof="0">
                          <a:latin typeface="Century Gothic"/>
                        </a:rPr>
                        <a:t>$31,000 annually</a:t>
                      </a:r>
                      <a:endParaRPr lang="en-US" sz="1700"/>
                    </a:p>
                  </a:txBody>
                  <a:tcPr marL="88653" marR="88653" marT="44327" marB="44327"/>
                </a:tc>
                <a:tc>
                  <a:txBody>
                    <a:bodyPr/>
                    <a:lstStyle/>
                    <a:p>
                      <a:pPr lvl="0">
                        <a:buNone/>
                      </a:pPr>
                      <a:r>
                        <a:rPr lang="en-US" sz="1700" b="0" i="0" u="none" strike="noStrike" noProof="0">
                          <a:latin typeface="Century Gothic"/>
                        </a:rPr>
                        <a:t>Ongoing, millions per year</a:t>
                      </a:r>
                      <a:endParaRPr lang="en-US" sz="1700"/>
                    </a:p>
                  </a:txBody>
                  <a:tcPr marL="88653" marR="88653" marT="44327" marB="44327"/>
                </a:tc>
                <a:extLst>
                  <a:ext uri="{0D108BD9-81ED-4DB2-BD59-A6C34878D82A}">
                    <a16:rowId xmlns:a16="http://schemas.microsoft.com/office/drawing/2014/main" val="1199696393"/>
                  </a:ext>
                </a:extLst>
              </a:tr>
              <a:tr h="656033">
                <a:tc>
                  <a:txBody>
                    <a:bodyPr/>
                    <a:lstStyle/>
                    <a:p>
                      <a:pPr lvl="0">
                        <a:buNone/>
                      </a:pPr>
                      <a:r>
                        <a:rPr lang="en-US" sz="1700" b="0" i="0" u="none" strike="noStrike" noProof="0"/>
                        <a:t>Functionality</a:t>
                      </a:r>
                      <a:endParaRPr lang="en-US" sz="1700"/>
                    </a:p>
                  </a:txBody>
                  <a:tcPr marL="88653" marR="88653" marT="44327" marB="44327"/>
                </a:tc>
                <a:tc>
                  <a:txBody>
                    <a:bodyPr/>
                    <a:lstStyle/>
                    <a:p>
                      <a:pPr lvl="0">
                        <a:buNone/>
                      </a:pPr>
                      <a:r>
                        <a:rPr lang="en-US" sz="1700" b="0" i="0" u="none" strike="noStrike" noProof="0">
                          <a:latin typeface="Century Gothic"/>
                        </a:rPr>
                        <a:t>Active fire detection &amp; suppression</a:t>
                      </a:r>
                      <a:endParaRPr lang="en-US" sz="1700"/>
                    </a:p>
                  </a:txBody>
                  <a:tcPr marL="88653" marR="88653" marT="44327" marB="44327"/>
                </a:tc>
                <a:tc>
                  <a:txBody>
                    <a:bodyPr/>
                    <a:lstStyle/>
                    <a:p>
                      <a:pPr lvl="0">
                        <a:buNone/>
                      </a:pPr>
                      <a:r>
                        <a:rPr lang="en-US" sz="1700" b="0" i="0" u="none" strike="noStrike" noProof="0">
                          <a:latin typeface="Century Gothic"/>
                        </a:rPr>
                        <a:t>Passive surveillance with cameras only</a:t>
                      </a:r>
                      <a:endParaRPr lang="en-US" sz="1700"/>
                    </a:p>
                  </a:txBody>
                  <a:tcPr marL="88653" marR="88653" marT="44327" marB="44327"/>
                </a:tc>
                <a:extLst>
                  <a:ext uri="{0D108BD9-81ED-4DB2-BD59-A6C34878D82A}">
                    <a16:rowId xmlns:a16="http://schemas.microsoft.com/office/drawing/2014/main" val="1331801006"/>
                  </a:ext>
                </a:extLst>
              </a:tr>
            </a:tbl>
          </a:graphicData>
        </a:graphic>
      </p:graphicFrame>
      <p:sp>
        <p:nvSpPr>
          <p:cNvPr id="11" name="TextBox 10">
            <a:extLst>
              <a:ext uri="{FF2B5EF4-FFF2-40B4-BE49-F238E27FC236}">
                <a16:creationId xmlns:a16="http://schemas.microsoft.com/office/drawing/2014/main" id="{B4F96EBF-A1D1-8E8E-C80F-CCA24A1F3D04}"/>
              </a:ext>
            </a:extLst>
          </p:cNvPr>
          <p:cNvSpPr txBox="1"/>
          <p:nvPr/>
        </p:nvSpPr>
        <p:spPr>
          <a:xfrm>
            <a:off x="9568666" y="6359236"/>
            <a:ext cx="17791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2" action="ppaction://hlinksldjump"/>
              </a:rPr>
              <a:t>Back to Q</a:t>
            </a:r>
            <a:r>
              <a:rPr lang="en-US">
                <a:hlinkClick r:id="" action="ppaction://noaction"/>
              </a:rPr>
              <a:t>&amp;A</a:t>
            </a:r>
          </a:p>
        </p:txBody>
      </p:sp>
      <p:sp>
        <p:nvSpPr>
          <p:cNvPr id="3" name="TextBox 2">
            <a:extLst>
              <a:ext uri="{FF2B5EF4-FFF2-40B4-BE49-F238E27FC236}">
                <a16:creationId xmlns:a16="http://schemas.microsoft.com/office/drawing/2014/main" id="{C7F5138B-CA61-4338-7A3E-F6A5069FAA41}"/>
              </a:ext>
            </a:extLst>
          </p:cNvPr>
          <p:cNvSpPr txBox="1"/>
          <p:nvPr/>
        </p:nvSpPr>
        <p:spPr>
          <a:xfrm>
            <a:off x="849415" y="6263408"/>
            <a:ext cx="204766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hlinkClick r:id="rId3"/>
              </a:rPr>
              <a:t>Home - ALERTCalifornia</a:t>
            </a:r>
            <a:endParaRPr lang="en-US" sz="1200"/>
          </a:p>
        </p:txBody>
      </p:sp>
      <p:sp>
        <p:nvSpPr>
          <p:cNvPr id="6" name="TextBox 5">
            <a:extLst>
              <a:ext uri="{FF2B5EF4-FFF2-40B4-BE49-F238E27FC236}">
                <a16:creationId xmlns:a16="http://schemas.microsoft.com/office/drawing/2014/main" id="{DD6DCA1E-8A23-972C-8E17-475B9831F79F}"/>
              </a:ext>
            </a:extLst>
          </p:cNvPr>
          <p:cNvSpPr txBox="1"/>
          <p:nvPr/>
        </p:nvSpPr>
        <p:spPr>
          <a:xfrm>
            <a:off x="848591" y="6542148"/>
            <a:ext cx="691737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hlinkClick r:id="rId4"/>
              </a:rPr>
              <a:t>CALFIRE, UC San Diego Get $10.4M Boost for Wildfire System (govtech.com)</a:t>
            </a:r>
            <a:endParaRPr lang="en-US" sz="1200"/>
          </a:p>
        </p:txBody>
      </p:sp>
    </p:spTree>
    <p:extLst>
      <p:ext uri="{BB962C8B-B14F-4D97-AF65-F5344CB8AC3E}">
        <p14:creationId xmlns:p14="http://schemas.microsoft.com/office/powerpoint/2010/main" val="3401367354"/>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Rectangle 10">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F3CC73F2-A643-0196-A24E-0A273EAC2ED8}"/>
              </a:ext>
            </a:extLst>
          </p:cNvPr>
          <p:cNvSpPr>
            <a:spLocks noGrp="1"/>
          </p:cNvSpPr>
          <p:nvPr>
            <p:ph type="sldNum" sz="quarter" idx="12"/>
          </p:nvPr>
        </p:nvSpPr>
        <p:spPr>
          <a:xfrm>
            <a:off x="10352540" y="295729"/>
            <a:ext cx="838199" cy="767687"/>
          </a:xfrm>
        </p:spPr>
        <p:txBody>
          <a:bodyPr>
            <a:normAutofit/>
          </a:bodyPr>
          <a:lstStyle/>
          <a:p>
            <a:pPr>
              <a:spcAft>
                <a:spcPts val="600"/>
              </a:spcAft>
            </a:pPr>
            <a:fld id="{F726F5A5-9172-A445-B9BD-F8F0698F3076}" type="slidenum">
              <a:rPr lang="en-US">
                <a:solidFill>
                  <a:srgbClr val="FFFFFF"/>
                </a:solidFill>
              </a:rPr>
              <a:pPr>
                <a:spcAft>
                  <a:spcPts val="600"/>
                </a:spcAft>
              </a:pPr>
              <a:t>35</a:t>
            </a:fld>
            <a:endParaRPr lang="en-US">
              <a:solidFill>
                <a:srgbClr val="FFFFFF"/>
              </a:solidFill>
            </a:endParaRPr>
          </a:p>
        </p:txBody>
      </p:sp>
      <p:sp>
        <p:nvSpPr>
          <p:cNvPr id="13"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5" name="Freeform: Shape 14">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98481169-621F-49D0-EF55-6F699E659A62}"/>
              </a:ext>
            </a:extLst>
          </p:cNvPr>
          <p:cNvSpPr>
            <a:spLocks noGrp="1"/>
          </p:cNvSpPr>
          <p:nvPr>
            <p:ph type="title"/>
          </p:nvPr>
        </p:nvSpPr>
        <p:spPr>
          <a:xfrm>
            <a:off x="1614488" y="331687"/>
            <a:ext cx="8488913" cy="1400530"/>
          </a:xfrm>
        </p:spPr>
        <p:txBody>
          <a:bodyPr anchor="ctr">
            <a:normAutofit fontScale="90000"/>
          </a:bodyPr>
          <a:lstStyle/>
          <a:p>
            <a:r>
              <a:rPr lang="en-US">
                <a:solidFill>
                  <a:srgbClr val="FFFFFF"/>
                </a:solidFill>
              </a:rPr>
              <a:t>   Total Damages and costs from the most destructive 2025 LA fires</a:t>
            </a:r>
          </a:p>
        </p:txBody>
      </p:sp>
      <p:graphicFrame>
        <p:nvGraphicFramePr>
          <p:cNvPr id="14" name="Content Placeholder 4">
            <a:extLst>
              <a:ext uri="{FF2B5EF4-FFF2-40B4-BE49-F238E27FC236}">
                <a16:creationId xmlns:a16="http://schemas.microsoft.com/office/drawing/2014/main" id="{F9A8B74F-3355-3967-F840-0A91797D871C}"/>
              </a:ext>
            </a:extLst>
          </p:cNvPr>
          <p:cNvGraphicFramePr>
            <a:graphicFrameLocks/>
          </p:cNvGraphicFramePr>
          <p:nvPr>
            <p:extLst>
              <p:ext uri="{D42A27DB-BD31-4B8C-83A1-F6EECF244321}">
                <p14:modId xmlns:p14="http://schemas.microsoft.com/office/powerpoint/2010/main" val="1510958593"/>
              </p:ext>
            </p:extLst>
          </p:nvPr>
        </p:nvGraphicFramePr>
        <p:xfrm>
          <a:off x="457200" y="2860761"/>
          <a:ext cx="11506200" cy="2516238"/>
        </p:xfrm>
        <a:graphic>
          <a:graphicData uri="http://schemas.openxmlformats.org/drawingml/2006/table">
            <a:tbl>
              <a:tblPr firstRow="1" bandRow="1">
                <a:tableStyleId>{D27102A9-8310-4765-A935-A1911B00CA55}</a:tableStyleId>
              </a:tblPr>
              <a:tblGrid>
                <a:gridCol w="1896335">
                  <a:extLst>
                    <a:ext uri="{9D8B030D-6E8A-4147-A177-3AD203B41FA5}">
                      <a16:colId xmlns:a16="http://schemas.microsoft.com/office/drawing/2014/main" val="3701258614"/>
                    </a:ext>
                  </a:extLst>
                </a:gridCol>
                <a:gridCol w="1896335">
                  <a:extLst>
                    <a:ext uri="{9D8B030D-6E8A-4147-A177-3AD203B41FA5}">
                      <a16:colId xmlns:a16="http://schemas.microsoft.com/office/drawing/2014/main" val="1228370434"/>
                    </a:ext>
                  </a:extLst>
                </a:gridCol>
                <a:gridCol w="1896335">
                  <a:extLst>
                    <a:ext uri="{9D8B030D-6E8A-4147-A177-3AD203B41FA5}">
                      <a16:colId xmlns:a16="http://schemas.microsoft.com/office/drawing/2014/main" val="1227691673"/>
                    </a:ext>
                  </a:extLst>
                </a:gridCol>
                <a:gridCol w="1896335">
                  <a:extLst>
                    <a:ext uri="{9D8B030D-6E8A-4147-A177-3AD203B41FA5}">
                      <a16:colId xmlns:a16="http://schemas.microsoft.com/office/drawing/2014/main" val="3467909757"/>
                    </a:ext>
                  </a:extLst>
                </a:gridCol>
                <a:gridCol w="1960430">
                  <a:extLst>
                    <a:ext uri="{9D8B030D-6E8A-4147-A177-3AD203B41FA5}">
                      <a16:colId xmlns:a16="http://schemas.microsoft.com/office/drawing/2014/main" val="3461858478"/>
                    </a:ext>
                  </a:extLst>
                </a:gridCol>
                <a:gridCol w="1960430">
                  <a:extLst>
                    <a:ext uri="{9D8B030D-6E8A-4147-A177-3AD203B41FA5}">
                      <a16:colId xmlns:a16="http://schemas.microsoft.com/office/drawing/2014/main" val="3399828540"/>
                    </a:ext>
                  </a:extLst>
                </a:gridCol>
              </a:tblGrid>
              <a:tr h="1007053">
                <a:tc>
                  <a:txBody>
                    <a:bodyPr/>
                    <a:lstStyle/>
                    <a:p>
                      <a:pPr lvl="0" algn="ctr">
                        <a:buNone/>
                      </a:pPr>
                      <a:r>
                        <a:rPr lang="en-US" sz="1700"/>
                        <a:t>Name of fire</a:t>
                      </a:r>
                    </a:p>
                    <a:p>
                      <a:pPr lvl="0" algn="ctr">
                        <a:buNone/>
                      </a:pPr>
                      <a:r>
                        <a:rPr lang="en-US" sz="1700"/>
                        <a:t>(covering the larger fires) </a:t>
                      </a:r>
                    </a:p>
                  </a:txBody>
                  <a:tcPr marL="88653" marR="88653" marT="44327" marB="44327"/>
                </a:tc>
                <a:tc>
                  <a:txBody>
                    <a:bodyPr/>
                    <a:lstStyle/>
                    <a:p>
                      <a:pPr lvl="0" algn="ctr">
                        <a:buNone/>
                      </a:pPr>
                      <a:r>
                        <a:rPr lang="en-US" sz="1700"/>
                        <a:t>Date fire started</a:t>
                      </a:r>
                    </a:p>
                  </a:txBody>
                  <a:tcPr marL="88653" marR="88653" marT="44327" marB="44327"/>
                </a:tc>
                <a:tc>
                  <a:txBody>
                    <a:bodyPr/>
                    <a:lstStyle/>
                    <a:p>
                      <a:pPr lvl="0" algn="ctr">
                        <a:buNone/>
                      </a:pPr>
                      <a:r>
                        <a:rPr lang="en-US" sz="1700"/>
                        <a:t>Total acres burnt</a:t>
                      </a:r>
                    </a:p>
                  </a:txBody>
                  <a:tcPr marL="88653" marR="88653" marT="44327" marB="44327"/>
                </a:tc>
                <a:tc>
                  <a:txBody>
                    <a:bodyPr/>
                    <a:lstStyle/>
                    <a:p>
                      <a:pPr lvl="0" algn="ctr">
                        <a:buNone/>
                      </a:pPr>
                      <a:r>
                        <a:rPr lang="en-US" sz="1700" b="1" i="0" u="none" strike="noStrike" noProof="0">
                          <a:latin typeface="Century Gothic"/>
                        </a:rPr>
                        <a:t>Date fire was contained</a:t>
                      </a:r>
                      <a:endParaRPr lang="en-US" sz="1700" b="1"/>
                    </a:p>
                  </a:txBody>
                  <a:tcPr marL="88653" marR="88653" marT="44327" marB="44327"/>
                </a:tc>
                <a:tc>
                  <a:txBody>
                    <a:bodyPr/>
                    <a:lstStyle/>
                    <a:p>
                      <a:pPr lvl="0" algn="ctr">
                        <a:buNone/>
                      </a:pPr>
                      <a:r>
                        <a:rPr lang="en-US" sz="1700"/>
                        <a:t>Number of Structures Destroyed</a:t>
                      </a:r>
                    </a:p>
                  </a:txBody>
                  <a:tcPr marL="88653" marR="88653" marT="44327" marB="44327"/>
                </a:tc>
                <a:tc>
                  <a:txBody>
                    <a:bodyPr/>
                    <a:lstStyle/>
                    <a:p>
                      <a:pPr lvl="0" algn="ctr">
                        <a:buNone/>
                      </a:pPr>
                      <a:r>
                        <a:rPr lang="en-US" sz="1700"/>
                        <a:t>Economic Damages</a:t>
                      </a:r>
                    </a:p>
                  </a:txBody>
                  <a:tcPr marL="88653" marR="88653" marT="44327" marB="44327"/>
                </a:tc>
                <a:extLst>
                  <a:ext uri="{0D108BD9-81ED-4DB2-BD59-A6C34878D82A}">
                    <a16:rowId xmlns:a16="http://schemas.microsoft.com/office/drawing/2014/main" val="2365932276"/>
                  </a:ext>
                </a:extLst>
              </a:tr>
              <a:tr h="705738">
                <a:tc>
                  <a:txBody>
                    <a:bodyPr/>
                    <a:lstStyle/>
                    <a:p>
                      <a:pPr lvl="0">
                        <a:buNone/>
                      </a:pPr>
                      <a:r>
                        <a:rPr lang="en-US" sz="1700"/>
                        <a:t>The Palisades Fires</a:t>
                      </a:r>
                    </a:p>
                  </a:txBody>
                  <a:tcPr marL="88653" marR="88653" marT="44327" marB="44327"/>
                </a:tc>
                <a:tc>
                  <a:txBody>
                    <a:bodyPr/>
                    <a:lstStyle/>
                    <a:p>
                      <a:pPr lvl="0">
                        <a:buNone/>
                      </a:pPr>
                      <a:r>
                        <a:rPr lang="en-US" sz="1700"/>
                        <a:t>          Jan 7</a:t>
                      </a:r>
                      <a:r>
                        <a:rPr lang="en-US" sz="1700" baseline="30000"/>
                        <a:t>th</a:t>
                      </a:r>
                      <a:r>
                        <a:rPr lang="en-US" sz="1700"/>
                        <a:t> </a:t>
                      </a:r>
                    </a:p>
                  </a:txBody>
                  <a:tcPr marL="88653" marR="88653" marT="44327" marB="44327"/>
                </a:tc>
                <a:tc>
                  <a:txBody>
                    <a:bodyPr/>
                    <a:lstStyle/>
                    <a:p>
                      <a:pPr lvl="0">
                        <a:buNone/>
                      </a:pPr>
                      <a:r>
                        <a:rPr lang="en-US" sz="1700"/>
                        <a:t>        23,000</a:t>
                      </a:r>
                    </a:p>
                  </a:txBody>
                  <a:tcPr marL="88653" marR="88653" marT="44327" marB="44327"/>
                </a:tc>
                <a:tc>
                  <a:txBody>
                    <a:bodyPr/>
                    <a:lstStyle/>
                    <a:p>
                      <a:pPr lvl="0">
                        <a:buNone/>
                      </a:pPr>
                      <a:r>
                        <a:rPr lang="en-US" sz="1700"/>
                        <a:t>        Jan 31</a:t>
                      </a:r>
                      <a:r>
                        <a:rPr lang="en-US" sz="1700" baseline="30000"/>
                        <a:t>st</a:t>
                      </a:r>
                      <a:r>
                        <a:rPr lang="en-US" sz="1700"/>
                        <a:t> </a:t>
                      </a:r>
                    </a:p>
                  </a:txBody>
                  <a:tcPr marL="88653" marR="88653" marT="44327" marB="44327"/>
                </a:tc>
                <a:tc>
                  <a:txBody>
                    <a:bodyPr/>
                    <a:lstStyle/>
                    <a:p>
                      <a:pPr lvl="0">
                        <a:buNone/>
                      </a:pPr>
                      <a:r>
                        <a:rPr lang="en-US" sz="1700"/>
                        <a:t>           6,837</a:t>
                      </a:r>
                    </a:p>
                  </a:txBody>
                  <a:tcPr marL="88653" marR="88653" marT="44327" marB="44327"/>
                </a:tc>
                <a:tc>
                  <a:txBody>
                    <a:bodyPr/>
                    <a:lstStyle/>
                    <a:p>
                      <a:pPr lvl="0">
                        <a:buNone/>
                      </a:pPr>
                      <a:r>
                        <a:rPr lang="en-US" sz="1700"/>
                        <a:t>    </a:t>
                      </a:r>
                    </a:p>
                  </a:txBody>
                  <a:tcPr marL="88653" marR="88653" marT="44327" marB="44327"/>
                </a:tc>
                <a:extLst>
                  <a:ext uri="{0D108BD9-81ED-4DB2-BD59-A6C34878D82A}">
                    <a16:rowId xmlns:a16="http://schemas.microsoft.com/office/drawing/2014/main" val="3985012211"/>
                  </a:ext>
                </a:extLst>
              </a:tr>
              <a:tr h="803447">
                <a:tc>
                  <a:txBody>
                    <a:bodyPr/>
                    <a:lstStyle/>
                    <a:p>
                      <a:pPr lvl="0">
                        <a:buNone/>
                      </a:pPr>
                      <a:r>
                        <a:rPr lang="en-US" sz="1700"/>
                        <a:t>The Eaton Fires</a:t>
                      </a:r>
                    </a:p>
                  </a:txBody>
                  <a:tcPr marL="88653" marR="88653" marT="44327" marB="44327"/>
                </a:tc>
                <a:tc>
                  <a:txBody>
                    <a:bodyPr/>
                    <a:lstStyle/>
                    <a:p>
                      <a:pPr lvl="0">
                        <a:buNone/>
                      </a:pPr>
                      <a:r>
                        <a:rPr lang="en-US" sz="1700"/>
                        <a:t>          Jan 7</a:t>
                      </a:r>
                      <a:r>
                        <a:rPr lang="en-US" sz="1700" baseline="30000"/>
                        <a:t>th</a:t>
                      </a:r>
                      <a:r>
                        <a:rPr lang="en-US" sz="1700"/>
                        <a:t> </a:t>
                      </a:r>
                    </a:p>
                  </a:txBody>
                  <a:tcPr marL="88653" marR="88653" marT="44327" marB="44327"/>
                </a:tc>
                <a:tc>
                  <a:txBody>
                    <a:bodyPr/>
                    <a:lstStyle/>
                    <a:p>
                      <a:pPr lvl="0">
                        <a:buNone/>
                      </a:pPr>
                      <a:r>
                        <a:rPr lang="en-US" sz="1700"/>
                        <a:t>        14,021</a:t>
                      </a:r>
                    </a:p>
                  </a:txBody>
                  <a:tcPr marL="88653" marR="88653" marT="44327" marB="44327"/>
                </a:tc>
                <a:tc>
                  <a:txBody>
                    <a:bodyPr/>
                    <a:lstStyle/>
                    <a:p>
                      <a:pPr lvl="0">
                        <a:buNone/>
                      </a:pPr>
                      <a:r>
                        <a:rPr lang="en-US" sz="1700"/>
                        <a:t>        Jan 31st</a:t>
                      </a:r>
                    </a:p>
                  </a:txBody>
                  <a:tcPr marL="88653" marR="88653" marT="44327" marB="44327"/>
                </a:tc>
                <a:tc>
                  <a:txBody>
                    <a:bodyPr/>
                    <a:lstStyle/>
                    <a:p>
                      <a:pPr lvl="0">
                        <a:buNone/>
                      </a:pPr>
                      <a:r>
                        <a:rPr lang="en-US" sz="1700"/>
                        <a:t>          9,414</a:t>
                      </a:r>
                    </a:p>
                  </a:txBody>
                  <a:tcPr marL="88653" marR="88653" marT="44327" marB="44327"/>
                </a:tc>
                <a:tc>
                  <a:txBody>
                    <a:bodyPr/>
                    <a:lstStyle/>
                    <a:p>
                      <a:pPr lvl="0">
                        <a:buNone/>
                      </a:pPr>
                      <a:endParaRPr lang="en-US" sz="1700"/>
                    </a:p>
                  </a:txBody>
                  <a:tcPr marL="88653" marR="88653" marT="44327" marB="44327"/>
                </a:tc>
                <a:extLst>
                  <a:ext uri="{0D108BD9-81ED-4DB2-BD59-A6C34878D82A}">
                    <a16:rowId xmlns:a16="http://schemas.microsoft.com/office/drawing/2014/main" val="3499845935"/>
                  </a:ext>
                </a:extLst>
              </a:tr>
            </a:tbl>
          </a:graphicData>
        </a:graphic>
      </p:graphicFrame>
      <p:sp>
        <p:nvSpPr>
          <p:cNvPr id="16" name="TextBox 15">
            <a:extLst>
              <a:ext uri="{FF2B5EF4-FFF2-40B4-BE49-F238E27FC236}">
                <a16:creationId xmlns:a16="http://schemas.microsoft.com/office/drawing/2014/main" id="{37723F45-4159-D421-68B6-96A1F9DE4B06}"/>
              </a:ext>
            </a:extLst>
          </p:cNvPr>
          <p:cNvSpPr txBox="1"/>
          <p:nvPr/>
        </p:nvSpPr>
        <p:spPr>
          <a:xfrm>
            <a:off x="457184" y="5588746"/>
            <a:ext cx="11651342" cy="523220"/>
          </a:xfrm>
          <a:prstGeom prst="rect">
            <a:avLst/>
          </a:prstGeom>
          <a:noFill/>
        </p:spPr>
        <p:txBody>
          <a:bodyPr wrap="square" lIns="91440" tIns="45720" rIns="91440" bIns="45720" rtlCol="0" anchor="t">
            <a:spAutoFit/>
          </a:bodyPr>
          <a:lstStyle/>
          <a:p>
            <a:pPr marL="285750" indent="-285750">
              <a:buFont typeface="Arial"/>
              <a:buChar char="•"/>
            </a:pPr>
            <a:r>
              <a:rPr lang="en-US" sz="1400">
                <a:hlinkClick r:id="rId2"/>
              </a:rPr>
              <a:t>https://www.fire.ca.gov/incidents/2025</a:t>
            </a:r>
            <a:r>
              <a:rPr lang="en-US" sz="1400"/>
              <a:t> </a:t>
            </a:r>
            <a:endParaRPr lang="en-US"/>
          </a:p>
          <a:p>
            <a:pPr marL="285750" indent="-285750">
              <a:buFont typeface="Arial"/>
              <a:buChar char="•"/>
            </a:pPr>
            <a:r>
              <a:rPr lang="en-US" sz="1400">
                <a:hlinkClick r:id="rId3"/>
              </a:rPr>
              <a:t>https://www.dailynews.com/2025/02/27/palisades-and-eaton-wildfires-caused-up-to-53-8-billion-in-property-damage-study-finds/</a:t>
            </a:r>
            <a:r>
              <a:rPr lang="en-US" sz="1400"/>
              <a:t> </a:t>
            </a:r>
          </a:p>
        </p:txBody>
      </p:sp>
      <p:sp>
        <p:nvSpPr>
          <p:cNvPr id="17" name="TextBox 16">
            <a:extLst>
              <a:ext uri="{FF2B5EF4-FFF2-40B4-BE49-F238E27FC236}">
                <a16:creationId xmlns:a16="http://schemas.microsoft.com/office/drawing/2014/main" id="{F57CB8A4-5DF7-AAEA-6E7F-C6B7991B0EC7}"/>
              </a:ext>
            </a:extLst>
          </p:cNvPr>
          <p:cNvSpPr txBox="1"/>
          <p:nvPr/>
        </p:nvSpPr>
        <p:spPr>
          <a:xfrm>
            <a:off x="10114270" y="4023795"/>
            <a:ext cx="1631400" cy="1200329"/>
          </a:xfrm>
          <a:prstGeom prst="rect">
            <a:avLst/>
          </a:prstGeom>
          <a:noFill/>
        </p:spPr>
        <p:txBody>
          <a:bodyPr wrap="square" lIns="91440" tIns="45720" rIns="91440" bIns="45720" rtlCol="0" anchor="t">
            <a:spAutoFit/>
          </a:bodyPr>
          <a:lstStyle/>
          <a:p>
            <a:r>
              <a:rPr lang="en-US"/>
              <a:t>Combined    damages of $28 Billion - $53.8 Billion</a:t>
            </a:r>
          </a:p>
        </p:txBody>
      </p:sp>
      <p:sp>
        <p:nvSpPr>
          <p:cNvPr id="3" name="TextBox 2">
            <a:extLst>
              <a:ext uri="{FF2B5EF4-FFF2-40B4-BE49-F238E27FC236}">
                <a16:creationId xmlns:a16="http://schemas.microsoft.com/office/drawing/2014/main" id="{1CD717D8-5C3B-B292-E6D4-7EBC5AB80275}"/>
              </a:ext>
            </a:extLst>
          </p:cNvPr>
          <p:cNvSpPr txBox="1"/>
          <p:nvPr/>
        </p:nvSpPr>
        <p:spPr>
          <a:xfrm>
            <a:off x="10215253" y="6279903"/>
            <a:ext cx="17375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4" action="ppaction://hlinksldjump"/>
              </a:rPr>
              <a:t>Back to Q&amp;A</a:t>
            </a:r>
            <a:endParaRPr lang="en-US"/>
          </a:p>
        </p:txBody>
      </p:sp>
    </p:spTree>
    <p:extLst>
      <p:ext uri="{BB962C8B-B14F-4D97-AF65-F5344CB8AC3E}">
        <p14:creationId xmlns:p14="http://schemas.microsoft.com/office/powerpoint/2010/main" val="3394137125"/>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E7C348-6B60-2B01-997C-2E8DDB9EAF5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3C33857-7505-E4FF-B7C5-4A6F003881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2" name="Freeform 7">
            <a:extLst>
              <a:ext uri="{FF2B5EF4-FFF2-40B4-BE49-F238E27FC236}">
                <a16:creationId xmlns:a16="http://schemas.microsoft.com/office/drawing/2014/main" id="{7B1C2557-BBD2-34EF-66FB-ACB5F5338F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3D914E35-91FF-60C0-254A-FD16E041BBDE}"/>
              </a:ext>
            </a:extLst>
          </p:cNvPr>
          <p:cNvSpPr>
            <a:spLocks noGrp="1"/>
          </p:cNvSpPr>
          <p:nvPr>
            <p:ph type="title"/>
          </p:nvPr>
        </p:nvSpPr>
        <p:spPr>
          <a:xfrm>
            <a:off x="429371" y="551775"/>
            <a:ext cx="9252154" cy="1016654"/>
          </a:xfrm>
        </p:spPr>
        <p:txBody>
          <a:bodyPr>
            <a:normAutofit fontScale="90000"/>
          </a:bodyPr>
          <a:lstStyle/>
          <a:p>
            <a:pPr>
              <a:lnSpc>
                <a:spcPct val="90000"/>
              </a:lnSpc>
            </a:pPr>
            <a:r>
              <a:rPr lang="en-US">
                <a:solidFill>
                  <a:srgbClr val="FFFFFF"/>
                </a:solidFill>
                <a:ea typeface="+mj-lt"/>
                <a:cs typeface="+mj-lt"/>
              </a:rPr>
              <a:t>Existing Technologies vs. Our AI Technologies</a:t>
            </a:r>
            <a:endParaRPr lang="en-US"/>
          </a:p>
        </p:txBody>
      </p:sp>
      <p:sp>
        <p:nvSpPr>
          <p:cNvPr id="14" name="Rectangle 13">
            <a:extLst>
              <a:ext uri="{FF2B5EF4-FFF2-40B4-BE49-F238E27FC236}">
                <a16:creationId xmlns:a16="http://schemas.microsoft.com/office/drawing/2014/main" id="{071305EF-8AFA-BCEE-A772-E4030A5692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38B80ED9-6FF2-988B-F318-79BDB6F69642}"/>
              </a:ext>
            </a:extLst>
          </p:cNvPr>
          <p:cNvSpPr>
            <a:spLocks noGrp="1"/>
          </p:cNvSpPr>
          <p:nvPr>
            <p:ph type="sldNum" sz="quarter" idx="12"/>
          </p:nvPr>
        </p:nvSpPr>
        <p:spPr>
          <a:xfrm>
            <a:off x="10352540" y="295729"/>
            <a:ext cx="838199" cy="767687"/>
          </a:xfrm>
        </p:spPr>
        <p:txBody>
          <a:bodyPr>
            <a:normAutofit/>
          </a:bodyPr>
          <a:lstStyle/>
          <a:p>
            <a:pPr>
              <a:spcAft>
                <a:spcPts val="600"/>
              </a:spcAft>
            </a:pPr>
            <a:fld id="{F726F5A5-9172-A445-B9BD-F8F0698F3076}" type="slidenum">
              <a:rPr lang="en-US">
                <a:solidFill>
                  <a:srgbClr val="FFFFFF"/>
                </a:solidFill>
              </a:rPr>
              <a:pPr>
                <a:spcAft>
                  <a:spcPts val="600"/>
                </a:spcAft>
              </a:pPr>
              <a:t>36</a:t>
            </a:fld>
            <a:endParaRPr lang="en-US">
              <a:solidFill>
                <a:srgbClr val="FFFFFF"/>
              </a:solidFill>
            </a:endParaRPr>
          </a:p>
        </p:txBody>
      </p:sp>
      <p:sp>
        <p:nvSpPr>
          <p:cNvPr id="16" name="Freeform: Shape 15">
            <a:extLst>
              <a:ext uri="{FF2B5EF4-FFF2-40B4-BE49-F238E27FC236}">
                <a16:creationId xmlns:a16="http://schemas.microsoft.com/office/drawing/2014/main" id="{421E9AD9-00FF-7A09-2347-9F4B9F84E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5" name="Content Placeholder 4">
            <a:extLst>
              <a:ext uri="{FF2B5EF4-FFF2-40B4-BE49-F238E27FC236}">
                <a16:creationId xmlns:a16="http://schemas.microsoft.com/office/drawing/2014/main" id="{88C118D7-A4C6-214C-6841-11984DA5F1CE}"/>
              </a:ext>
            </a:extLst>
          </p:cNvPr>
          <p:cNvGraphicFramePr>
            <a:graphicFrameLocks noGrp="1"/>
          </p:cNvGraphicFramePr>
          <p:nvPr>
            <p:ph idx="1"/>
            <p:extLst>
              <p:ext uri="{D42A27DB-BD31-4B8C-83A1-F6EECF244321}">
                <p14:modId xmlns:p14="http://schemas.microsoft.com/office/powerpoint/2010/main" val="1429787591"/>
              </p:ext>
            </p:extLst>
          </p:nvPr>
        </p:nvGraphicFramePr>
        <p:xfrm>
          <a:off x="427972" y="2338191"/>
          <a:ext cx="8630751" cy="4139470"/>
        </p:xfrm>
        <a:graphic>
          <a:graphicData uri="http://schemas.openxmlformats.org/drawingml/2006/table">
            <a:tbl>
              <a:tblPr firstRow="1" bandRow="1">
                <a:tableStyleId>{D27102A9-8310-4765-A935-A1911B00CA55}</a:tableStyleId>
              </a:tblPr>
              <a:tblGrid>
                <a:gridCol w="2616243">
                  <a:extLst>
                    <a:ext uri="{9D8B030D-6E8A-4147-A177-3AD203B41FA5}">
                      <a16:colId xmlns:a16="http://schemas.microsoft.com/office/drawing/2014/main" val="3701258614"/>
                    </a:ext>
                  </a:extLst>
                </a:gridCol>
                <a:gridCol w="3007254">
                  <a:extLst>
                    <a:ext uri="{9D8B030D-6E8A-4147-A177-3AD203B41FA5}">
                      <a16:colId xmlns:a16="http://schemas.microsoft.com/office/drawing/2014/main" val="3461858478"/>
                    </a:ext>
                  </a:extLst>
                </a:gridCol>
                <a:gridCol w="3007254">
                  <a:extLst>
                    <a:ext uri="{9D8B030D-6E8A-4147-A177-3AD203B41FA5}">
                      <a16:colId xmlns:a16="http://schemas.microsoft.com/office/drawing/2014/main" val="4265057768"/>
                    </a:ext>
                  </a:extLst>
                </a:gridCol>
              </a:tblGrid>
              <a:tr h="859553">
                <a:tc>
                  <a:txBody>
                    <a:bodyPr/>
                    <a:lstStyle/>
                    <a:p>
                      <a:pPr lvl="0" algn="ctr">
                        <a:buNone/>
                      </a:pPr>
                      <a:r>
                        <a:rPr lang="en-US" sz="1700" b="1" i="0" u="none" strike="noStrike" noProof="0" err="1">
                          <a:solidFill>
                            <a:srgbClr val="000000"/>
                          </a:solidFill>
                          <a:latin typeface="Century Gothic"/>
                        </a:rPr>
                        <a:t>ExtinguishAI</a:t>
                      </a:r>
                      <a:r>
                        <a:rPr lang="en-US" sz="1700" b="1" i="0" u="none" strike="noStrike" noProof="0">
                          <a:solidFill>
                            <a:srgbClr val="000000"/>
                          </a:solidFill>
                          <a:latin typeface="Century Gothic"/>
                        </a:rPr>
                        <a:t> Potential Software Technologies</a:t>
                      </a:r>
                      <a:endParaRPr lang="en-US" b="1"/>
                    </a:p>
                  </a:txBody>
                  <a:tcPr marL="88653" marR="88653" marT="44327" marB="44327"/>
                </a:tc>
                <a:tc>
                  <a:txBody>
                    <a:bodyPr/>
                    <a:lstStyle/>
                    <a:p>
                      <a:pPr lvl="0" algn="ctr">
                        <a:buNone/>
                      </a:pPr>
                      <a:r>
                        <a:rPr lang="en-US" sz="1700" b="1" i="0" u="none" strike="noStrike" noProof="0">
                          <a:latin typeface="Century Gothic"/>
                        </a:rPr>
                        <a:t>NASA's </a:t>
                      </a:r>
                      <a:r>
                        <a:rPr lang="en-US" sz="1700" b="1" i="0" u="none" strike="noStrike" noProof="0" err="1">
                          <a:latin typeface="Century Gothic"/>
                        </a:rPr>
                        <a:t>FireSense</a:t>
                      </a:r>
                      <a:r>
                        <a:rPr lang="en-US" sz="1700" b="1" i="0" u="none" strike="noStrike" noProof="0">
                          <a:latin typeface="Century Gothic"/>
                        </a:rPr>
                        <a:t> Software Technologies</a:t>
                      </a:r>
                      <a:endParaRPr lang="en-US" sz="1700" b="1"/>
                    </a:p>
                  </a:txBody>
                  <a:tcPr marL="88653" marR="88653" marT="44327" marB="44327"/>
                </a:tc>
                <a:tc>
                  <a:txBody>
                    <a:bodyPr/>
                    <a:lstStyle/>
                    <a:p>
                      <a:pPr lvl="0" algn="l">
                        <a:lnSpc>
                          <a:spcPct val="100000"/>
                        </a:lnSpc>
                        <a:spcBef>
                          <a:spcPts val="0"/>
                        </a:spcBef>
                        <a:spcAft>
                          <a:spcPts val="0"/>
                        </a:spcAft>
                        <a:buNone/>
                      </a:pPr>
                      <a:r>
                        <a:rPr lang="en-US" sz="1800" b="1" i="0" u="none" strike="noStrike" noProof="0">
                          <a:solidFill>
                            <a:srgbClr val="000000"/>
                          </a:solidFill>
                          <a:latin typeface="Century Gothic"/>
                        </a:rPr>
                        <a:t>UCSD </a:t>
                      </a:r>
                      <a:r>
                        <a:rPr lang="en-US" sz="1800" b="1" i="0" u="none" strike="noStrike" noProof="0" err="1">
                          <a:solidFill>
                            <a:srgbClr val="000000"/>
                          </a:solidFill>
                          <a:latin typeface="Century Gothic"/>
                        </a:rPr>
                        <a:t>ALERTCalifornia</a:t>
                      </a:r>
                      <a:r>
                        <a:rPr lang="en-US" sz="1800" b="1" i="0" u="none" strike="noStrike" noProof="0">
                          <a:solidFill>
                            <a:srgbClr val="000000"/>
                          </a:solidFill>
                          <a:latin typeface="Century Gothic"/>
                        </a:rPr>
                        <a:t> Software Technologies</a:t>
                      </a:r>
                    </a:p>
                    <a:p>
                      <a:pPr lvl="0" algn="ctr">
                        <a:buNone/>
                      </a:pPr>
                      <a:endParaRPr lang="en-US" sz="1700" b="1" i="0" u="none" strike="noStrike" noProof="0">
                        <a:latin typeface="Century Gothic"/>
                      </a:endParaRPr>
                    </a:p>
                  </a:txBody>
                  <a:tcPr marL="88653" marR="88653" marT="44326" marB="44326"/>
                </a:tc>
                <a:extLst>
                  <a:ext uri="{0D108BD9-81ED-4DB2-BD59-A6C34878D82A}">
                    <a16:rowId xmlns:a16="http://schemas.microsoft.com/office/drawing/2014/main" val="2365932276"/>
                  </a:ext>
                </a:extLst>
              </a:tr>
              <a:tr h="582746">
                <a:tc>
                  <a:txBody>
                    <a:bodyPr/>
                    <a:lstStyle/>
                    <a:p>
                      <a:pPr lvl="0">
                        <a:buNone/>
                      </a:pPr>
                      <a:r>
                        <a:rPr lang="en-US" sz="1700" b="0" i="0" u="none" strike="noStrike" noProof="0">
                          <a:latin typeface="Century Gothic"/>
                        </a:rPr>
                        <a:t>AI mobile app</a:t>
                      </a:r>
                    </a:p>
                  </a:txBody>
                  <a:tcPr marL="88653" marR="88653" marT="44327" marB="44327"/>
                </a:tc>
                <a:tc>
                  <a:txBody>
                    <a:bodyPr/>
                    <a:lstStyle/>
                    <a:p>
                      <a:pPr lvl="0">
                        <a:buNone/>
                      </a:pPr>
                      <a:r>
                        <a:rPr lang="en-US" sz="1700" b="0" i="0" u="none" strike="noStrike" noProof="0">
                          <a:latin typeface="Century Gothic"/>
                        </a:rPr>
                        <a:t>AI drone swarms</a:t>
                      </a:r>
                    </a:p>
                  </a:txBody>
                  <a:tcPr marL="88653" marR="88653" marT="44327" marB="44327"/>
                </a:tc>
                <a:tc>
                  <a:txBody>
                    <a:bodyPr/>
                    <a:lstStyle/>
                    <a:p>
                      <a:pPr lvl="0">
                        <a:buNone/>
                      </a:pPr>
                      <a:r>
                        <a:rPr lang="en-US" sz="1700" b="0" i="0" u="none" strike="noStrike" noProof="0">
                          <a:latin typeface="Century Gothic"/>
                        </a:rPr>
                        <a:t>AI systems – Real time video feeds</a:t>
                      </a:r>
                    </a:p>
                  </a:txBody>
                  <a:tcPr marL="88653" marR="88653" marT="44326" marB="44326"/>
                </a:tc>
                <a:extLst>
                  <a:ext uri="{0D108BD9-81ED-4DB2-BD59-A6C34878D82A}">
                    <a16:rowId xmlns:a16="http://schemas.microsoft.com/office/drawing/2014/main" val="3985012211"/>
                  </a:ext>
                </a:extLst>
              </a:tr>
              <a:tr h="815846">
                <a:tc>
                  <a:txBody>
                    <a:bodyPr/>
                    <a:lstStyle/>
                    <a:p>
                      <a:pPr lvl="0">
                        <a:buNone/>
                      </a:pPr>
                      <a:r>
                        <a:rPr lang="en-US" sz="1700" b="0" i="0" u="none" strike="noStrike" noProof="0">
                          <a:latin typeface="Century Gothic"/>
                        </a:rPr>
                        <a:t>Cloud based AI data processing </a:t>
                      </a:r>
                    </a:p>
                  </a:txBody>
                  <a:tcPr marL="88653" marR="88653" marT="44327" marB="44327"/>
                </a:tc>
                <a:tc>
                  <a:txBody>
                    <a:bodyPr/>
                    <a:lstStyle/>
                    <a:p>
                      <a:pPr lvl="0">
                        <a:buNone/>
                      </a:pPr>
                      <a:r>
                        <a:rPr lang="en-US" sz="1700" b="0" i="0" u="none" strike="noStrike" noProof="0">
                          <a:latin typeface="Century Gothic"/>
                        </a:rPr>
                        <a:t>AI high resolution risk maps</a:t>
                      </a:r>
                    </a:p>
                  </a:txBody>
                  <a:tcPr marL="88653" marR="88653" marT="44327" marB="44327"/>
                </a:tc>
                <a:tc>
                  <a:txBody>
                    <a:bodyPr/>
                    <a:lstStyle/>
                    <a:p>
                      <a:pPr lvl="0">
                        <a:buNone/>
                      </a:pPr>
                      <a:r>
                        <a:rPr lang="en-US" sz="1700" b="0" i="0" u="none" strike="noStrike" noProof="0">
                          <a:latin typeface="Century Gothic"/>
                        </a:rPr>
                        <a:t>AI </a:t>
                      </a:r>
                      <a:r>
                        <a:rPr lang="en-US" sz="1700" b="0" i="0" u="none" strike="noStrike" noProof="0"/>
                        <a:t>Automated Alerts &amp; Early Warning System</a:t>
                      </a:r>
                      <a:endParaRPr lang="en-US" sz="1700" b="0" i="0" u="none" strike="noStrike" noProof="0">
                        <a:latin typeface="Century Gothic"/>
                      </a:endParaRPr>
                    </a:p>
                  </a:txBody>
                  <a:tcPr marL="88653" marR="88653" marT="44326" marB="44326"/>
                </a:tc>
                <a:extLst>
                  <a:ext uri="{0D108BD9-81ED-4DB2-BD59-A6C34878D82A}">
                    <a16:rowId xmlns:a16="http://schemas.microsoft.com/office/drawing/2014/main" val="3270232456"/>
                  </a:ext>
                </a:extLst>
              </a:tr>
              <a:tr h="582746">
                <a:tc>
                  <a:txBody>
                    <a:bodyPr/>
                    <a:lstStyle/>
                    <a:p>
                      <a:pPr lvl="0">
                        <a:buNone/>
                      </a:pPr>
                      <a:r>
                        <a:rPr lang="en-US" sz="1700" b="0" i="0" u="none" strike="noStrike" noProof="0">
                          <a:latin typeface="Century Gothic"/>
                        </a:rPr>
                        <a:t>Blockchain integration</a:t>
                      </a:r>
                    </a:p>
                  </a:txBody>
                  <a:tcPr marL="88653" marR="88653" marT="44327" marB="44327"/>
                </a:tc>
                <a:tc>
                  <a:txBody>
                    <a:bodyPr/>
                    <a:lstStyle/>
                    <a:p>
                      <a:pPr lvl="0">
                        <a:buNone/>
                      </a:pPr>
                      <a:r>
                        <a:rPr lang="en-US" sz="1700" b="0" i="0" u="none" strike="noStrike" noProof="0">
                          <a:latin typeface="Century Gothic"/>
                        </a:rPr>
                        <a:t>AI machine learning to forecast </a:t>
                      </a:r>
                    </a:p>
                  </a:txBody>
                  <a:tcPr marL="88653" marR="88653" marT="44327" marB="44327"/>
                </a:tc>
                <a:tc>
                  <a:txBody>
                    <a:bodyPr/>
                    <a:lstStyle/>
                    <a:p>
                      <a:pPr lvl="0">
                        <a:buNone/>
                      </a:pPr>
                      <a:r>
                        <a:rPr lang="en-US" sz="1700" b="0" i="0" u="none" strike="noStrike" noProof="0">
                          <a:latin typeface="Century Gothic"/>
                        </a:rPr>
                        <a:t>AI </a:t>
                      </a:r>
                      <a:r>
                        <a:rPr lang="en-US" sz="1700" b="0" i="0" u="none" strike="noStrike" noProof="0"/>
                        <a:t>Smoke and Fire Detection</a:t>
                      </a:r>
                      <a:endParaRPr lang="en-US" sz="1700" b="0" i="0" u="none" strike="noStrike" noProof="0">
                        <a:latin typeface="Century Gothic"/>
                      </a:endParaRPr>
                    </a:p>
                  </a:txBody>
                  <a:tcPr marL="88653" marR="88653" marT="44326" marB="44326"/>
                </a:tc>
                <a:extLst>
                  <a:ext uri="{0D108BD9-81ED-4DB2-BD59-A6C34878D82A}">
                    <a16:rowId xmlns:a16="http://schemas.microsoft.com/office/drawing/2014/main" val="570710024"/>
                  </a:ext>
                </a:extLst>
              </a:tr>
              <a:tr h="582746">
                <a:tc>
                  <a:txBody>
                    <a:bodyPr/>
                    <a:lstStyle/>
                    <a:p>
                      <a:pPr lvl="0">
                        <a:buNone/>
                      </a:pPr>
                      <a:r>
                        <a:rPr lang="en-US" sz="1700" b="0" i="0" u="none" strike="noStrike" noProof="0">
                          <a:latin typeface="Century Gothic"/>
                        </a:rPr>
                        <a:t>AI optimized maintenance </a:t>
                      </a:r>
                    </a:p>
                  </a:txBody>
                  <a:tcPr marL="88653" marR="88653" marT="44327" marB="44327"/>
                </a:tc>
                <a:tc>
                  <a:txBody>
                    <a:bodyPr/>
                    <a:lstStyle/>
                    <a:p>
                      <a:pPr lvl="0">
                        <a:buNone/>
                      </a:pPr>
                      <a:r>
                        <a:rPr lang="en-US" sz="1700" b="0" i="0" u="none" strike="noStrike" noProof="0"/>
                        <a:t>AI Electrical Fault Detection </a:t>
                      </a:r>
                      <a:endParaRPr lang="en-US"/>
                    </a:p>
                  </a:txBody>
                  <a:tcPr marL="88653" marR="88653" marT="44327" marB="44327"/>
                </a:tc>
                <a:tc>
                  <a:txBody>
                    <a:bodyPr/>
                    <a:lstStyle/>
                    <a:p>
                      <a:pPr lvl="0">
                        <a:buNone/>
                      </a:pPr>
                      <a:r>
                        <a:rPr lang="en-US" sz="1700" b="0" i="0" u="none" strike="noStrike" noProof="0"/>
                        <a:t>Crowdsourced &amp; Human-in-the-Loop AI Training</a:t>
                      </a:r>
                      <a:endParaRPr lang="en-US"/>
                    </a:p>
                  </a:txBody>
                  <a:tcPr marL="88653" marR="88653" marT="44326" marB="44326"/>
                </a:tc>
                <a:extLst>
                  <a:ext uri="{0D108BD9-81ED-4DB2-BD59-A6C34878D82A}">
                    <a16:rowId xmlns:a16="http://schemas.microsoft.com/office/drawing/2014/main" val="1199696393"/>
                  </a:ext>
                </a:extLst>
              </a:tr>
              <a:tr h="582746">
                <a:tc>
                  <a:txBody>
                    <a:bodyPr/>
                    <a:lstStyle/>
                    <a:p>
                      <a:pPr lvl="0">
                        <a:buNone/>
                      </a:pPr>
                      <a:endParaRPr lang="en-US" sz="1700" b="0" i="0" u="none" strike="noStrike" noProof="0"/>
                    </a:p>
                  </a:txBody>
                  <a:tcPr marL="88653" marR="88653" marT="44327" marB="44327"/>
                </a:tc>
                <a:tc>
                  <a:txBody>
                    <a:bodyPr/>
                    <a:lstStyle/>
                    <a:p>
                      <a:pPr lvl="0">
                        <a:buNone/>
                      </a:pPr>
                      <a:endParaRPr lang="en-US" sz="1700" b="0" i="0" u="none" strike="noStrike" noProof="0">
                        <a:latin typeface="Century Gothic"/>
                      </a:endParaRPr>
                    </a:p>
                  </a:txBody>
                  <a:tcPr marL="88653" marR="88653" marT="44327" marB="44327"/>
                </a:tc>
                <a:tc>
                  <a:txBody>
                    <a:bodyPr/>
                    <a:lstStyle/>
                    <a:p>
                      <a:pPr lvl="0">
                        <a:buNone/>
                      </a:pPr>
                      <a:r>
                        <a:rPr lang="en-US" sz="1700" b="0" i="0" u="none" strike="noStrike" noProof="0"/>
                        <a:t>AI-Powered Fire Spread Prediction </a:t>
                      </a:r>
                      <a:endParaRPr lang="en-US"/>
                    </a:p>
                  </a:txBody>
                  <a:tcPr marL="88653" marR="88653" marT="44326" marB="44326"/>
                </a:tc>
                <a:extLst>
                  <a:ext uri="{0D108BD9-81ED-4DB2-BD59-A6C34878D82A}">
                    <a16:rowId xmlns:a16="http://schemas.microsoft.com/office/drawing/2014/main" val="1331801006"/>
                  </a:ext>
                </a:extLst>
              </a:tr>
            </a:tbl>
          </a:graphicData>
        </a:graphic>
      </p:graphicFrame>
      <p:sp>
        <p:nvSpPr>
          <p:cNvPr id="6" name="TextBox 5">
            <a:extLst>
              <a:ext uri="{FF2B5EF4-FFF2-40B4-BE49-F238E27FC236}">
                <a16:creationId xmlns:a16="http://schemas.microsoft.com/office/drawing/2014/main" id="{B41EC1FC-462F-4F36-D98D-14DB52A057E1}"/>
              </a:ext>
            </a:extLst>
          </p:cNvPr>
          <p:cNvSpPr txBox="1"/>
          <p:nvPr/>
        </p:nvSpPr>
        <p:spPr>
          <a:xfrm>
            <a:off x="9638006" y="3613713"/>
            <a:ext cx="2258315"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a:ea typeface="+mn-lt"/>
                <a:cs typeface="+mn-lt"/>
              </a:rPr>
              <a:t>Our proposals are feasible due to the existence of projects which demonstrate the potential of advanced AI-driven wildfire detection and monitoring systems.</a:t>
            </a:r>
            <a:endParaRPr lang="en-US" sz="1200" b="1"/>
          </a:p>
          <a:p>
            <a:endParaRPr lang="en-US" sz="1200" b="1"/>
          </a:p>
        </p:txBody>
      </p:sp>
      <p:sp>
        <p:nvSpPr>
          <p:cNvPr id="8" name="TextBox 7">
            <a:extLst>
              <a:ext uri="{FF2B5EF4-FFF2-40B4-BE49-F238E27FC236}">
                <a16:creationId xmlns:a16="http://schemas.microsoft.com/office/drawing/2014/main" id="{B24B8377-458C-59F7-6CF2-097837AEA780}"/>
              </a:ext>
            </a:extLst>
          </p:cNvPr>
          <p:cNvSpPr txBox="1"/>
          <p:nvPr/>
        </p:nvSpPr>
        <p:spPr>
          <a:xfrm>
            <a:off x="-109234" y="6469005"/>
            <a:ext cx="8825751" cy="6924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
                <a:hlinkClick r:id="rId2"/>
              </a:rPr>
              <a:t>https://esto.nasa.gov/firesense2022final/</a:t>
            </a:r>
            <a:endParaRPr lang="en-US" sz="900"/>
          </a:p>
          <a:p>
            <a:pPr algn="ctr"/>
            <a:r>
              <a:rPr lang="en-US" sz="900">
                <a:ea typeface="+mn-lt"/>
                <a:cs typeface="+mn-lt"/>
                <a:hlinkClick r:id="rId3"/>
              </a:rPr>
              <a:t>https://today.ucsd.edu/story/alertcalifornia-and-cal-fires-fire-detection-ai-program-named-one-of-times-best-inventions-of-2023</a:t>
            </a:r>
            <a:endParaRPr lang="en-US" sz="900"/>
          </a:p>
          <a:p>
            <a:pPr algn="ctr"/>
            <a:endParaRPr lang="en-US" sz="1000"/>
          </a:p>
          <a:p>
            <a:pPr algn="ctr"/>
            <a:endParaRPr lang="en-US" sz="1100"/>
          </a:p>
        </p:txBody>
      </p:sp>
      <p:sp>
        <p:nvSpPr>
          <p:cNvPr id="9" name="TextBox 8">
            <a:extLst>
              <a:ext uri="{FF2B5EF4-FFF2-40B4-BE49-F238E27FC236}">
                <a16:creationId xmlns:a16="http://schemas.microsoft.com/office/drawing/2014/main" id="{DDF4728D-63DF-BE43-CE04-E8C398D8D1A5}"/>
              </a:ext>
            </a:extLst>
          </p:cNvPr>
          <p:cNvSpPr txBox="1"/>
          <p:nvPr/>
        </p:nvSpPr>
        <p:spPr>
          <a:xfrm>
            <a:off x="10265721" y="6446333"/>
            <a:ext cx="16367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a:solidFill>
                  <a:srgbClr val="58C1BA"/>
                </a:solidFill>
                <a:hlinkClick r:id="rId4" action="ppaction://hlinksldjump"/>
              </a:rPr>
              <a:t>Back to Q&amp;A</a:t>
            </a:r>
            <a:endParaRPr lang="en-US"/>
          </a:p>
        </p:txBody>
      </p:sp>
    </p:spTree>
    <p:extLst>
      <p:ext uri="{BB962C8B-B14F-4D97-AF65-F5344CB8AC3E}">
        <p14:creationId xmlns:p14="http://schemas.microsoft.com/office/powerpoint/2010/main" val="1383472529"/>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Rectangle 10">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 name="Slide Number Placeholder 3">
            <a:extLst>
              <a:ext uri="{FF2B5EF4-FFF2-40B4-BE49-F238E27FC236}">
                <a16:creationId xmlns:a16="http://schemas.microsoft.com/office/drawing/2014/main" id="{F3CC73F2-A643-0196-A24E-0A273EAC2ED8}"/>
              </a:ext>
            </a:extLst>
          </p:cNvPr>
          <p:cNvSpPr>
            <a:spLocks noGrp="1"/>
          </p:cNvSpPr>
          <p:nvPr>
            <p:ph type="sldNum" sz="quarter" idx="12"/>
          </p:nvPr>
        </p:nvSpPr>
        <p:spPr>
          <a:xfrm>
            <a:off x="10352540" y="295729"/>
            <a:ext cx="838199" cy="76768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fld id="{F726F5A5-9172-A445-B9BD-F8F0698F3076}" type="slidenum">
              <a:rPr kumimoji="0" lang="en-US" sz="2800" b="0" i="0" u="none" strike="noStrike" kern="1200" cap="none" spc="0" normalizeH="0" baseline="0" noProof="0">
                <a:ln>
                  <a:noFill/>
                </a:ln>
                <a:solidFill>
                  <a:srgbClr val="FFFFFF"/>
                </a:solidFill>
                <a:effectLst/>
                <a:uLnTx/>
                <a:uFillTx/>
                <a:latin typeface="Century Gothic" panose="020B0502020202020204"/>
                <a:ea typeface="+mn-ea"/>
                <a:cs typeface="+mn-cs"/>
              </a:rPr>
              <a:pPr marL="0" marR="0" lvl="0" indent="0" algn="ctr" defTabSz="457200" rtl="0" eaLnBrk="1" fontAlgn="auto" latinLnBrk="0" hangingPunct="1">
                <a:lnSpc>
                  <a:spcPct val="100000"/>
                </a:lnSpc>
                <a:spcBef>
                  <a:spcPts val="0"/>
                </a:spcBef>
                <a:spcAft>
                  <a:spcPts val="600"/>
                </a:spcAft>
                <a:buClrTx/>
                <a:buSzTx/>
                <a:buFontTx/>
                <a:buNone/>
                <a:tabLst/>
                <a:defRPr/>
              </a:pPr>
              <a:t>37</a:t>
            </a:fld>
            <a:endParaRPr kumimoji="0" lang="en-US" sz="2800" b="0" i="0" u="none" strike="noStrike" kern="1200" cap="none" spc="0" normalizeH="0" baseline="0" noProof="0">
              <a:ln>
                <a:noFill/>
              </a:ln>
              <a:solidFill>
                <a:srgbClr val="FFFFFF"/>
              </a:solidFill>
              <a:effectLst/>
              <a:uLnTx/>
              <a:uFillTx/>
              <a:latin typeface="Century Gothic" panose="020B0502020202020204"/>
              <a:ea typeface="+mn-ea"/>
              <a:cs typeface="+mn-cs"/>
            </a:endParaRPr>
          </a:p>
        </p:txBody>
      </p:sp>
      <p:sp>
        <p:nvSpPr>
          <p:cNvPr id="13"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5" name="Freeform: Shape 14">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98481169-621F-49D0-EF55-6F699E659A62}"/>
              </a:ext>
            </a:extLst>
          </p:cNvPr>
          <p:cNvSpPr>
            <a:spLocks noGrp="1"/>
          </p:cNvSpPr>
          <p:nvPr>
            <p:ph type="title"/>
          </p:nvPr>
        </p:nvSpPr>
        <p:spPr>
          <a:xfrm>
            <a:off x="1614488" y="561558"/>
            <a:ext cx="8488913" cy="1400530"/>
          </a:xfrm>
        </p:spPr>
        <p:txBody>
          <a:bodyPr anchor="ctr">
            <a:normAutofit/>
          </a:bodyPr>
          <a:lstStyle/>
          <a:p>
            <a:pPr algn="ctr"/>
            <a:r>
              <a:rPr lang="en-US">
                <a:solidFill>
                  <a:srgbClr val="FFFFFF"/>
                </a:solidFill>
              </a:rPr>
              <a:t>   Fire Detection Processes</a:t>
            </a:r>
          </a:p>
        </p:txBody>
      </p:sp>
      <p:graphicFrame>
        <p:nvGraphicFramePr>
          <p:cNvPr id="14" name="Content Placeholder 4">
            <a:extLst>
              <a:ext uri="{FF2B5EF4-FFF2-40B4-BE49-F238E27FC236}">
                <a16:creationId xmlns:a16="http://schemas.microsoft.com/office/drawing/2014/main" id="{F9A8B74F-3355-3967-F840-0A91797D871C}"/>
              </a:ext>
            </a:extLst>
          </p:cNvPr>
          <p:cNvGraphicFramePr>
            <a:graphicFrameLocks/>
          </p:cNvGraphicFramePr>
          <p:nvPr/>
        </p:nvGraphicFramePr>
        <p:xfrm>
          <a:off x="446331" y="2571447"/>
          <a:ext cx="11288469" cy="3775015"/>
        </p:xfrm>
        <a:graphic>
          <a:graphicData uri="http://schemas.openxmlformats.org/drawingml/2006/table">
            <a:tbl>
              <a:tblPr firstRow="1" bandRow="1">
                <a:tableStyleId>{D27102A9-8310-4765-A935-A1911B00CA55}</a:tableStyleId>
              </a:tblPr>
              <a:tblGrid>
                <a:gridCol w="2752347">
                  <a:extLst>
                    <a:ext uri="{9D8B030D-6E8A-4147-A177-3AD203B41FA5}">
                      <a16:colId xmlns:a16="http://schemas.microsoft.com/office/drawing/2014/main" val="346098950"/>
                    </a:ext>
                  </a:extLst>
                </a:gridCol>
                <a:gridCol w="2845374">
                  <a:extLst>
                    <a:ext uri="{9D8B030D-6E8A-4147-A177-3AD203B41FA5}">
                      <a16:colId xmlns:a16="http://schemas.microsoft.com/office/drawing/2014/main" val="3461858478"/>
                    </a:ext>
                  </a:extLst>
                </a:gridCol>
                <a:gridCol w="2845374">
                  <a:extLst>
                    <a:ext uri="{9D8B030D-6E8A-4147-A177-3AD203B41FA5}">
                      <a16:colId xmlns:a16="http://schemas.microsoft.com/office/drawing/2014/main" val="3399828540"/>
                    </a:ext>
                  </a:extLst>
                </a:gridCol>
                <a:gridCol w="2845374">
                  <a:extLst>
                    <a:ext uri="{9D8B030D-6E8A-4147-A177-3AD203B41FA5}">
                      <a16:colId xmlns:a16="http://schemas.microsoft.com/office/drawing/2014/main" val="1895119917"/>
                    </a:ext>
                  </a:extLst>
                </a:gridCol>
              </a:tblGrid>
              <a:tr h="804501">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700"/>
                        <a:t>Criteria</a:t>
                      </a:r>
                    </a:p>
                  </a:txBody>
                  <a:tcPr marL="88653" marR="88653" marT="44327" marB="44327" anchor="ctr"/>
                </a:tc>
                <a:tc>
                  <a:txBody>
                    <a:bodyPr/>
                    <a:lstStyle/>
                    <a:p>
                      <a:pPr lvl="0" algn="ctr">
                        <a:buNone/>
                      </a:pPr>
                      <a:r>
                        <a:rPr lang="en-US" sz="1700" err="1"/>
                        <a:t>ExtinguishAI</a:t>
                      </a:r>
                      <a:r>
                        <a:rPr lang="en-US" sz="1700"/>
                        <a:t> Fire Detection Potential</a:t>
                      </a:r>
                    </a:p>
                  </a:txBody>
                  <a:tcPr marL="88653" marR="88653" marT="44327" marB="44327" anchor="ctr"/>
                </a:tc>
                <a:tc>
                  <a:txBody>
                    <a:bodyPr/>
                    <a:lstStyle/>
                    <a:p>
                      <a:pPr lvl="0" algn="ctr">
                        <a:buNone/>
                      </a:pPr>
                      <a:r>
                        <a:rPr lang="en-US" sz="1700"/>
                        <a:t>NASA </a:t>
                      </a:r>
                      <a:r>
                        <a:rPr lang="en-US" sz="1700" err="1"/>
                        <a:t>FireSense</a:t>
                      </a:r>
                      <a:r>
                        <a:rPr lang="en-US" sz="1700"/>
                        <a:t> Fire Detection Programming</a:t>
                      </a:r>
                    </a:p>
                  </a:txBody>
                  <a:tcPr marL="88653" marR="88653" marT="44327" marB="44327"/>
                </a:tc>
                <a:tc>
                  <a:txBody>
                    <a:bodyPr/>
                    <a:lstStyle/>
                    <a:p>
                      <a:pPr lvl="0" algn="ctr">
                        <a:buNone/>
                      </a:pPr>
                      <a:r>
                        <a:rPr lang="en-US" sz="1700"/>
                        <a:t>UCSD </a:t>
                      </a:r>
                      <a:r>
                        <a:rPr lang="en-US" sz="1700" err="1"/>
                        <a:t>ALERTCalifornia</a:t>
                      </a:r>
                      <a:r>
                        <a:rPr lang="en-US" sz="1700"/>
                        <a:t> Fire Detection Programming</a:t>
                      </a:r>
                    </a:p>
                  </a:txBody>
                  <a:tcPr marL="88653" marR="88653" marT="44327" marB="44327"/>
                </a:tc>
                <a:extLst>
                  <a:ext uri="{0D108BD9-81ED-4DB2-BD59-A6C34878D82A}">
                    <a16:rowId xmlns:a16="http://schemas.microsoft.com/office/drawing/2014/main" val="2365932276"/>
                  </a:ext>
                </a:extLst>
              </a:tr>
              <a:tr h="563791">
                <a:tc>
                  <a:txBody>
                    <a:bodyPr/>
                    <a:lstStyle/>
                    <a:p>
                      <a:pPr lvl="0" algn="ctr">
                        <a:buNone/>
                      </a:pPr>
                      <a:r>
                        <a:rPr lang="en-US" sz="1200" b="0"/>
                        <a:t>Detection Method</a:t>
                      </a:r>
                    </a:p>
                  </a:txBody>
                  <a:tcPr marL="88653" marR="88653" marT="44327" marB="44327" anchor="ctr"/>
                </a:tc>
                <a:tc>
                  <a:txBody>
                    <a:bodyPr/>
                    <a:lstStyle/>
                    <a:p>
                      <a:pPr lvl="0" algn="ctr">
                        <a:buNone/>
                      </a:pPr>
                      <a:r>
                        <a:rPr lang="en-US" sz="1200"/>
                        <a:t>Thermal Imaging, Computer Vision via drone; Satellite Connectivity </a:t>
                      </a:r>
                    </a:p>
                  </a:txBody>
                  <a:tcPr marL="88653" marR="88653" marT="44327" marB="44327" anchor="ctr"/>
                </a:tc>
                <a:tc>
                  <a:txBody>
                    <a:bodyPr/>
                    <a:lstStyle/>
                    <a:p>
                      <a:pPr lvl="0" algn="ctr">
                        <a:buNone/>
                      </a:pPr>
                      <a:r>
                        <a:rPr lang="en-US" sz="1200"/>
                        <a:t>Airborne; Satellite Observation    </a:t>
                      </a:r>
                    </a:p>
                  </a:txBody>
                  <a:tcPr marL="88653" marR="88653" marT="44327" marB="44327" anchor="ctr"/>
                </a:tc>
                <a:tc>
                  <a:txBody>
                    <a:bodyPr/>
                    <a:lstStyle/>
                    <a:p>
                      <a:pPr lvl="0" algn="ctr">
                        <a:buNone/>
                      </a:pPr>
                      <a:r>
                        <a:rPr lang="en-US" sz="1200"/>
                        <a:t>High-Definition, 360 Pan-Tilt-Zoom, Near-Infrared via camera</a:t>
                      </a:r>
                    </a:p>
                  </a:txBody>
                  <a:tcPr marL="88653" marR="88653" marT="44327" marB="44327" anchor="ctr"/>
                </a:tc>
                <a:extLst>
                  <a:ext uri="{0D108BD9-81ED-4DB2-BD59-A6C34878D82A}">
                    <a16:rowId xmlns:a16="http://schemas.microsoft.com/office/drawing/2014/main" val="3985012211"/>
                  </a:ext>
                </a:extLst>
              </a:tr>
              <a:tr h="563791">
                <a:tc>
                  <a:txBody>
                    <a:bodyPr/>
                    <a:lstStyle/>
                    <a:p>
                      <a:pPr lvl="0" algn="ctr">
                        <a:buNone/>
                      </a:pPr>
                      <a:r>
                        <a:rPr lang="en-US" sz="1200" b="0"/>
                        <a:t>Speed of Detection</a:t>
                      </a:r>
                    </a:p>
                  </a:txBody>
                  <a:tcPr marL="88653" marR="88653" marT="44327" marB="44327" anchor="ctr"/>
                </a:tc>
                <a:tc>
                  <a:txBody>
                    <a:bodyPr/>
                    <a:lstStyle/>
                    <a:p>
                      <a:pPr lvl="0" algn="ctr">
                        <a:buNone/>
                      </a:pPr>
                      <a:r>
                        <a:rPr lang="en-US" sz="1200"/>
                        <a:t>Immediate upon real-time patrol</a:t>
                      </a:r>
                    </a:p>
                  </a:txBody>
                  <a:tcPr marL="88653" marR="88653" marT="44327" marB="44327" anchor="ctr"/>
                </a:tc>
                <a:tc>
                  <a:txBody>
                    <a:bodyPr/>
                    <a:lstStyle/>
                    <a:p>
                      <a:pPr lvl="0" algn="ctr">
                        <a:buNone/>
                      </a:pPr>
                      <a:r>
                        <a:rPr lang="en-US" sz="1200"/>
                        <a:t>Within 3 hours, some real-time</a:t>
                      </a:r>
                    </a:p>
                  </a:txBody>
                  <a:tcPr marL="88653" marR="88653" marT="44327" marB="44327" anchor="ctr"/>
                </a:tc>
                <a:tc>
                  <a:txBody>
                    <a:bodyPr/>
                    <a:lstStyle/>
                    <a:p>
                      <a:pPr lvl="0" algn="ctr">
                        <a:buNone/>
                      </a:pPr>
                      <a:r>
                        <a:rPr lang="en-US" sz="1200"/>
                        <a:t>24 hour, Real-time, 360-degree sweep every 2 minutes</a:t>
                      </a:r>
                    </a:p>
                  </a:txBody>
                  <a:tcPr marL="88653" marR="88653" marT="44327" marB="44327" anchor="ctr"/>
                </a:tc>
                <a:extLst>
                  <a:ext uri="{0D108BD9-81ED-4DB2-BD59-A6C34878D82A}">
                    <a16:rowId xmlns:a16="http://schemas.microsoft.com/office/drawing/2014/main" val="3739184767"/>
                  </a:ext>
                </a:extLst>
              </a:tr>
              <a:tr h="563791">
                <a:tc>
                  <a:txBody>
                    <a:bodyPr/>
                    <a:lstStyle/>
                    <a:p>
                      <a:pPr lvl="0" algn="ctr">
                        <a:buNone/>
                      </a:pPr>
                      <a:r>
                        <a:rPr lang="en-US" sz="1200" b="0"/>
                        <a:t>Accuracy in Identifying Fires</a:t>
                      </a:r>
                    </a:p>
                  </a:txBody>
                  <a:tcPr marL="88653" marR="88653" marT="44327" marB="44327" anchor="ctr"/>
                </a:tc>
                <a:tc>
                  <a:txBody>
                    <a:bodyPr/>
                    <a:lstStyle/>
                    <a:p>
                      <a:pPr lvl="0" algn="ctr">
                        <a:buNone/>
                      </a:pPr>
                      <a:r>
                        <a:rPr lang="en-US" sz="1200"/>
                        <a:t>Object Detection: Heat sources; Machine Learning; Environmental Factors; Historical Data</a:t>
                      </a:r>
                    </a:p>
                  </a:txBody>
                  <a:tcPr marL="88653" marR="88653" marT="44327" marB="44327" anchor="ctr"/>
                </a:tc>
                <a:tc>
                  <a:txBody>
                    <a:bodyPr/>
                    <a:lstStyle/>
                    <a:p>
                      <a:pPr lvl="0" algn="ctr">
                        <a:buNone/>
                      </a:pPr>
                      <a:r>
                        <a:rPr lang="en-US" sz="1200"/>
                        <a:t>Visible/Infrared/Thermal Images; Environmental Factors; Historical Data  </a:t>
                      </a:r>
                    </a:p>
                  </a:txBody>
                  <a:tcPr marL="88653" marR="88653" marT="44327" marB="44327" anchor="ctr"/>
                </a:tc>
                <a:tc>
                  <a:txBody>
                    <a:bodyPr/>
                    <a:lstStyle/>
                    <a:p>
                      <a:pPr lvl="0" algn="ctr">
                        <a:buNone/>
                      </a:pPr>
                      <a:r>
                        <a:rPr lang="en-US" sz="1200"/>
                        <a:t>Human-Monitoring for Confirmation; Historical Data</a:t>
                      </a:r>
                    </a:p>
                  </a:txBody>
                  <a:tcPr marL="88653" marR="88653" marT="44327" marB="44327" anchor="ctr"/>
                </a:tc>
                <a:extLst>
                  <a:ext uri="{0D108BD9-81ED-4DB2-BD59-A6C34878D82A}">
                    <a16:rowId xmlns:a16="http://schemas.microsoft.com/office/drawing/2014/main" val="338153499"/>
                  </a:ext>
                </a:extLst>
              </a:tr>
              <a:tr h="563791">
                <a:tc>
                  <a:txBody>
                    <a:bodyPr/>
                    <a:lstStyle/>
                    <a:p>
                      <a:pPr lvl="0" algn="ctr">
                        <a:buNone/>
                      </a:pPr>
                      <a:r>
                        <a:rPr lang="en-US" sz="1200" b="0"/>
                        <a:t>Response Method</a:t>
                      </a:r>
                    </a:p>
                  </a:txBody>
                  <a:tcPr marL="88653" marR="88653" marT="44327" marB="44327" anchor="ctr"/>
                </a:tc>
                <a:tc>
                  <a:txBody>
                    <a:bodyPr/>
                    <a:lstStyle/>
                    <a:p>
                      <a:pPr lvl="0" algn="ctr">
                        <a:buNone/>
                      </a:pPr>
                      <a:r>
                        <a:rPr lang="en-US" sz="1200"/>
                        <a:t>Instant Fire station Alert, Instant Fire Retardant Deployment</a:t>
                      </a:r>
                    </a:p>
                  </a:txBody>
                  <a:tcPr marL="88653" marR="88653" marT="44327" marB="44327" anchor="ctr"/>
                </a:tc>
                <a:tc>
                  <a:txBody>
                    <a:bodyPr/>
                    <a:lstStyle/>
                    <a:p>
                      <a:pPr lvl="0" algn="ctr">
                        <a:buNone/>
                      </a:pPr>
                      <a:r>
                        <a:rPr lang="en-US" sz="1200"/>
                        <a:t>Aids in Location</a:t>
                      </a:r>
                    </a:p>
                  </a:txBody>
                  <a:tcPr marL="88653" marR="88653" marT="44327" marB="44327" anchor="ctr"/>
                </a:tc>
                <a:tc>
                  <a:txBody>
                    <a:bodyPr/>
                    <a:lstStyle/>
                    <a:p>
                      <a:pPr lvl="0" algn="ctr">
                        <a:buNone/>
                      </a:pPr>
                      <a:r>
                        <a:rPr lang="en-US" sz="1200"/>
                        <a:t>Alert Watchstanders</a:t>
                      </a:r>
                    </a:p>
                  </a:txBody>
                  <a:tcPr marL="88653" marR="88653" marT="44327" marB="44327" anchor="ctr"/>
                </a:tc>
                <a:extLst>
                  <a:ext uri="{0D108BD9-81ED-4DB2-BD59-A6C34878D82A}">
                    <a16:rowId xmlns:a16="http://schemas.microsoft.com/office/drawing/2014/main" val="3245000233"/>
                  </a:ext>
                </a:extLst>
              </a:tr>
              <a:tr h="641847">
                <a:tc>
                  <a:txBody>
                    <a:bodyPr/>
                    <a:lstStyle/>
                    <a:p>
                      <a:pPr lvl="0" algn="ctr">
                        <a:buNone/>
                      </a:pPr>
                      <a:r>
                        <a:rPr lang="en-US" sz="1200" b="0"/>
                        <a:t>Ability to Detect Early-Stage Fires</a:t>
                      </a:r>
                    </a:p>
                  </a:txBody>
                  <a:tcPr marL="88653" marR="88653" marT="44327" marB="44327" anchor="ctr"/>
                </a:tc>
                <a:tc>
                  <a:txBody>
                    <a:bodyPr/>
                    <a:lstStyle/>
                    <a:p>
                      <a:pPr lvl="0" algn="ctr">
                        <a:buNone/>
                      </a:pPr>
                      <a:r>
                        <a:rPr lang="en-US" sz="1200"/>
                        <a:t>Fire Flickers, Small Heat Source</a:t>
                      </a:r>
                    </a:p>
                  </a:txBody>
                  <a:tcPr marL="88653" marR="88653" marT="44327" marB="44327" anchor="ctr"/>
                </a:tc>
                <a:tc>
                  <a:txBody>
                    <a:bodyPr/>
                    <a:lstStyle/>
                    <a:p>
                      <a:pPr lvl="0" algn="ctr">
                        <a:buNone/>
                      </a:pPr>
                      <a:r>
                        <a:rPr lang="en-US" sz="1200"/>
                        <a:t>Simply Predicts Areas of Fire</a:t>
                      </a:r>
                    </a:p>
                  </a:txBody>
                  <a:tcPr marL="88653" marR="88653" marT="44327" marB="44327" anchor="ctr"/>
                </a:tc>
                <a:tc>
                  <a:txBody>
                    <a:bodyPr/>
                    <a:lstStyle/>
                    <a:p>
                      <a:pPr lvl="0" algn="ctr">
                        <a:buNone/>
                      </a:pPr>
                      <a:r>
                        <a:rPr lang="en-US" sz="1200"/>
                        <a:t>Smoke</a:t>
                      </a:r>
                    </a:p>
                  </a:txBody>
                  <a:tcPr marL="88653" marR="88653" marT="44327" marB="44327" anchor="ctr"/>
                </a:tc>
                <a:extLst>
                  <a:ext uri="{0D108BD9-81ED-4DB2-BD59-A6C34878D82A}">
                    <a16:rowId xmlns:a16="http://schemas.microsoft.com/office/drawing/2014/main" val="3499845935"/>
                  </a:ext>
                </a:extLst>
              </a:tr>
            </a:tbl>
          </a:graphicData>
        </a:graphic>
      </p:graphicFrame>
      <p:sp>
        <p:nvSpPr>
          <p:cNvPr id="3" name="TextBox 2">
            <a:extLst>
              <a:ext uri="{FF2B5EF4-FFF2-40B4-BE49-F238E27FC236}">
                <a16:creationId xmlns:a16="http://schemas.microsoft.com/office/drawing/2014/main" id="{1CD717D8-5C3B-B292-E6D4-7EBC5AB80275}"/>
              </a:ext>
            </a:extLst>
          </p:cNvPr>
          <p:cNvSpPr txBox="1"/>
          <p:nvPr/>
        </p:nvSpPr>
        <p:spPr>
          <a:xfrm>
            <a:off x="10103401" y="6373578"/>
            <a:ext cx="16339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hlinkClick r:id="rId2" action="ppaction://hlinksldjump"/>
              </a:rPr>
              <a:t>Back to Q&amp;A</a:t>
            </a:r>
          </a:p>
        </p:txBody>
      </p:sp>
      <p:sp>
        <p:nvSpPr>
          <p:cNvPr id="5" name="TextBox 4">
            <a:extLst>
              <a:ext uri="{FF2B5EF4-FFF2-40B4-BE49-F238E27FC236}">
                <a16:creationId xmlns:a16="http://schemas.microsoft.com/office/drawing/2014/main" id="{DE53B85E-EECE-59BB-6C0D-C82ECFA75049}"/>
              </a:ext>
            </a:extLst>
          </p:cNvPr>
          <p:cNvSpPr txBox="1"/>
          <p:nvPr/>
        </p:nvSpPr>
        <p:spPr>
          <a:xfrm>
            <a:off x="446331" y="6402176"/>
            <a:ext cx="58724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entury Gothic" panose="020B0502020202020204"/>
                <a:ea typeface="+mn-ea"/>
                <a:cs typeface="+mn-cs"/>
                <a:hlinkClick r:id="rId3"/>
              </a:rPr>
              <a:t>https://cce.nasa.gov/firesense/airborne_campaigns.html</a:t>
            </a:r>
            <a:r>
              <a:rPr kumimoji="0" lang="en-US" sz="1000" b="0" i="0" u="none" strike="noStrike" kern="1200" cap="none" spc="0" normalizeH="0" baseline="0" noProof="0">
                <a:ln>
                  <a:noFill/>
                </a:ln>
                <a:solidFill>
                  <a:prstClr val="black"/>
                </a:solidFill>
                <a:effectLst/>
                <a:uLnTx/>
                <a:uFillTx/>
                <a:latin typeface="Century Gothic" panose="020B0502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entury Gothic" panose="020B0502020202020204"/>
                <a:ea typeface="+mn-ea"/>
                <a:cs typeface="+mn-cs"/>
                <a:hlinkClick r:id="rId4"/>
              </a:rPr>
              <a:t>https://today.ucsd.edu/story/alert-california</a:t>
            </a:r>
            <a:r>
              <a:rPr kumimoji="0" lang="en-US" sz="1000" b="0" i="0" u="none" strike="noStrike" kern="1200" cap="none" spc="0" normalizeH="0" baseline="0" noProof="0">
                <a:ln>
                  <a:noFill/>
                </a:ln>
                <a:solidFill>
                  <a:prstClr val="black"/>
                </a:solidFill>
                <a:effectLst/>
                <a:uLnTx/>
                <a:uFillTx/>
                <a:latin typeface="Century Gothic" panose="020B0502020202020204"/>
                <a:ea typeface="+mn-ea"/>
                <a:cs typeface="+mn-cs"/>
              </a:rPr>
              <a:t>	</a:t>
            </a:r>
          </a:p>
        </p:txBody>
      </p:sp>
    </p:spTree>
    <p:extLst>
      <p:ext uri="{BB962C8B-B14F-4D97-AF65-F5344CB8AC3E}">
        <p14:creationId xmlns:p14="http://schemas.microsoft.com/office/powerpoint/2010/main" val="1098545741"/>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f4b8a2-ad4f-41b5-9a91-284d2cc38f56}" enabled="1" method="Privileged" siteId="{70de1992-07c6-480f-a318-a1afcba03983}" contentBits="0" removed="0"/>
</clbl:labelList>
</file>

<file path=docProps/app.xml><?xml version="1.0" encoding="utf-8"?>
<Properties xmlns="http://schemas.openxmlformats.org/officeDocument/2006/extended-properties" xmlns:vt="http://schemas.openxmlformats.org/officeDocument/2006/docPropsVTypes">
  <Template/>
  <TotalTime>0</TotalTime>
  <Words>2065</Words>
  <Application>Microsoft Office PowerPoint</Application>
  <PresentationFormat>Widescreen</PresentationFormat>
  <Paragraphs>335</Paragraphs>
  <Slides>37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Aptos</vt:lpstr>
      <vt:lpstr>Arial</vt:lpstr>
      <vt:lpstr>Calibri</vt:lpstr>
      <vt:lpstr>Century Gothic</vt:lpstr>
      <vt:lpstr>Courier New</vt:lpstr>
      <vt:lpstr>Times New Roman</vt:lpstr>
      <vt:lpstr>Wingdings 3</vt:lpstr>
      <vt:lpstr>Ion</vt:lpstr>
      <vt:lpstr>ExtinguishAI: AI-Powered Drone Surveillance for Wildfire Prevention</vt:lpstr>
      <vt:lpstr>Team Introduction</vt:lpstr>
      <vt:lpstr>The Growing Threat of Wildfires</vt:lpstr>
      <vt:lpstr>Problems With the Current Solutions</vt:lpstr>
      <vt:lpstr>Introducing ExtinguishAI</vt:lpstr>
      <vt:lpstr>      Key Objectives</vt:lpstr>
      <vt:lpstr>Overview of Technological Approach</vt:lpstr>
      <vt:lpstr>How ExtinguishAI stands out</vt:lpstr>
      <vt:lpstr>AI-Powered Fire Detection</vt:lpstr>
      <vt:lpstr>Machine Learning for  Predictive Analysis</vt:lpstr>
      <vt:lpstr>Computer Vision for Fire Identification</vt:lpstr>
      <vt:lpstr>AI Model Training &amp; Optimization</vt:lpstr>
      <vt:lpstr>AI's Role in  Autonomous Navigation</vt:lpstr>
      <vt:lpstr>AI-Driven  Decision Making</vt:lpstr>
      <vt:lpstr>Real-World AI Application Potential</vt:lpstr>
      <vt:lpstr>Drone Hardware &amp; Sensor Integration </vt:lpstr>
      <vt:lpstr>Fire Retardant Deployment System </vt:lpstr>
      <vt:lpstr>Autonomous Flight &amp; Route Optimization</vt:lpstr>
      <vt:lpstr>Swarm Drone Coordination</vt:lpstr>
      <vt:lpstr>Starlink-Powered Connectivity</vt:lpstr>
      <vt:lpstr>Secure Drone Storage &amp; Charging</vt:lpstr>
      <vt:lpstr>Future Drone Enhancements</vt:lpstr>
      <vt:lpstr>ExtinguishAI Mobile App</vt:lpstr>
      <vt:lpstr>Real-Time Emergency Notifications</vt:lpstr>
      <vt:lpstr>Predictive Analytics Dashboard</vt:lpstr>
      <vt:lpstr>Cloud-Based AI Data Processing</vt:lpstr>
      <vt:lpstr>AI-Optimized System Maintenance</vt:lpstr>
      <vt:lpstr>Cybersecurity &amp; Data Protection</vt:lpstr>
      <vt:lpstr>Future System Expansion</vt:lpstr>
      <vt:lpstr>Summary &amp; Call to Action</vt:lpstr>
      <vt:lpstr>Thank You!</vt:lpstr>
      <vt:lpstr>Q&amp;A Discussion</vt:lpstr>
      <vt:lpstr>Estimated Cost of ExtinguishAI 6-Drone System</vt:lpstr>
      <vt:lpstr>Comparison with UCSD ALERTCalifornia AI Cameras</vt:lpstr>
      <vt:lpstr>   Total Damages and costs from the most destructive 2025 LA fires</vt:lpstr>
      <vt:lpstr>Existing Technologies vs. Our AI Technologies</vt:lpstr>
      <vt:lpstr>   Fire Detection Processes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Nissen, Hannah</dc:creator>
  <cp:lastModifiedBy>Bhattacharjee, Pralay</cp:lastModifiedBy>
  <cp:revision>65</cp:revision>
  <dcterms:created xsi:type="dcterms:W3CDTF">2025-03-06T23:33:06Z</dcterms:created>
  <dcterms:modified xsi:type="dcterms:W3CDTF">2025-03-31T19:43:46Z</dcterms:modified>
</cp:coreProperties>
</file>